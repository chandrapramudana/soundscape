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x="18288000" cy="10287000"/>
  <p:notesSz cx="6858000" cy="9144000"/>
  <p:embeddedFontLst>
    <p:embeddedFont>
      <p:font typeface="Agrandir Grand Ultra-Bold" charset="1" panose="00000907000000000000"/>
      <p:regular r:id="rId28"/>
    </p:embeddedFont>
    <p:embeddedFont>
      <p:font typeface="Canva Sans Bold" charset="1" panose="020B0803030501040103"/>
      <p:regular r:id="rId29"/>
    </p:embeddedFont>
    <p:embeddedFont>
      <p:font typeface="Canva Sans" charset="1" panose="020B0503030501040103"/>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 Id="rId8" Target="../media/image12.png" Type="http://schemas.openxmlformats.org/officeDocument/2006/relationships/image"/><Relationship Id="rId9" Target="../media/image1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 Id="rId8" Target="../media/image12.png" Type="http://schemas.openxmlformats.org/officeDocument/2006/relationships/image"/><Relationship Id="rId9" Target="../media/image1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14.pn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19.png" Type="http://schemas.openxmlformats.org/officeDocument/2006/relationships/image"/><Relationship Id="rId7" Target="../media/image20.png" Type="http://schemas.openxmlformats.org/officeDocument/2006/relationships/image"/><Relationship Id="rId8" Target="../media/image21.png" Type="http://schemas.openxmlformats.org/officeDocument/2006/relationships/image"/><Relationship Id="rId9" Target="../media/image1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22.png" Type="http://schemas.openxmlformats.org/officeDocument/2006/relationships/image"/><Relationship Id="rId7" Target="../media/image23.png" Type="http://schemas.openxmlformats.org/officeDocument/2006/relationships/image"/><Relationship Id="rId8" Target="../media/image24.png" Type="http://schemas.openxmlformats.org/officeDocument/2006/relationships/image"/><Relationship Id="rId9" Target="../media/image10.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 Id="rId8" Target="../media/image7.png" Type="http://schemas.openxmlformats.org/officeDocument/2006/relationships/image"/><Relationship Id="rId9" Target="../media/image2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19.png" Type="http://schemas.openxmlformats.org/officeDocument/2006/relationships/image"/><Relationship Id="rId7" Target="../media/image10.png" Type="http://schemas.openxmlformats.org/officeDocument/2006/relationships/image"/><Relationship Id="rId8" Target="../media/image11.svg" Type="http://schemas.openxmlformats.org/officeDocument/2006/relationships/image"/><Relationship Id="rId9" Target="../media/image7.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 Id="rId8" Target="../media/image7.png" Type="http://schemas.openxmlformats.org/officeDocument/2006/relationships/image"/><Relationship Id="rId9" Target="../media/image20.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7.png" Type="http://schemas.openxmlformats.org/officeDocument/2006/relationships/image"/><Relationship Id="rId7" Target="../media/image26.png" Type="http://schemas.openxmlformats.org/officeDocument/2006/relationships/image"/><Relationship Id="rId8" Target="../media/image27.png" Type="http://schemas.openxmlformats.org/officeDocument/2006/relationships/image"/><Relationship Id="rId9" Target="../media/image28.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7.png" Type="http://schemas.openxmlformats.org/officeDocument/2006/relationships/image"/><Relationship Id="rId7" Target="../media/image29.png" Type="http://schemas.openxmlformats.org/officeDocument/2006/relationships/image"/><Relationship Id="rId8" Target="../media/image30.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 Id="rId8" Target="../media/image7.png" Type="http://schemas.openxmlformats.org/officeDocument/2006/relationships/image"/><Relationship Id="rId9" Target="../media/image31.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 Id="rId8" Target="../media/image7.png" Type="http://schemas.openxmlformats.org/officeDocument/2006/relationships/image"/><Relationship Id="rId9" Target="../media/image32.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 Id="rId8" Target="../media/image7.png" Type="http://schemas.openxmlformats.org/officeDocument/2006/relationships/image"/><Relationship Id="rId9" Target="../media/image33.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 Id="rId8" Target="../media/image7.png" Type="http://schemas.openxmlformats.org/officeDocument/2006/relationships/image"/><Relationship Id="rId9" Target="../media/image23.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 Id="rId8" Target="../media/image7.png" Type="http://schemas.openxmlformats.org/officeDocument/2006/relationships/image"/><Relationship Id="rId9" Target="../media/image24.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 Id="rId8" Target="../media/image7.png" Type="http://schemas.openxmlformats.org/officeDocument/2006/relationships/image"/><Relationship Id="rId9" Target="../media/image34.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7.png" Type="http://schemas.openxmlformats.org/officeDocument/2006/relationships/image"/><Relationship Id="rId7" Target="../media/image35.png" Type="http://schemas.openxmlformats.org/officeDocument/2006/relationships/image"/><Relationship Id="rId8" Target="../media/image30.jpe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76707" y="-366843"/>
            <a:ext cx="21314151" cy="10676209"/>
            <a:chOff x="0" y="0"/>
            <a:chExt cx="28418868" cy="14234945"/>
          </a:xfrm>
        </p:grpSpPr>
        <p:sp>
          <p:nvSpPr>
            <p:cNvPr name="Freeform 3" id="3"/>
            <p:cNvSpPr/>
            <p:nvPr/>
          </p:nvSpPr>
          <p:spPr>
            <a:xfrm flipH="false" flipV="false" rot="0">
              <a:off x="0" y="0"/>
              <a:ext cx="14234945" cy="14234945"/>
            </a:xfrm>
            <a:custGeom>
              <a:avLst/>
              <a:gdLst/>
              <a:ahLst/>
              <a:cxnLst/>
              <a:rect r="r" b="b" t="t" l="l"/>
              <a:pathLst>
                <a:path h="14234945" w="14234945">
                  <a:moveTo>
                    <a:pt x="0" y="0"/>
                  </a:moveTo>
                  <a:lnTo>
                    <a:pt x="14234945" y="0"/>
                  </a:lnTo>
                  <a:lnTo>
                    <a:pt x="14234945" y="14234945"/>
                  </a:lnTo>
                  <a:lnTo>
                    <a:pt x="0" y="14234945"/>
                  </a:lnTo>
                  <a:lnTo>
                    <a:pt x="0" y="0"/>
                  </a:lnTo>
                  <a:close/>
                </a:path>
              </a:pathLst>
            </a:custGeom>
            <a:blipFill>
              <a:blip r:embed="rId2">
                <a:alphaModFix amt="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183923" y="0"/>
              <a:ext cx="14234945" cy="14234945"/>
            </a:xfrm>
            <a:custGeom>
              <a:avLst/>
              <a:gdLst/>
              <a:ahLst/>
              <a:cxnLst/>
              <a:rect r="r" b="b" t="t" l="l"/>
              <a:pathLst>
                <a:path h="14234945" w="14234945">
                  <a:moveTo>
                    <a:pt x="0" y="0"/>
                  </a:moveTo>
                  <a:lnTo>
                    <a:pt x="14234945" y="0"/>
                  </a:lnTo>
                  <a:lnTo>
                    <a:pt x="14234945" y="14234945"/>
                  </a:lnTo>
                  <a:lnTo>
                    <a:pt x="0" y="14234945"/>
                  </a:lnTo>
                  <a:lnTo>
                    <a:pt x="0" y="0"/>
                  </a:lnTo>
                  <a:close/>
                </a:path>
              </a:pathLst>
            </a:custGeom>
            <a:blipFill>
              <a:blip r:embed="rId2">
                <a:alphaModFix amt="3000"/>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976707" y="9537567"/>
            <a:ext cx="20274216" cy="1059151"/>
            <a:chOff x="0" y="0"/>
            <a:chExt cx="5339711" cy="278953"/>
          </a:xfrm>
        </p:grpSpPr>
        <p:sp>
          <p:nvSpPr>
            <p:cNvPr name="Freeform 6" id="6"/>
            <p:cNvSpPr/>
            <p:nvPr/>
          </p:nvSpPr>
          <p:spPr>
            <a:xfrm flipH="false" flipV="false" rot="0">
              <a:off x="0" y="0"/>
              <a:ext cx="5339711" cy="278953"/>
            </a:xfrm>
            <a:custGeom>
              <a:avLst/>
              <a:gdLst/>
              <a:ahLst/>
              <a:cxnLst/>
              <a:rect r="r" b="b" t="t" l="l"/>
              <a:pathLst>
                <a:path h="278953" w="5339711">
                  <a:moveTo>
                    <a:pt x="19475" y="0"/>
                  </a:moveTo>
                  <a:lnTo>
                    <a:pt x="5320236" y="0"/>
                  </a:lnTo>
                  <a:cubicBezTo>
                    <a:pt x="5330992" y="0"/>
                    <a:pt x="5339711" y="8719"/>
                    <a:pt x="5339711" y="19475"/>
                  </a:cubicBezTo>
                  <a:lnTo>
                    <a:pt x="5339711" y="259478"/>
                  </a:lnTo>
                  <a:cubicBezTo>
                    <a:pt x="5339711" y="270234"/>
                    <a:pt x="5330992" y="278953"/>
                    <a:pt x="5320236" y="278953"/>
                  </a:cubicBezTo>
                  <a:lnTo>
                    <a:pt x="19475" y="278953"/>
                  </a:lnTo>
                  <a:cubicBezTo>
                    <a:pt x="8719" y="278953"/>
                    <a:pt x="0" y="270234"/>
                    <a:pt x="0" y="259478"/>
                  </a:cubicBezTo>
                  <a:lnTo>
                    <a:pt x="0" y="19475"/>
                  </a:lnTo>
                  <a:cubicBezTo>
                    <a:pt x="0" y="8719"/>
                    <a:pt x="8719" y="0"/>
                    <a:pt x="19475" y="0"/>
                  </a:cubicBezTo>
                  <a:close/>
                </a:path>
              </a:pathLst>
            </a:custGeom>
            <a:solidFill>
              <a:srgbClr val="CC576F"/>
            </a:solidFill>
          </p:spPr>
        </p:sp>
        <p:sp>
          <p:nvSpPr>
            <p:cNvPr name="TextBox 7" id="7"/>
            <p:cNvSpPr txBox="true"/>
            <p:nvPr/>
          </p:nvSpPr>
          <p:spPr>
            <a:xfrm>
              <a:off x="0" y="-47625"/>
              <a:ext cx="5339711" cy="326578"/>
            </a:xfrm>
            <a:prstGeom prst="rect">
              <a:avLst/>
            </a:prstGeom>
          </p:spPr>
          <p:txBody>
            <a:bodyPr anchor="ctr" rtlCol="false" tIns="50800" lIns="50800" bIns="50800" rIns="50800"/>
            <a:lstStyle/>
            <a:p>
              <a:pPr algn="ctr">
                <a:lnSpc>
                  <a:spcPts val="3499"/>
                </a:lnSpc>
              </a:pPr>
            </a:p>
          </p:txBody>
        </p:sp>
      </p:grpSp>
      <p:sp>
        <p:nvSpPr>
          <p:cNvPr name="Freeform 8" id="8"/>
          <p:cNvSpPr/>
          <p:nvPr/>
        </p:nvSpPr>
        <p:spPr>
          <a:xfrm flipH="false" flipV="false" rot="0">
            <a:off x="9160401" y="3803168"/>
            <a:ext cx="11697163" cy="10910263"/>
          </a:xfrm>
          <a:custGeom>
            <a:avLst/>
            <a:gdLst/>
            <a:ahLst/>
            <a:cxnLst/>
            <a:rect r="r" b="b" t="t" l="l"/>
            <a:pathLst>
              <a:path h="10910263" w="11697163">
                <a:moveTo>
                  <a:pt x="0" y="0"/>
                </a:moveTo>
                <a:lnTo>
                  <a:pt x="11697163" y="0"/>
                </a:lnTo>
                <a:lnTo>
                  <a:pt x="11697163" y="10910264"/>
                </a:lnTo>
                <a:lnTo>
                  <a:pt x="0" y="1091026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true" flipV="false" rot="0">
            <a:off x="248821" y="6675955"/>
            <a:ext cx="3354989" cy="3611045"/>
          </a:xfrm>
          <a:custGeom>
            <a:avLst/>
            <a:gdLst/>
            <a:ahLst/>
            <a:cxnLst/>
            <a:rect r="r" b="b" t="t" l="l"/>
            <a:pathLst>
              <a:path h="3611045" w="3354989">
                <a:moveTo>
                  <a:pt x="3354989" y="0"/>
                </a:moveTo>
                <a:lnTo>
                  <a:pt x="0" y="0"/>
                </a:lnTo>
                <a:lnTo>
                  <a:pt x="0" y="3611045"/>
                </a:lnTo>
                <a:lnTo>
                  <a:pt x="3354989" y="3611045"/>
                </a:lnTo>
                <a:lnTo>
                  <a:pt x="3354989"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grpSp>
        <p:nvGrpSpPr>
          <p:cNvPr name="Group 10" id="10"/>
          <p:cNvGrpSpPr/>
          <p:nvPr/>
        </p:nvGrpSpPr>
        <p:grpSpPr>
          <a:xfrm rot="187008">
            <a:off x="5039739" y="5307697"/>
            <a:ext cx="781777" cy="781777"/>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DE59"/>
            </a:solidFill>
          </p:spPr>
        </p:sp>
        <p:sp>
          <p:nvSpPr>
            <p:cNvPr name="TextBox 12" id="12"/>
            <p:cNvSpPr txBox="true"/>
            <p:nvPr/>
          </p:nvSpPr>
          <p:spPr>
            <a:xfrm>
              <a:off x="190500" y="142875"/>
              <a:ext cx="431800" cy="479425"/>
            </a:xfrm>
            <a:prstGeom prst="rect">
              <a:avLst/>
            </a:prstGeom>
          </p:spPr>
          <p:txBody>
            <a:bodyPr anchor="ctr" rtlCol="false" tIns="50800" lIns="50800" bIns="50800" rIns="50800"/>
            <a:lstStyle/>
            <a:p>
              <a:pPr algn="ctr">
                <a:lnSpc>
                  <a:spcPts val="3499"/>
                </a:lnSpc>
              </a:pPr>
            </a:p>
          </p:txBody>
        </p:sp>
      </p:grpSp>
      <p:grpSp>
        <p:nvGrpSpPr>
          <p:cNvPr name="Group 13" id="13"/>
          <p:cNvGrpSpPr/>
          <p:nvPr/>
        </p:nvGrpSpPr>
        <p:grpSpPr>
          <a:xfrm rot="-321674">
            <a:off x="11795855" y="2986579"/>
            <a:ext cx="781777" cy="781777"/>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DE59"/>
            </a:solidFill>
          </p:spPr>
        </p:sp>
        <p:sp>
          <p:nvSpPr>
            <p:cNvPr name="TextBox 15" id="15"/>
            <p:cNvSpPr txBox="true"/>
            <p:nvPr/>
          </p:nvSpPr>
          <p:spPr>
            <a:xfrm>
              <a:off x="190500" y="142875"/>
              <a:ext cx="431800" cy="479425"/>
            </a:xfrm>
            <a:prstGeom prst="rect">
              <a:avLst/>
            </a:prstGeom>
          </p:spPr>
          <p:txBody>
            <a:bodyPr anchor="ctr" rtlCol="false" tIns="50800" lIns="50800" bIns="50800" rIns="50800"/>
            <a:lstStyle/>
            <a:p>
              <a:pPr algn="ctr">
                <a:lnSpc>
                  <a:spcPts val="3499"/>
                </a:lnSpc>
              </a:pPr>
            </a:p>
          </p:txBody>
        </p:sp>
      </p:grpSp>
      <p:sp>
        <p:nvSpPr>
          <p:cNvPr name="Freeform 16" id="16"/>
          <p:cNvSpPr/>
          <p:nvPr/>
        </p:nvSpPr>
        <p:spPr>
          <a:xfrm flipH="false" flipV="false" rot="0">
            <a:off x="7579411" y="2980971"/>
            <a:ext cx="3129178" cy="3129178"/>
          </a:xfrm>
          <a:custGeom>
            <a:avLst/>
            <a:gdLst/>
            <a:ahLst/>
            <a:cxnLst/>
            <a:rect r="r" b="b" t="t" l="l"/>
            <a:pathLst>
              <a:path h="3129178" w="3129178">
                <a:moveTo>
                  <a:pt x="0" y="0"/>
                </a:moveTo>
                <a:lnTo>
                  <a:pt x="3129178" y="0"/>
                </a:lnTo>
                <a:lnTo>
                  <a:pt x="3129178" y="3129178"/>
                </a:lnTo>
                <a:lnTo>
                  <a:pt x="0" y="3129178"/>
                </a:lnTo>
                <a:lnTo>
                  <a:pt x="0" y="0"/>
                </a:lnTo>
                <a:close/>
              </a:path>
            </a:pathLst>
          </a:custGeom>
          <a:blipFill>
            <a:blip r:embed="rId8"/>
            <a:stretch>
              <a:fillRect l="0" t="0" r="0" b="0"/>
            </a:stretch>
          </a:blipFill>
        </p:spPr>
      </p:sp>
      <p:sp>
        <p:nvSpPr>
          <p:cNvPr name="TextBox 17" id="17"/>
          <p:cNvSpPr txBox="true"/>
          <p:nvPr/>
        </p:nvSpPr>
        <p:spPr>
          <a:xfrm rot="0">
            <a:off x="331597" y="758688"/>
            <a:ext cx="17657609" cy="1939020"/>
          </a:xfrm>
          <a:prstGeom prst="rect">
            <a:avLst/>
          </a:prstGeom>
        </p:spPr>
        <p:txBody>
          <a:bodyPr anchor="t" rtlCol="false" tIns="0" lIns="0" bIns="0" rIns="0">
            <a:spAutoFit/>
          </a:bodyPr>
          <a:lstStyle/>
          <a:p>
            <a:pPr algn="ctr">
              <a:lnSpc>
                <a:spcPts val="4742"/>
              </a:lnSpc>
            </a:pPr>
            <a:r>
              <a:rPr lang="en-US" b="true" sz="4311">
                <a:solidFill>
                  <a:srgbClr val="101010"/>
                </a:solidFill>
                <a:latin typeface="Agrandir Grand Ultra-Bold"/>
                <a:ea typeface="Agrandir Grand Ultra-Bold"/>
                <a:cs typeface="Agrandir Grand Ultra-Bold"/>
                <a:sym typeface="Agrandir Grand Ultra-Bold"/>
              </a:rPr>
              <a:t>APLIKASI SOUNDSCAPE</a:t>
            </a:r>
          </a:p>
          <a:p>
            <a:pPr algn="ctr">
              <a:lnSpc>
                <a:spcPts val="4742"/>
              </a:lnSpc>
            </a:pPr>
          </a:p>
          <a:p>
            <a:pPr algn="ctr">
              <a:lnSpc>
                <a:spcPts val="4742"/>
              </a:lnSpc>
            </a:pPr>
            <a:r>
              <a:rPr lang="en-US" b="true" sz="4311">
                <a:solidFill>
                  <a:srgbClr val="101010"/>
                </a:solidFill>
                <a:latin typeface="Agrandir Grand Ultra-Bold"/>
                <a:ea typeface="Agrandir Grand Ultra-Bold"/>
                <a:cs typeface="Agrandir Grand Ultra-Bold"/>
                <a:sym typeface="Agrandir Grand Ultra-Bold"/>
              </a:rPr>
              <a:t>UNTUK TERAPI KESEHATAN &amp; KETENANGAN</a:t>
            </a:r>
          </a:p>
        </p:txBody>
      </p:sp>
      <p:sp>
        <p:nvSpPr>
          <p:cNvPr name="TextBox 18" id="18"/>
          <p:cNvSpPr txBox="true"/>
          <p:nvPr/>
        </p:nvSpPr>
        <p:spPr>
          <a:xfrm rot="0">
            <a:off x="5430628" y="6628330"/>
            <a:ext cx="7459547" cy="1782075"/>
          </a:xfrm>
          <a:prstGeom prst="rect">
            <a:avLst/>
          </a:prstGeom>
        </p:spPr>
        <p:txBody>
          <a:bodyPr anchor="t" rtlCol="false" tIns="0" lIns="0" bIns="0" rIns="0">
            <a:spAutoFit/>
          </a:bodyPr>
          <a:lstStyle/>
          <a:p>
            <a:pPr algn="l">
              <a:lnSpc>
                <a:spcPts val="3593"/>
              </a:lnSpc>
            </a:pPr>
            <a:r>
              <a:rPr lang="en-US" sz="2567" b="true">
                <a:solidFill>
                  <a:srgbClr val="101010"/>
                </a:solidFill>
                <a:latin typeface="Canva Sans Bold"/>
                <a:ea typeface="Canva Sans Bold"/>
                <a:cs typeface="Canva Sans Bold"/>
                <a:sym typeface="Canva Sans Bold"/>
              </a:rPr>
              <a:t>Chandra Pramudana Saputra (20220810094)</a:t>
            </a:r>
          </a:p>
          <a:p>
            <a:pPr algn="ctr">
              <a:lnSpc>
                <a:spcPts val="3593"/>
              </a:lnSpc>
            </a:pPr>
            <a:r>
              <a:rPr lang="en-US" sz="2567" b="true">
                <a:solidFill>
                  <a:srgbClr val="101010"/>
                </a:solidFill>
                <a:latin typeface="Canva Sans Bold"/>
                <a:ea typeface="Canva Sans Bold"/>
                <a:cs typeface="Canva Sans Bold"/>
                <a:sym typeface="Canva Sans Bold"/>
              </a:rPr>
              <a:t>TINFC-2022-04</a:t>
            </a:r>
          </a:p>
          <a:p>
            <a:pPr algn="ctr">
              <a:lnSpc>
                <a:spcPts val="3593"/>
              </a:lnSpc>
            </a:pPr>
            <a:r>
              <a:rPr lang="en-US" sz="2567" b="true">
                <a:solidFill>
                  <a:srgbClr val="101010"/>
                </a:solidFill>
                <a:latin typeface="Canva Sans Bold"/>
                <a:ea typeface="Canva Sans Bold"/>
                <a:cs typeface="Canva Sans Bold"/>
                <a:sym typeface="Canva Sans Bold"/>
              </a:rPr>
              <a:t>TEKNIK INFOMATIKA-UNIVERSITAS KUNINGAN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76707" y="-366843"/>
            <a:ext cx="21314151" cy="10676209"/>
            <a:chOff x="0" y="0"/>
            <a:chExt cx="28418868" cy="14234945"/>
          </a:xfrm>
        </p:grpSpPr>
        <p:sp>
          <p:nvSpPr>
            <p:cNvPr name="Freeform 3" id="3"/>
            <p:cNvSpPr/>
            <p:nvPr/>
          </p:nvSpPr>
          <p:spPr>
            <a:xfrm flipH="false" flipV="false" rot="0">
              <a:off x="0" y="0"/>
              <a:ext cx="14234945" cy="14234945"/>
            </a:xfrm>
            <a:custGeom>
              <a:avLst/>
              <a:gdLst/>
              <a:ahLst/>
              <a:cxnLst/>
              <a:rect r="r" b="b" t="t" l="l"/>
              <a:pathLst>
                <a:path h="14234945" w="14234945">
                  <a:moveTo>
                    <a:pt x="0" y="0"/>
                  </a:moveTo>
                  <a:lnTo>
                    <a:pt x="14234945" y="0"/>
                  </a:lnTo>
                  <a:lnTo>
                    <a:pt x="14234945" y="14234945"/>
                  </a:lnTo>
                  <a:lnTo>
                    <a:pt x="0" y="14234945"/>
                  </a:lnTo>
                  <a:lnTo>
                    <a:pt x="0" y="0"/>
                  </a:lnTo>
                  <a:close/>
                </a:path>
              </a:pathLst>
            </a:custGeom>
            <a:blipFill>
              <a:blip r:embed="rId2">
                <a:alphaModFix amt="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183923" y="0"/>
              <a:ext cx="14234945" cy="14234945"/>
            </a:xfrm>
            <a:custGeom>
              <a:avLst/>
              <a:gdLst/>
              <a:ahLst/>
              <a:cxnLst/>
              <a:rect r="r" b="b" t="t" l="l"/>
              <a:pathLst>
                <a:path h="14234945" w="14234945">
                  <a:moveTo>
                    <a:pt x="0" y="0"/>
                  </a:moveTo>
                  <a:lnTo>
                    <a:pt x="14234945" y="0"/>
                  </a:lnTo>
                  <a:lnTo>
                    <a:pt x="14234945" y="14234945"/>
                  </a:lnTo>
                  <a:lnTo>
                    <a:pt x="0" y="14234945"/>
                  </a:lnTo>
                  <a:lnTo>
                    <a:pt x="0" y="0"/>
                  </a:lnTo>
                  <a:close/>
                </a:path>
              </a:pathLst>
            </a:custGeom>
            <a:blipFill>
              <a:blip r:embed="rId2">
                <a:alphaModFix amt="3000"/>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976707" y="9537567"/>
            <a:ext cx="20274216" cy="1059151"/>
            <a:chOff x="0" y="0"/>
            <a:chExt cx="5339711" cy="278953"/>
          </a:xfrm>
        </p:grpSpPr>
        <p:sp>
          <p:nvSpPr>
            <p:cNvPr name="Freeform 6" id="6"/>
            <p:cNvSpPr/>
            <p:nvPr/>
          </p:nvSpPr>
          <p:spPr>
            <a:xfrm flipH="false" flipV="false" rot="0">
              <a:off x="0" y="0"/>
              <a:ext cx="5339711" cy="278953"/>
            </a:xfrm>
            <a:custGeom>
              <a:avLst/>
              <a:gdLst/>
              <a:ahLst/>
              <a:cxnLst/>
              <a:rect r="r" b="b" t="t" l="l"/>
              <a:pathLst>
                <a:path h="278953" w="5339711">
                  <a:moveTo>
                    <a:pt x="19475" y="0"/>
                  </a:moveTo>
                  <a:lnTo>
                    <a:pt x="5320236" y="0"/>
                  </a:lnTo>
                  <a:cubicBezTo>
                    <a:pt x="5330992" y="0"/>
                    <a:pt x="5339711" y="8719"/>
                    <a:pt x="5339711" y="19475"/>
                  </a:cubicBezTo>
                  <a:lnTo>
                    <a:pt x="5339711" y="259478"/>
                  </a:lnTo>
                  <a:cubicBezTo>
                    <a:pt x="5339711" y="270234"/>
                    <a:pt x="5330992" y="278953"/>
                    <a:pt x="5320236" y="278953"/>
                  </a:cubicBezTo>
                  <a:lnTo>
                    <a:pt x="19475" y="278953"/>
                  </a:lnTo>
                  <a:cubicBezTo>
                    <a:pt x="8719" y="278953"/>
                    <a:pt x="0" y="270234"/>
                    <a:pt x="0" y="259478"/>
                  </a:cubicBezTo>
                  <a:lnTo>
                    <a:pt x="0" y="19475"/>
                  </a:lnTo>
                  <a:cubicBezTo>
                    <a:pt x="0" y="8719"/>
                    <a:pt x="8719" y="0"/>
                    <a:pt x="19475" y="0"/>
                  </a:cubicBezTo>
                  <a:close/>
                </a:path>
              </a:pathLst>
            </a:custGeom>
            <a:solidFill>
              <a:srgbClr val="CC576F"/>
            </a:solidFill>
          </p:spPr>
        </p:sp>
        <p:sp>
          <p:nvSpPr>
            <p:cNvPr name="TextBox 7" id="7"/>
            <p:cNvSpPr txBox="true"/>
            <p:nvPr/>
          </p:nvSpPr>
          <p:spPr>
            <a:xfrm>
              <a:off x="0" y="-47625"/>
              <a:ext cx="5339711" cy="326578"/>
            </a:xfrm>
            <a:prstGeom prst="rect">
              <a:avLst/>
            </a:prstGeom>
          </p:spPr>
          <p:txBody>
            <a:bodyPr anchor="ctr" rtlCol="false" tIns="50800" lIns="50800" bIns="50800" rIns="50800"/>
            <a:lstStyle/>
            <a:p>
              <a:pPr algn="ctr">
                <a:lnSpc>
                  <a:spcPts val="3499"/>
                </a:lnSpc>
              </a:pPr>
            </a:p>
          </p:txBody>
        </p:sp>
      </p:grpSp>
      <p:sp>
        <p:nvSpPr>
          <p:cNvPr name="Freeform 8" id="8"/>
          <p:cNvSpPr/>
          <p:nvPr/>
        </p:nvSpPr>
        <p:spPr>
          <a:xfrm flipH="false" flipV="false" rot="0">
            <a:off x="11922032" y="3772221"/>
            <a:ext cx="7028958" cy="8477910"/>
          </a:xfrm>
          <a:custGeom>
            <a:avLst/>
            <a:gdLst/>
            <a:ahLst/>
            <a:cxnLst/>
            <a:rect r="r" b="b" t="t" l="l"/>
            <a:pathLst>
              <a:path h="8477910" w="7028958">
                <a:moveTo>
                  <a:pt x="0" y="0"/>
                </a:moveTo>
                <a:lnTo>
                  <a:pt x="7028958" y="0"/>
                </a:lnTo>
                <a:lnTo>
                  <a:pt x="7028958" y="8477911"/>
                </a:lnTo>
                <a:lnTo>
                  <a:pt x="0" y="84779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true" flipV="false" rot="0">
            <a:off x="634118" y="7346542"/>
            <a:ext cx="4393724" cy="5299448"/>
          </a:xfrm>
          <a:custGeom>
            <a:avLst/>
            <a:gdLst/>
            <a:ahLst/>
            <a:cxnLst/>
            <a:rect r="r" b="b" t="t" l="l"/>
            <a:pathLst>
              <a:path h="5299448" w="4393724">
                <a:moveTo>
                  <a:pt x="4393724" y="0"/>
                </a:moveTo>
                <a:lnTo>
                  <a:pt x="0" y="0"/>
                </a:lnTo>
                <a:lnTo>
                  <a:pt x="0" y="5299448"/>
                </a:lnTo>
                <a:lnTo>
                  <a:pt x="4393724" y="5299448"/>
                </a:lnTo>
                <a:lnTo>
                  <a:pt x="4393724"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10" id="10"/>
          <p:cNvSpPr/>
          <p:nvPr/>
        </p:nvSpPr>
        <p:spPr>
          <a:xfrm flipH="false" flipV="false" rot="0">
            <a:off x="6183134" y="7346542"/>
            <a:ext cx="3231988" cy="4114800"/>
          </a:xfrm>
          <a:custGeom>
            <a:avLst/>
            <a:gdLst/>
            <a:ahLst/>
            <a:cxnLst/>
            <a:rect r="r" b="b" t="t" l="l"/>
            <a:pathLst>
              <a:path h="4114800" w="3231988">
                <a:moveTo>
                  <a:pt x="0" y="0"/>
                </a:moveTo>
                <a:lnTo>
                  <a:pt x="3231988" y="0"/>
                </a:lnTo>
                <a:lnTo>
                  <a:pt x="3231988"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grpSp>
        <p:nvGrpSpPr>
          <p:cNvPr name="Group 11" id="11"/>
          <p:cNvGrpSpPr/>
          <p:nvPr/>
        </p:nvGrpSpPr>
        <p:grpSpPr>
          <a:xfrm rot="187008">
            <a:off x="654793" y="759615"/>
            <a:ext cx="781777" cy="781777"/>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DE59"/>
            </a:solidFill>
          </p:spPr>
        </p:sp>
        <p:sp>
          <p:nvSpPr>
            <p:cNvPr name="TextBox 13" id="13"/>
            <p:cNvSpPr txBox="true"/>
            <p:nvPr/>
          </p:nvSpPr>
          <p:spPr>
            <a:xfrm>
              <a:off x="190500" y="142875"/>
              <a:ext cx="431800" cy="479425"/>
            </a:xfrm>
            <a:prstGeom prst="rect">
              <a:avLst/>
            </a:prstGeom>
          </p:spPr>
          <p:txBody>
            <a:bodyPr anchor="ctr" rtlCol="false" tIns="50800" lIns="50800" bIns="50800" rIns="50800"/>
            <a:lstStyle/>
            <a:p>
              <a:pPr algn="ctr">
                <a:lnSpc>
                  <a:spcPts val="3499"/>
                </a:lnSpc>
              </a:pPr>
            </a:p>
          </p:txBody>
        </p:sp>
      </p:grpSp>
      <p:grpSp>
        <p:nvGrpSpPr>
          <p:cNvPr name="Group 14" id="14"/>
          <p:cNvGrpSpPr/>
          <p:nvPr/>
        </p:nvGrpSpPr>
        <p:grpSpPr>
          <a:xfrm rot="-321674">
            <a:off x="14036253" y="543606"/>
            <a:ext cx="781777" cy="781777"/>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DE59"/>
            </a:solidFill>
          </p:spPr>
        </p:sp>
        <p:sp>
          <p:nvSpPr>
            <p:cNvPr name="TextBox 16" id="16"/>
            <p:cNvSpPr txBox="true"/>
            <p:nvPr/>
          </p:nvSpPr>
          <p:spPr>
            <a:xfrm>
              <a:off x="190500" y="142875"/>
              <a:ext cx="431800" cy="479425"/>
            </a:xfrm>
            <a:prstGeom prst="rect">
              <a:avLst/>
            </a:prstGeom>
          </p:spPr>
          <p:txBody>
            <a:bodyPr anchor="ctr" rtlCol="false" tIns="50800" lIns="50800" bIns="50800" rIns="50800"/>
            <a:lstStyle/>
            <a:p>
              <a:pPr algn="ctr">
                <a:lnSpc>
                  <a:spcPts val="3499"/>
                </a:lnSpc>
              </a:pPr>
            </a:p>
          </p:txBody>
        </p:sp>
      </p:grpSp>
      <p:sp>
        <p:nvSpPr>
          <p:cNvPr name="Freeform 17" id="17"/>
          <p:cNvSpPr/>
          <p:nvPr/>
        </p:nvSpPr>
        <p:spPr>
          <a:xfrm flipH="false" flipV="false" rot="0">
            <a:off x="15436511" y="508794"/>
            <a:ext cx="2106548" cy="2106548"/>
          </a:xfrm>
          <a:custGeom>
            <a:avLst/>
            <a:gdLst/>
            <a:ahLst/>
            <a:cxnLst/>
            <a:rect r="r" b="b" t="t" l="l"/>
            <a:pathLst>
              <a:path h="2106548" w="2106548">
                <a:moveTo>
                  <a:pt x="0" y="0"/>
                </a:moveTo>
                <a:lnTo>
                  <a:pt x="2106548" y="0"/>
                </a:lnTo>
                <a:lnTo>
                  <a:pt x="2106548" y="2106548"/>
                </a:lnTo>
                <a:lnTo>
                  <a:pt x="0" y="2106548"/>
                </a:lnTo>
                <a:lnTo>
                  <a:pt x="0" y="0"/>
                </a:lnTo>
                <a:close/>
              </a:path>
            </a:pathLst>
          </a:custGeom>
          <a:blipFill>
            <a:blip r:embed="rId10"/>
            <a:stretch>
              <a:fillRect l="0" t="0" r="0" b="0"/>
            </a:stretch>
          </a:blipFill>
        </p:spPr>
      </p:sp>
      <p:sp>
        <p:nvSpPr>
          <p:cNvPr name="TextBox 18" id="18"/>
          <p:cNvSpPr txBox="true"/>
          <p:nvPr/>
        </p:nvSpPr>
        <p:spPr>
          <a:xfrm rot="0">
            <a:off x="1594588" y="626837"/>
            <a:ext cx="12269510" cy="935230"/>
          </a:xfrm>
          <a:prstGeom prst="rect">
            <a:avLst/>
          </a:prstGeom>
        </p:spPr>
        <p:txBody>
          <a:bodyPr anchor="t" rtlCol="false" tIns="0" lIns="0" bIns="0" rIns="0">
            <a:spAutoFit/>
          </a:bodyPr>
          <a:lstStyle/>
          <a:p>
            <a:pPr algn="l">
              <a:lnSpc>
                <a:spcPts val="5998"/>
              </a:lnSpc>
            </a:pPr>
            <a:r>
              <a:rPr lang="en-US" sz="5453" b="true">
                <a:solidFill>
                  <a:srgbClr val="101010"/>
                </a:solidFill>
                <a:latin typeface="Agrandir Grand Ultra-Bold"/>
                <a:ea typeface="Agrandir Grand Ultra-Bold"/>
                <a:cs typeface="Agrandir Grand Ultra-Bold"/>
                <a:sym typeface="Agrandir Grand Ultra-Bold"/>
              </a:rPr>
              <a:t>KONSEP</a:t>
            </a:r>
          </a:p>
        </p:txBody>
      </p:sp>
      <p:sp>
        <p:nvSpPr>
          <p:cNvPr name="TextBox 19" id="19"/>
          <p:cNvSpPr txBox="true"/>
          <p:nvPr/>
        </p:nvSpPr>
        <p:spPr>
          <a:xfrm rot="0">
            <a:off x="1731930" y="3231555"/>
            <a:ext cx="11832188" cy="3378043"/>
          </a:xfrm>
          <a:prstGeom prst="rect">
            <a:avLst/>
          </a:prstGeom>
        </p:spPr>
        <p:txBody>
          <a:bodyPr anchor="t" rtlCol="false" tIns="0" lIns="0" bIns="0" rIns="0">
            <a:spAutoFit/>
          </a:bodyPr>
          <a:lstStyle/>
          <a:p>
            <a:pPr algn="l">
              <a:lnSpc>
                <a:spcPts val="3858"/>
              </a:lnSpc>
            </a:pPr>
            <a:r>
              <a:rPr lang="en-US" sz="2756">
                <a:solidFill>
                  <a:srgbClr val="101010"/>
                </a:solidFill>
                <a:latin typeface="Canva Sans"/>
                <a:ea typeface="Canva Sans"/>
                <a:cs typeface="Canva Sans"/>
                <a:sym typeface="Canva Sans"/>
              </a:rPr>
              <a:t>Soundscape adalah aplikasi terapi musik yang dirancang untuk membantu pengguna dalam meningka</a:t>
            </a:r>
            <a:r>
              <a:rPr lang="en-US" sz="2756">
                <a:solidFill>
                  <a:srgbClr val="101010"/>
                </a:solidFill>
                <a:latin typeface="Canva Sans"/>
                <a:ea typeface="Canva Sans"/>
                <a:cs typeface="Canva Sans"/>
                <a:sym typeface="Canva Sans"/>
              </a:rPr>
              <a:t>tkan kualitas tidur, mengurangi stres, dan meningkatkan kesehatan mental melalui musik terapeutik yang telah direkomendasikan oleh dokter dan didukung penelitian ilmiah. Dengan kategori tertentu (DeepSleep, Mindfulness, Stress Relief, Therapeutic)</a:t>
            </a:r>
          </a:p>
          <a:p>
            <a:pPr algn="just">
              <a:lnSpc>
                <a:spcPts val="3858"/>
              </a:lnSpc>
            </a:pPr>
          </a:p>
        </p:txBody>
      </p:sp>
      <p:sp>
        <p:nvSpPr>
          <p:cNvPr name="TextBox 20" id="20"/>
          <p:cNvSpPr txBox="true"/>
          <p:nvPr/>
        </p:nvSpPr>
        <p:spPr>
          <a:xfrm rot="0">
            <a:off x="1731930" y="1935892"/>
            <a:ext cx="12269510" cy="679450"/>
          </a:xfrm>
          <a:prstGeom prst="rect">
            <a:avLst/>
          </a:prstGeom>
        </p:spPr>
        <p:txBody>
          <a:bodyPr anchor="t" rtlCol="false" tIns="0" lIns="0" bIns="0" rIns="0">
            <a:spAutoFit/>
          </a:bodyPr>
          <a:lstStyle/>
          <a:p>
            <a:pPr algn="l">
              <a:lnSpc>
                <a:spcPts val="4399"/>
              </a:lnSpc>
            </a:pPr>
            <a:r>
              <a:rPr lang="en-US" sz="3999" b="true">
                <a:solidFill>
                  <a:srgbClr val="101010"/>
                </a:solidFill>
                <a:latin typeface="Agrandir Grand Ultra-Bold"/>
                <a:ea typeface="Agrandir Grand Ultra-Bold"/>
                <a:cs typeface="Agrandir Grand Ultra-Bold"/>
                <a:sym typeface="Agrandir Grand Ultra-Bold"/>
              </a:rPr>
              <a:t>APA ITU SOUNDSCAPE?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76707" y="-366843"/>
            <a:ext cx="21314151" cy="10676209"/>
            <a:chOff x="0" y="0"/>
            <a:chExt cx="28418868" cy="14234945"/>
          </a:xfrm>
        </p:grpSpPr>
        <p:sp>
          <p:nvSpPr>
            <p:cNvPr name="Freeform 3" id="3"/>
            <p:cNvSpPr/>
            <p:nvPr/>
          </p:nvSpPr>
          <p:spPr>
            <a:xfrm flipH="false" flipV="false" rot="0">
              <a:off x="0" y="0"/>
              <a:ext cx="14234945" cy="14234945"/>
            </a:xfrm>
            <a:custGeom>
              <a:avLst/>
              <a:gdLst/>
              <a:ahLst/>
              <a:cxnLst/>
              <a:rect r="r" b="b" t="t" l="l"/>
              <a:pathLst>
                <a:path h="14234945" w="14234945">
                  <a:moveTo>
                    <a:pt x="0" y="0"/>
                  </a:moveTo>
                  <a:lnTo>
                    <a:pt x="14234945" y="0"/>
                  </a:lnTo>
                  <a:lnTo>
                    <a:pt x="14234945" y="14234945"/>
                  </a:lnTo>
                  <a:lnTo>
                    <a:pt x="0" y="14234945"/>
                  </a:lnTo>
                  <a:lnTo>
                    <a:pt x="0" y="0"/>
                  </a:lnTo>
                  <a:close/>
                </a:path>
              </a:pathLst>
            </a:custGeom>
            <a:blipFill>
              <a:blip r:embed="rId2">
                <a:alphaModFix amt="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183923" y="0"/>
              <a:ext cx="14234945" cy="14234945"/>
            </a:xfrm>
            <a:custGeom>
              <a:avLst/>
              <a:gdLst/>
              <a:ahLst/>
              <a:cxnLst/>
              <a:rect r="r" b="b" t="t" l="l"/>
              <a:pathLst>
                <a:path h="14234945" w="14234945">
                  <a:moveTo>
                    <a:pt x="0" y="0"/>
                  </a:moveTo>
                  <a:lnTo>
                    <a:pt x="14234945" y="0"/>
                  </a:lnTo>
                  <a:lnTo>
                    <a:pt x="14234945" y="14234945"/>
                  </a:lnTo>
                  <a:lnTo>
                    <a:pt x="0" y="14234945"/>
                  </a:lnTo>
                  <a:lnTo>
                    <a:pt x="0" y="0"/>
                  </a:lnTo>
                  <a:close/>
                </a:path>
              </a:pathLst>
            </a:custGeom>
            <a:blipFill>
              <a:blip r:embed="rId2">
                <a:alphaModFix amt="3000"/>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976707" y="9537567"/>
            <a:ext cx="20274216" cy="1059151"/>
            <a:chOff x="0" y="0"/>
            <a:chExt cx="5339711" cy="278953"/>
          </a:xfrm>
        </p:grpSpPr>
        <p:sp>
          <p:nvSpPr>
            <p:cNvPr name="Freeform 6" id="6"/>
            <p:cNvSpPr/>
            <p:nvPr/>
          </p:nvSpPr>
          <p:spPr>
            <a:xfrm flipH="false" flipV="false" rot="0">
              <a:off x="0" y="0"/>
              <a:ext cx="5339711" cy="278953"/>
            </a:xfrm>
            <a:custGeom>
              <a:avLst/>
              <a:gdLst/>
              <a:ahLst/>
              <a:cxnLst/>
              <a:rect r="r" b="b" t="t" l="l"/>
              <a:pathLst>
                <a:path h="278953" w="5339711">
                  <a:moveTo>
                    <a:pt x="19475" y="0"/>
                  </a:moveTo>
                  <a:lnTo>
                    <a:pt x="5320236" y="0"/>
                  </a:lnTo>
                  <a:cubicBezTo>
                    <a:pt x="5330992" y="0"/>
                    <a:pt x="5339711" y="8719"/>
                    <a:pt x="5339711" y="19475"/>
                  </a:cubicBezTo>
                  <a:lnTo>
                    <a:pt x="5339711" y="259478"/>
                  </a:lnTo>
                  <a:cubicBezTo>
                    <a:pt x="5339711" y="270234"/>
                    <a:pt x="5330992" y="278953"/>
                    <a:pt x="5320236" y="278953"/>
                  </a:cubicBezTo>
                  <a:lnTo>
                    <a:pt x="19475" y="278953"/>
                  </a:lnTo>
                  <a:cubicBezTo>
                    <a:pt x="8719" y="278953"/>
                    <a:pt x="0" y="270234"/>
                    <a:pt x="0" y="259478"/>
                  </a:cubicBezTo>
                  <a:lnTo>
                    <a:pt x="0" y="19475"/>
                  </a:lnTo>
                  <a:cubicBezTo>
                    <a:pt x="0" y="8719"/>
                    <a:pt x="8719" y="0"/>
                    <a:pt x="19475" y="0"/>
                  </a:cubicBezTo>
                  <a:close/>
                </a:path>
              </a:pathLst>
            </a:custGeom>
            <a:solidFill>
              <a:srgbClr val="CC576F"/>
            </a:solidFill>
          </p:spPr>
        </p:sp>
        <p:sp>
          <p:nvSpPr>
            <p:cNvPr name="TextBox 7" id="7"/>
            <p:cNvSpPr txBox="true"/>
            <p:nvPr/>
          </p:nvSpPr>
          <p:spPr>
            <a:xfrm>
              <a:off x="0" y="-47625"/>
              <a:ext cx="5339711" cy="326578"/>
            </a:xfrm>
            <a:prstGeom prst="rect">
              <a:avLst/>
            </a:prstGeom>
          </p:spPr>
          <p:txBody>
            <a:bodyPr anchor="ctr" rtlCol="false" tIns="50800" lIns="50800" bIns="50800" rIns="50800"/>
            <a:lstStyle/>
            <a:p>
              <a:pPr algn="ctr">
                <a:lnSpc>
                  <a:spcPts val="3499"/>
                </a:lnSpc>
              </a:pPr>
            </a:p>
          </p:txBody>
        </p:sp>
      </p:grpSp>
      <p:sp>
        <p:nvSpPr>
          <p:cNvPr name="Freeform 8" id="8"/>
          <p:cNvSpPr/>
          <p:nvPr/>
        </p:nvSpPr>
        <p:spPr>
          <a:xfrm flipH="false" flipV="false" rot="0">
            <a:off x="11922032" y="3772221"/>
            <a:ext cx="7028958" cy="8477910"/>
          </a:xfrm>
          <a:custGeom>
            <a:avLst/>
            <a:gdLst/>
            <a:ahLst/>
            <a:cxnLst/>
            <a:rect r="r" b="b" t="t" l="l"/>
            <a:pathLst>
              <a:path h="8477910" w="7028958">
                <a:moveTo>
                  <a:pt x="0" y="0"/>
                </a:moveTo>
                <a:lnTo>
                  <a:pt x="7028958" y="0"/>
                </a:lnTo>
                <a:lnTo>
                  <a:pt x="7028958" y="8477911"/>
                </a:lnTo>
                <a:lnTo>
                  <a:pt x="0" y="84779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true" flipV="false" rot="0">
            <a:off x="634118" y="7346542"/>
            <a:ext cx="4393724" cy="5299448"/>
          </a:xfrm>
          <a:custGeom>
            <a:avLst/>
            <a:gdLst/>
            <a:ahLst/>
            <a:cxnLst/>
            <a:rect r="r" b="b" t="t" l="l"/>
            <a:pathLst>
              <a:path h="5299448" w="4393724">
                <a:moveTo>
                  <a:pt x="4393724" y="0"/>
                </a:moveTo>
                <a:lnTo>
                  <a:pt x="0" y="0"/>
                </a:lnTo>
                <a:lnTo>
                  <a:pt x="0" y="5299448"/>
                </a:lnTo>
                <a:lnTo>
                  <a:pt x="4393724" y="5299448"/>
                </a:lnTo>
                <a:lnTo>
                  <a:pt x="4393724"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10" id="10"/>
          <p:cNvSpPr/>
          <p:nvPr/>
        </p:nvSpPr>
        <p:spPr>
          <a:xfrm flipH="false" flipV="false" rot="0">
            <a:off x="6183134" y="7346542"/>
            <a:ext cx="3231988" cy="4114800"/>
          </a:xfrm>
          <a:custGeom>
            <a:avLst/>
            <a:gdLst/>
            <a:ahLst/>
            <a:cxnLst/>
            <a:rect r="r" b="b" t="t" l="l"/>
            <a:pathLst>
              <a:path h="4114800" w="3231988">
                <a:moveTo>
                  <a:pt x="0" y="0"/>
                </a:moveTo>
                <a:lnTo>
                  <a:pt x="3231988" y="0"/>
                </a:lnTo>
                <a:lnTo>
                  <a:pt x="3231988"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grpSp>
        <p:nvGrpSpPr>
          <p:cNvPr name="Group 11" id="11"/>
          <p:cNvGrpSpPr/>
          <p:nvPr/>
        </p:nvGrpSpPr>
        <p:grpSpPr>
          <a:xfrm rot="187008">
            <a:off x="654793" y="759615"/>
            <a:ext cx="781777" cy="781777"/>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DE59"/>
            </a:solidFill>
          </p:spPr>
        </p:sp>
        <p:sp>
          <p:nvSpPr>
            <p:cNvPr name="TextBox 13" id="13"/>
            <p:cNvSpPr txBox="true"/>
            <p:nvPr/>
          </p:nvSpPr>
          <p:spPr>
            <a:xfrm>
              <a:off x="190500" y="142875"/>
              <a:ext cx="431800" cy="479425"/>
            </a:xfrm>
            <a:prstGeom prst="rect">
              <a:avLst/>
            </a:prstGeom>
          </p:spPr>
          <p:txBody>
            <a:bodyPr anchor="ctr" rtlCol="false" tIns="50800" lIns="50800" bIns="50800" rIns="50800"/>
            <a:lstStyle/>
            <a:p>
              <a:pPr algn="ctr">
                <a:lnSpc>
                  <a:spcPts val="3499"/>
                </a:lnSpc>
              </a:pPr>
            </a:p>
          </p:txBody>
        </p:sp>
      </p:grpSp>
      <p:grpSp>
        <p:nvGrpSpPr>
          <p:cNvPr name="Group 14" id="14"/>
          <p:cNvGrpSpPr/>
          <p:nvPr/>
        </p:nvGrpSpPr>
        <p:grpSpPr>
          <a:xfrm rot="-321674">
            <a:off x="14036253" y="543606"/>
            <a:ext cx="781777" cy="781777"/>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DE59"/>
            </a:solidFill>
          </p:spPr>
        </p:sp>
        <p:sp>
          <p:nvSpPr>
            <p:cNvPr name="TextBox 16" id="16"/>
            <p:cNvSpPr txBox="true"/>
            <p:nvPr/>
          </p:nvSpPr>
          <p:spPr>
            <a:xfrm>
              <a:off x="190500" y="142875"/>
              <a:ext cx="431800" cy="479425"/>
            </a:xfrm>
            <a:prstGeom prst="rect">
              <a:avLst/>
            </a:prstGeom>
          </p:spPr>
          <p:txBody>
            <a:bodyPr anchor="ctr" rtlCol="false" tIns="50800" lIns="50800" bIns="50800" rIns="50800"/>
            <a:lstStyle/>
            <a:p>
              <a:pPr algn="ctr">
                <a:lnSpc>
                  <a:spcPts val="3499"/>
                </a:lnSpc>
              </a:pPr>
            </a:p>
          </p:txBody>
        </p:sp>
      </p:grpSp>
      <p:sp>
        <p:nvSpPr>
          <p:cNvPr name="Freeform 17" id="17"/>
          <p:cNvSpPr/>
          <p:nvPr/>
        </p:nvSpPr>
        <p:spPr>
          <a:xfrm flipH="false" flipV="false" rot="0">
            <a:off x="15436511" y="508794"/>
            <a:ext cx="2106548" cy="2106548"/>
          </a:xfrm>
          <a:custGeom>
            <a:avLst/>
            <a:gdLst/>
            <a:ahLst/>
            <a:cxnLst/>
            <a:rect r="r" b="b" t="t" l="l"/>
            <a:pathLst>
              <a:path h="2106548" w="2106548">
                <a:moveTo>
                  <a:pt x="0" y="0"/>
                </a:moveTo>
                <a:lnTo>
                  <a:pt x="2106548" y="0"/>
                </a:lnTo>
                <a:lnTo>
                  <a:pt x="2106548" y="2106548"/>
                </a:lnTo>
                <a:lnTo>
                  <a:pt x="0" y="2106548"/>
                </a:lnTo>
                <a:lnTo>
                  <a:pt x="0" y="0"/>
                </a:lnTo>
                <a:close/>
              </a:path>
            </a:pathLst>
          </a:custGeom>
          <a:blipFill>
            <a:blip r:embed="rId10"/>
            <a:stretch>
              <a:fillRect l="0" t="0" r="0" b="0"/>
            </a:stretch>
          </a:blipFill>
        </p:spPr>
      </p:sp>
      <p:sp>
        <p:nvSpPr>
          <p:cNvPr name="TextBox 18" id="18"/>
          <p:cNvSpPr txBox="true"/>
          <p:nvPr/>
        </p:nvSpPr>
        <p:spPr>
          <a:xfrm rot="0">
            <a:off x="1594588" y="626837"/>
            <a:ext cx="12269510" cy="935230"/>
          </a:xfrm>
          <a:prstGeom prst="rect">
            <a:avLst/>
          </a:prstGeom>
        </p:spPr>
        <p:txBody>
          <a:bodyPr anchor="t" rtlCol="false" tIns="0" lIns="0" bIns="0" rIns="0">
            <a:spAutoFit/>
          </a:bodyPr>
          <a:lstStyle/>
          <a:p>
            <a:pPr algn="l">
              <a:lnSpc>
                <a:spcPts val="5998"/>
              </a:lnSpc>
            </a:pPr>
            <a:r>
              <a:rPr lang="en-US" sz="5453" b="true">
                <a:solidFill>
                  <a:srgbClr val="101010"/>
                </a:solidFill>
                <a:latin typeface="Agrandir Grand Ultra-Bold"/>
                <a:ea typeface="Agrandir Grand Ultra-Bold"/>
                <a:cs typeface="Agrandir Grand Ultra-Bold"/>
                <a:sym typeface="Agrandir Grand Ultra-Bold"/>
              </a:rPr>
              <a:t>BATASAN MASALAH</a:t>
            </a:r>
          </a:p>
        </p:txBody>
      </p:sp>
      <p:sp>
        <p:nvSpPr>
          <p:cNvPr name="TextBox 19" id="19"/>
          <p:cNvSpPr txBox="true"/>
          <p:nvPr/>
        </p:nvSpPr>
        <p:spPr>
          <a:xfrm rot="0">
            <a:off x="1457245" y="2011727"/>
            <a:ext cx="16441746" cy="4029053"/>
          </a:xfrm>
          <a:prstGeom prst="rect">
            <a:avLst/>
          </a:prstGeom>
        </p:spPr>
        <p:txBody>
          <a:bodyPr anchor="t" rtlCol="false" tIns="0" lIns="0" bIns="0" rIns="0">
            <a:spAutoFit/>
          </a:bodyPr>
          <a:lstStyle/>
          <a:p>
            <a:pPr algn="l" marL="826882" indent="-413441" lvl="1">
              <a:lnSpc>
                <a:spcPts val="5361"/>
              </a:lnSpc>
              <a:buFont typeface="Arial"/>
              <a:buChar char="•"/>
            </a:pPr>
            <a:r>
              <a:rPr lang="en-US" sz="3829">
                <a:solidFill>
                  <a:srgbClr val="101010"/>
                </a:solidFill>
                <a:latin typeface="Canva Sans"/>
                <a:ea typeface="Canva Sans"/>
                <a:cs typeface="Canva Sans"/>
                <a:sym typeface="Canva Sans"/>
              </a:rPr>
              <a:t>Aplikasi hanya untuk platform Android.</a:t>
            </a:r>
          </a:p>
          <a:p>
            <a:pPr algn="l" marL="826882" indent="-413441" lvl="1">
              <a:lnSpc>
                <a:spcPts val="5361"/>
              </a:lnSpc>
              <a:buFont typeface="Arial"/>
              <a:buChar char="•"/>
            </a:pPr>
            <a:r>
              <a:rPr lang="en-US" sz="3829">
                <a:solidFill>
                  <a:srgbClr val="101010"/>
                </a:solidFill>
                <a:latin typeface="Canva Sans"/>
                <a:ea typeface="Canva Sans"/>
                <a:cs typeface="Canva Sans"/>
                <a:sym typeface="Canva Sans"/>
              </a:rPr>
              <a:t>Musik hanya dapat diunggah</a:t>
            </a:r>
            <a:r>
              <a:rPr lang="en-US" sz="3829">
                <a:solidFill>
                  <a:srgbClr val="101010"/>
                </a:solidFill>
                <a:latin typeface="Canva Sans"/>
                <a:ea typeface="Canva Sans"/>
                <a:cs typeface="Canva Sans"/>
                <a:sym typeface="Canva Sans"/>
              </a:rPr>
              <a:t> oleh Admin.</a:t>
            </a:r>
          </a:p>
          <a:p>
            <a:pPr algn="l" marL="826882" indent="-413441" lvl="1">
              <a:lnSpc>
                <a:spcPts val="5361"/>
              </a:lnSpc>
              <a:buFont typeface="Arial"/>
              <a:buChar char="•"/>
            </a:pPr>
            <a:r>
              <a:rPr lang="en-US" sz="3829">
                <a:solidFill>
                  <a:srgbClr val="101010"/>
                </a:solidFill>
                <a:latin typeface="Canva Sans"/>
                <a:ea typeface="Canva Sans"/>
                <a:cs typeface="Canva Sans"/>
                <a:sym typeface="Canva Sans"/>
              </a:rPr>
              <a:t>Listener tidak dapat menambahkan musik sendiri.</a:t>
            </a:r>
          </a:p>
          <a:p>
            <a:pPr algn="l" marL="826882" indent="-413441" lvl="1">
              <a:lnSpc>
                <a:spcPts val="5361"/>
              </a:lnSpc>
              <a:buFont typeface="Arial"/>
              <a:buChar char="•"/>
            </a:pPr>
            <a:r>
              <a:rPr lang="en-US" sz="3829">
                <a:solidFill>
                  <a:srgbClr val="101010"/>
                </a:solidFill>
                <a:latin typeface="Canva Sans"/>
                <a:ea typeface="Canva Sans"/>
                <a:cs typeface="Canva Sans"/>
                <a:sym typeface="Canva Sans"/>
              </a:rPr>
              <a:t>Ukuran maksimal file gambar: 5 MB, audio: 50 MB.</a:t>
            </a:r>
          </a:p>
          <a:p>
            <a:pPr algn="l" marL="826882" indent="-413441" lvl="1">
              <a:lnSpc>
                <a:spcPts val="5361"/>
              </a:lnSpc>
              <a:buFont typeface="Arial"/>
              <a:buChar char="•"/>
            </a:pPr>
            <a:r>
              <a:rPr lang="en-US" sz="3829">
                <a:solidFill>
                  <a:srgbClr val="101010"/>
                </a:solidFill>
                <a:latin typeface="Canva Sans"/>
                <a:ea typeface="Canva Sans"/>
                <a:cs typeface="Canva Sans"/>
                <a:sym typeface="Canva Sans"/>
              </a:rPr>
              <a:t>Koneksi internet diperlukan untuk semua fungsi.</a:t>
            </a:r>
          </a:p>
          <a:p>
            <a:pPr algn="just">
              <a:lnSpc>
                <a:spcPts val="5361"/>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76707" y="-366843"/>
            <a:ext cx="21314151" cy="10676209"/>
            <a:chOff x="0" y="0"/>
            <a:chExt cx="28418868" cy="14234945"/>
          </a:xfrm>
        </p:grpSpPr>
        <p:sp>
          <p:nvSpPr>
            <p:cNvPr name="Freeform 3" id="3"/>
            <p:cNvSpPr/>
            <p:nvPr/>
          </p:nvSpPr>
          <p:spPr>
            <a:xfrm flipH="false" flipV="false" rot="0">
              <a:off x="0" y="0"/>
              <a:ext cx="14234945" cy="14234945"/>
            </a:xfrm>
            <a:custGeom>
              <a:avLst/>
              <a:gdLst/>
              <a:ahLst/>
              <a:cxnLst/>
              <a:rect r="r" b="b" t="t" l="l"/>
              <a:pathLst>
                <a:path h="14234945" w="14234945">
                  <a:moveTo>
                    <a:pt x="0" y="0"/>
                  </a:moveTo>
                  <a:lnTo>
                    <a:pt x="14234945" y="0"/>
                  </a:lnTo>
                  <a:lnTo>
                    <a:pt x="14234945" y="14234945"/>
                  </a:lnTo>
                  <a:lnTo>
                    <a:pt x="0" y="14234945"/>
                  </a:lnTo>
                  <a:lnTo>
                    <a:pt x="0" y="0"/>
                  </a:lnTo>
                  <a:close/>
                </a:path>
              </a:pathLst>
            </a:custGeom>
            <a:blipFill>
              <a:blip r:embed="rId2">
                <a:alphaModFix amt="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183923" y="0"/>
              <a:ext cx="14234945" cy="14234945"/>
            </a:xfrm>
            <a:custGeom>
              <a:avLst/>
              <a:gdLst/>
              <a:ahLst/>
              <a:cxnLst/>
              <a:rect r="r" b="b" t="t" l="l"/>
              <a:pathLst>
                <a:path h="14234945" w="14234945">
                  <a:moveTo>
                    <a:pt x="0" y="0"/>
                  </a:moveTo>
                  <a:lnTo>
                    <a:pt x="14234945" y="0"/>
                  </a:lnTo>
                  <a:lnTo>
                    <a:pt x="14234945" y="14234945"/>
                  </a:lnTo>
                  <a:lnTo>
                    <a:pt x="0" y="14234945"/>
                  </a:lnTo>
                  <a:lnTo>
                    <a:pt x="0" y="0"/>
                  </a:lnTo>
                  <a:close/>
                </a:path>
              </a:pathLst>
            </a:custGeom>
            <a:blipFill>
              <a:blip r:embed="rId2">
                <a:alphaModFix amt="3000"/>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976707" y="9537567"/>
            <a:ext cx="20274216" cy="1059151"/>
            <a:chOff x="0" y="0"/>
            <a:chExt cx="5339711" cy="278953"/>
          </a:xfrm>
        </p:grpSpPr>
        <p:sp>
          <p:nvSpPr>
            <p:cNvPr name="Freeform 6" id="6"/>
            <p:cNvSpPr/>
            <p:nvPr/>
          </p:nvSpPr>
          <p:spPr>
            <a:xfrm flipH="false" flipV="false" rot="0">
              <a:off x="0" y="0"/>
              <a:ext cx="5339711" cy="278953"/>
            </a:xfrm>
            <a:custGeom>
              <a:avLst/>
              <a:gdLst/>
              <a:ahLst/>
              <a:cxnLst/>
              <a:rect r="r" b="b" t="t" l="l"/>
              <a:pathLst>
                <a:path h="278953" w="5339711">
                  <a:moveTo>
                    <a:pt x="19475" y="0"/>
                  </a:moveTo>
                  <a:lnTo>
                    <a:pt x="5320236" y="0"/>
                  </a:lnTo>
                  <a:cubicBezTo>
                    <a:pt x="5330992" y="0"/>
                    <a:pt x="5339711" y="8719"/>
                    <a:pt x="5339711" y="19475"/>
                  </a:cubicBezTo>
                  <a:lnTo>
                    <a:pt x="5339711" y="259478"/>
                  </a:lnTo>
                  <a:cubicBezTo>
                    <a:pt x="5339711" y="270234"/>
                    <a:pt x="5330992" y="278953"/>
                    <a:pt x="5320236" y="278953"/>
                  </a:cubicBezTo>
                  <a:lnTo>
                    <a:pt x="19475" y="278953"/>
                  </a:lnTo>
                  <a:cubicBezTo>
                    <a:pt x="8719" y="278953"/>
                    <a:pt x="0" y="270234"/>
                    <a:pt x="0" y="259478"/>
                  </a:cubicBezTo>
                  <a:lnTo>
                    <a:pt x="0" y="19475"/>
                  </a:lnTo>
                  <a:cubicBezTo>
                    <a:pt x="0" y="8719"/>
                    <a:pt x="8719" y="0"/>
                    <a:pt x="19475" y="0"/>
                  </a:cubicBezTo>
                  <a:close/>
                </a:path>
              </a:pathLst>
            </a:custGeom>
            <a:solidFill>
              <a:srgbClr val="CC576F"/>
            </a:solidFill>
          </p:spPr>
        </p:sp>
        <p:sp>
          <p:nvSpPr>
            <p:cNvPr name="TextBox 7" id="7"/>
            <p:cNvSpPr txBox="true"/>
            <p:nvPr/>
          </p:nvSpPr>
          <p:spPr>
            <a:xfrm>
              <a:off x="0" y="-47625"/>
              <a:ext cx="5339711" cy="326578"/>
            </a:xfrm>
            <a:prstGeom prst="rect">
              <a:avLst/>
            </a:prstGeom>
          </p:spPr>
          <p:txBody>
            <a:bodyPr anchor="ctr" rtlCol="false" tIns="50800" lIns="50800" bIns="50800" rIns="50800"/>
            <a:lstStyle/>
            <a:p>
              <a:pPr algn="ctr">
                <a:lnSpc>
                  <a:spcPts val="3499"/>
                </a:lnSpc>
              </a:pPr>
            </a:p>
          </p:txBody>
        </p:sp>
      </p:grpSp>
      <p:grpSp>
        <p:nvGrpSpPr>
          <p:cNvPr name="Group 8" id="8"/>
          <p:cNvGrpSpPr/>
          <p:nvPr/>
        </p:nvGrpSpPr>
        <p:grpSpPr>
          <a:xfrm rot="187008">
            <a:off x="654793" y="759615"/>
            <a:ext cx="781777" cy="78177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DE59"/>
            </a:solidFill>
          </p:spPr>
        </p:sp>
        <p:sp>
          <p:nvSpPr>
            <p:cNvPr name="TextBox 10" id="10"/>
            <p:cNvSpPr txBox="true"/>
            <p:nvPr/>
          </p:nvSpPr>
          <p:spPr>
            <a:xfrm>
              <a:off x="190500" y="142875"/>
              <a:ext cx="431800" cy="479425"/>
            </a:xfrm>
            <a:prstGeom prst="rect">
              <a:avLst/>
            </a:prstGeom>
          </p:spPr>
          <p:txBody>
            <a:bodyPr anchor="ctr" rtlCol="false" tIns="50800" lIns="50800" bIns="50800" rIns="50800"/>
            <a:lstStyle/>
            <a:p>
              <a:pPr algn="ctr">
                <a:lnSpc>
                  <a:spcPts val="3499"/>
                </a:lnSpc>
              </a:pPr>
            </a:p>
          </p:txBody>
        </p:sp>
      </p:grpSp>
      <p:grpSp>
        <p:nvGrpSpPr>
          <p:cNvPr name="Group 11" id="11"/>
          <p:cNvGrpSpPr/>
          <p:nvPr/>
        </p:nvGrpSpPr>
        <p:grpSpPr>
          <a:xfrm rot="-321674">
            <a:off x="14036253" y="543606"/>
            <a:ext cx="781777" cy="781777"/>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DE59"/>
            </a:solidFill>
          </p:spPr>
        </p:sp>
        <p:sp>
          <p:nvSpPr>
            <p:cNvPr name="TextBox 13" id="13"/>
            <p:cNvSpPr txBox="true"/>
            <p:nvPr/>
          </p:nvSpPr>
          <p:spPr>
            <a:xfrm>
              <a:off x="190500" y="142875"/>
              <a:ext cx="431800" cy="479425"/>
            </a:xfrm>
            <a:prstGeom prst="rect">
              <a:avLst/>
            </a:prstGeom>
          </p:spPr>
          <p:txBody>
            <a:bodyPr anchor="ctr" rtlCol="false" tIns="50800" lIns="50800" bIns="50800" rIns="50800"/>
            <a:lstStyle/>
            <a:p>
              <a:pPr algn="ctr">
                <a:lnSpc>
                  <a:spcPts val="3499"/>
                </a:lnSpc>
              </a:pPr>
            </a:p>
          </p:txBody>
        </p:sp>
      </p:grpSp>
      <p:sp>
        <p:nvSpPr>
          <p:cNvPr name="Freeform 14" id="14"/>
          <p:cNvSpPr/>
          <p:nvPr/>
        </p:nvSpPr>
        <p:spPr>
          <a:xfrm flipH="false" flipV="false" rot="0">
            <a:off x="15694126" y="508794"/>
            <a:ext cx="1848933" cy="1848933"/>
          </a:xfrm>
          <a:custGeom>
            <a:avLst/>
            <a:gdLst/>
            <a:ahLst/>
            <a:cxnLst/>
            <a:rect r="r" b="b" t="t" l="l"/>
            <a:pathLst>
              <a:path h="1848933" w="1848933">
                <a:moveTo>
                  <a:pt x="0" y="0"/>
                </a:moveTo>
                <a:lnTo>
                  <a:pt x="1848933" y="0"/>
                </a:lnTo>
                <a:lnTo>
                  <a:pt x="1848933" y="1848933"/>
                </a:lnTo>
                <a:lnTo>
                  <a:pt x="0" y="1848933"/>
                </a:lnTo>
                <a:lnTo>
                  <a:pt x="0" y="0"/>
                </a:lnTo>
                <a:close/>
              </a:path>
            </a:pathLst>
          </a:custGeom>
          <a:blipFill>
            <a:blip r:embed="rId4"/>
            <a:stretch>
              <a:fillRect l="0" t="0" r="0" b="0"/>
            </a:stretch>
          </a:blipFill>
        </p:spPr>
      </p:sp>
      <p:sp>
        <p:nvSpPr>
          <p:cNvPr name="Freeform 15" id="15"/>
          <p:cNvSpPr/>
          <p:nvPr/>
        </p:nvSpPr>
        <p:spPr>
          <a:xfrm flipH="false" flipV="false" rot="0">
            <a:off x="1045681" y="1952076"/>
            <a:ext cx="10701373" cy="7195481"/>
          </a:xfrm>
          <a:custGeom>
            <a:avLst/>
            <a:gdLst/>
            <a:ahLst/>
            <a:cxnLst/>
            <a:rect r="r" b="b" t="t" l="l"/>
            <a:pathLst>
              <a:path h="7195481" w="10701373">
                <a:moveTo>
                  <a:pt x="0" y="0"/>
                </a:moveTo>
                <a:lnTo>
                  <a:pt x="10701374" y="0"/>
                </a:lnTo>
                <a:lnTo>
                  <a:pt x="10701374" y="7195482"/>
                </a:lnTo>
                <a:lnTo>
                  <a:pt x="0" y="7195482"/>
                </a:lnTo>
                <a:lnTo>
                  <a:pt x="0" y="0"/>
                </a:lnTo>
                <a:close/>
              </a:path>
            </a:pathLst>
          </a:custGeom>
          <a:blipFill>
            <a:blip r:embed="rId5"/>
            <a:stretch>
              <a:fillRect l="0" t="0" r="-921" b="0"/>
            </a:stretch>
          </a:blipFill>
        </p:spPr>
      </p:sp>
      <p:sp>
        <p:nvSpPr>
          <p:cNvPr name="TextBox 16" id="16"/>
          <p:cNvSpPr txBox="true"/>
          <p:nvPr/>
        </p:nvSpPr>
        <p:spPr>
          <a:xfrm rot="0">
            <a:off x="1594588" y="626837"/>
            <a:ext cx="12269510" cy="935230"/>
          </a:xfrm>
          <a:prstGeom prst="rect">
            <a:avLst/>
          </a:prstGeom>
        </p:spPr>
        <p:txBody>
          <a:bodyPr anchor="t" rtlCol="false" tIns="0" lIns="0" bIns="0" rIns="0">
            <a:spAutoFit/>
          </a:bodyPr>
          <a:lstStyle/>
          <a:p>
            <a:pPr algn="l">
              <a:lnSpc>
                <a:spcPts val="5998"/>
              </a:lnSpc>
            </a:pPr>
            <a:r>
              <a:rPr lang="en-US" sz="5453" b="true">
                <a:solidFill>
                  <a:srgbClr val="101010"/>
                </a:solidFill>
                <a:latin typeface="Agrandir Grand Ultra-Bold"/>
                <a:ea typeface="Agrandir Grand Ultra-Bold"/>
                <a:cs typeface="Agrandir Grand Ultra-Bold"/>
                <a:sym typeface="Agrandir Grand Ultra-Bold"/>
              </a:rPr>
              <a:t>ALUR SISTEM</a:t>
            </a:r>
          </a:p>
        </p:txBody>
      </p:sp>
      <p:sp>
        <p:nvSpPr>
          <p:cNvPr name="Freeform 17" id="17"/>
          <p:cNvSpPr/>
          <p:nvPr/>
        </p:nvSpPr>
        <p:spPr>
          <a:xfrm flipH="false" flipV="false" rot="0">
            <a:off x="11922032" y="3772221"/>
            <a:ext cx="7028958" cy="8477910"/>
          </a:xfrm>
          <a:custGeom>
            <a:avLst/>
            <a:gdLst/>
            <a:ahLst/>
            <a:cxnLst/>
            <a:rect r="r" b="b" t="t" l="l"/>
            <a:pathLst>
              <a:path h="8477910" w="7028958">
                <a:moveTo>
                  <a:pt x="0" y="0"/>
                </a:moveTo>
                <a:lnTo>
                  <a:pt x="7028958" y="0"/>
                </a:lnTo>
                <a:lnTo>
                  <a:pt x="7028958" y="8477911"/>
                </a:lnTo>
                <a:lnTo>
                  <a:pt x="0" y="847791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76707" y="-366843"/>
            <a:ext cx="21314151" cy="10676209"/>
            <a:chOff x="0" y="0"/>
            <a:chExt cx="28418868" cy="14234945"/>
          </a:xfrm>
        </p:grpSpPr>
        <p:sp>
          <p:nvSpPr>
            <p:cNvPr name="Freeform 3" id="3"/>
            <p:cNvSpPr/>
            <p:nvPr/>
          </p:nvSpPr>
          <p:spPr>
            <a:xfrm flipH="false" flipV="false" rot="0">
              <a:off x="0" y="0"/>
              <a:ext cx="14234945" cy="14234945"/>
            </a:xfrm>
            <a:custGeom>
              <a:avLst/>
              <a:gdLst/>
              <a:ahLst/>
              <a:cxnLst/>
              <a:rect r="r" b="b" t="t" l="l"/>
              <a:pathLst>
                <a:path h="14234945" w="14234945">
                  <a:moveTo>
                    <a:pt x="0" y="0"/>
                  </a:moveTo>
                  <a:lnTo>
                    <a:pt x="14234945" y="0"/>
                  </a:lnTo>
                  <a:lnTo>
                    <a:pt x="14234945" y="14234945"/>
                  </a:lnTo>
                  <a:lnTo>
                    <a:pt x="0" y="14234945"/>
                  </a:lnTo>
                  <a:lnTo>
                    <a:pt x="0" y="0"/>
                  </a:lnTo>
                  <a:close/>
                </a:path>
              </a:pathLst>
            </a:custGeom>
            <a:blipFill>
              <a:blip r:embed="rId2">
                <a:alphaModFix amt="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183923" y="0"/>
              <a:ext cx="14234945" cy="14234945"/>
            </a:xfrm>
            <a:custGeom>
              <a:avLst/>
              <a:gdLst/>
              <a:ahLst/>
              <a:cxnLst/>
              <a:rect r="r" b="b" t="t" l="l"/>
              <a:pathLst>
                <a:path h="14234945" w="14234945">
                  <a:moveTo>
                    <a:pt x="0" y="0"/>
                  </a:moveTo>
                  <a:lnTo>
                    <a:pt x="14234945" y="0"/>
                  </a:lnTo>
                  <a:lnTo>
                    <a:pt x="14234945" y="14234945"/>
                  </a:lnTo>
                  <a:lnTo>
                    <a:pt x="0" y="14234945"/>
                  </a:lnTo>
                  <a:lnTo>
                    <a:pt x="0" y="0"/>
                  </a:lnTo>
                  <a:close/>
                </a:path>
              </a:pathLst>
            </a:custGeom>
            <a:blipFill>
              <a:blip r:embed="rId2">
                <a:alphaModFix amt="3000"/>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976707" y="9537567"/>
            <a:ext cx="20274216" cy="1059151"/>
            <a:chOff x="0" y="0"/>
            <a:chExt cx="5339711" cy="278953"/>
          </a:xfrm>
        </p:grpSpPr>
        <p:sp>
          <p:nvSpPr>
            <p:cNvPr name="Freeform 6" id="6"/>
            <p:cNvSpPr/>
            <p:nvPr/>
          </p:nvSpPr>
          <p:spPr>
            <a:xfrm flipH="false" flipV="false" rot="0">
              <a:off x="0" y="0"/>
              <a:ext cx="5339711" cy="278953"/>
            </a:xfrm>
            <a:custGeom>
              <a:avLst/>
              <a:gdLst/>
              <a:ahLst/>
              <a:cxnLst/>
              <a:rect r="r" b="b" t="t" l="l"/>
              <a:pathLst>
                <a:path h="278953" w="5339711">
                  <a:moveTo>
                    <a:pt x="19475" y="0"/>
                  </a:moveTo>
                  <a:lnTo>
                    <a:pt x="5320236" y="0"/>
                  </a:lnTo>
                  <a:cubicBezTo>
                    <a:pt x="5330992" y="0"/>
                    <a:pt x="5339711" y="8719"/>
                    <a:pt x="5339711" y="19475"/>
                  </a:cubicBezTo>
                  <a:lnTo>
                    <a:pt x="5339711" y="259478"/>
                  </a:lnTo>
                  <a:cubicBezTo>
                    <a:pt x="5339711" y="270234"/>
                    <a:pt x="5330992" y="278953"/>
                    <a:pt x="5320236" y="278953"/>
                  </a:cubicBezTo>
                  <a:lnTo>
                    <a:pt x="19475" y="278953"/>
                  </a:lnTo>
                  <a:cubicBezTo>
                    <a:pt x="8719" y="278953"/>
                    <a:pt x="0" y="270234"/>
                    <a:pt x="0" y="259478"/>
                  </a:cubicBezTo>
                  <a:lnTo>
                    <a:pt x="0" y="19475"/>
                  </a:lnTo>
                  <a:cubicBezTo>
                    <a:pt x="0" y="8719"/>
                    <a:pt x="8719" y="0"/>
                    <a:pt x="19475" y="0"/>
                  </a:cubicBezTo>
                  <a:close/>
                </a:path>
              </a:pathLst>
            </a:custGeom>
            <a:solidFill>
              <a:srgbClr val="CC576F"/>
            </a:solidFill>
          </p:spPr>
        </p:sp>
        <p:sp>
          <p:nvSpPr>
            <p:cNvPr name="TextBox 7" id="7"/>
            <p:cNvSpPr txBox="true"/>
            <p:nvPr/>
          </p:nvSpPr>
          <p:spPr>
            <a:xfrm>
              <a:off x="0" y="-47625"/>
              <a:ext cx="5339711" cy="326578"/>
            </a:xfrm>
            <a:prstGeom prst="rect">
              <a:avLst/>
            </a:prstGeom>
          </p:spPr>
          <p:txBody>
            <a:bodyPr anchor="ctr" rtlCol="false" tIns="50800" lIns="50800" bIns="50800" rIns="50800"/>
            <a:lstStyle/>
            <a:p>
              <a:pPr algn="ctr">
                <a:lnSpc>
                  <a:spcPts val="3499"/>
                </a:lnSpc>
              </a:pPr>
            </a:p>
          </p:txBody>
        </p:sp>
      </p:grpSp>
      <p:sp>
        <p:nvSpPr>
          <p:cNvPr name="Freeform 8" id="8"/>
          <p:cNvSpPr/>
          <p:nvPr/>
        </p:nvSpPr>
        <p:spPr>
          <a:xfrm flipH="false" flipV="false" rot="0">
            <a:off x="11086672" y="7616202"/>
            <a:ext cx="8210837" cy="9903421"/>
          </a:xfrm>
          <a:custGeom>
            <a:avLst/>
            <a:gdLst/>
            <a:ahLst/>
            <a:cxnLst/>
            <a:rect r="r" b="b" t="t" l="l"/>
            <a:pathLst>
              <a:path h="9903421" w="8210837">
                <a:moveTo>
                  <a:pt x="0" y="0"/>
                </a:moveTo>
                <a:lnTo>
                  <a:pt x="8210837" y="0"/>
                </a:lnTo>
                <a:lnTo>
                  <a:pt x="8210837" y="9903421"/>
                </a:lnTo>
                <a:lnTo>
                  <a:pt x="0" y="990342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9" id="9"/>
          <p:cNvSpPr/>
          <p:nvPr/>
        </p:nvSpPr>
        <p:spPr>
          <a:xfrm flipH="true" flipV="false" rot="0">
            <a:off x="234982" y="5721531"/>
            <a:ext cx="5517360" cy="7073539"/>
          </a:xfrm>
          <a:custGeom>
            <a:avLst/>
            <a:gdLst/>
            <a:ahLst/>
            <a:cxnLst/>
            <a:rect r="r" b="b" t="t" l="l"/>
            <a:pathLst>
              <a:path h="7073539" w="5517360">
                <a:moveTo>
                  <a:pt x="5517360" y="0"/>
                </a:moveTo>
                <a:lnTo>
                  <a:pt x="0" y="0"/>
                </a:lnTo>
                <a:lnTo>
                  <a:pt x="0" y="7073538"/>
                </a:lnTo>
                <a:lnTo>
                  <a:pt x="5517360" y="7073538"/>
                </a:lnTo>
                <a:lnTo>
                  <a:pt x="551736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grpSp>
        <p:nvGrpSpPr>
          <p:cNvPr name="Group 10" id="10"/>
          <p:cNvGrpSpPr/>
          <p:nvPr/>
        </p:nvGrpSpPr>
        <p:grpSpPr>
          <a:xfrm rot="187008">
            <a:off x="16318741" y="1388323"/>
            <a:ext cx="781777" cy="781777"/>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DE59"/>
            </a:solidFill>
          </p:spPr>
        </p:sp>
        <p:sp>
          <p:nvSpPr>
            <p:cNvPr name="TextBox 12" id="12"/>
            <p:cNvSpPr txBox="true"/>
            <p:nvPr/>
          </p:nvSpPr>
          <p:spPr>
            <a:xfrm>
              <a:off x="190500" y="142875"/>
              <a:ext cx="431800" cy="479425"/>
            </a:xfrm>
            <a:prstGeom prst="rect">
              <a:avLst/>
            </a:prstGeom>
          </p:spPr>
          <p:txBody>
            <a:bodyPr anchor="ctr" rtlCol="false" tIns="50800" lIns="50800" bIns="50800" rIns="50800"/>
            <a:lstStyle/>
            <a:p>
              <a:pPr algn="ctr">
                <a:lnSpc>
                  <a:spcPts val="3499"/>
                </a:lnSpc>
              </a:pPr>
            </a:p>
          </p:txBody>
        </p:sp>
      </p:grpSp>
      <p:grpSp>
        <p:nvGrpSpPr>
          <p:cNvPr name="Group 13" id="13"/>
          <p:cNvGrpSpPr/>
          <p:nvPr/>
        </p:nvGrpSpPr>
        <p:grpSpPr>
          <a:xfrm rot="-321674">
            <a:off x="17156005" y="6239026"/>
            <a:ext cx="781777" cy="781777"/>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DE59"/>
            </a:solidFill>
          </p:spPr>
        </p:sp>
        <p:sp>
          <p:nvSpPr>
            <p:cNvPr name="TextBox 15" id="15"/>
            <p:cNvSpPr txBox="true"/>
            <p:nvPr/>
          </p:nvSpPr>
          <p:spPr>
            <a:xfrm>
              <a:off x="190500" y="142875"/>
              <a:ext cx="431800" cy="479425"/>
            </a:xfrm>
            <a:prstGeom prst="rect">
              <a:avLst/>
            </a:prstGeom>
          </p:spPr>
          <p:txBody>
            <a:bodyPr anchor="ctr" rtlCol="false" tIns="50800" lIns="50800" bIns="50800" rIns="50800"/>
            <a:lstStyle/>
            <a:p>
              <a:pPr algn="ctr">
                <a:lnSpc>
                  <a:spcPts val="3499"/>
                </a:lnSpc>
              </a:pPr>
            </a:p>
          </p:txBody>
        </p:sp>
      </p:grpSp>
      <p:sp>
        <p:nvSpPr>
          <p:cNvPr name="Freeform 16" id="16"/>
          <p:cNvSpPr/>
          <p:nvPr/>
        </p:nvSpPr>
        <p:spPr>
          <a:xfrm flipH="false" flipV="false" rot="0">
            <a:off x="656015" y="505006"/>
            <a:ext cx="2106548" cy="2106548"/>
          </a:xfrm>
          <a:custGeom>
            <a:avLst/>
            <a:gdLst/>
            <a:ahLst/>
            <a:cxnLst/>
            <a:rect r="r" b="b" t="t" l="l"/>
            <a:pathLst>
              <a:path h="2106548" w="2106548">
                <a:moveTo>
                  <a:pt x="0" y="0"/>
                </a:moveTo>
                <a:lnTo>
                  <a:pt x="2106548" y="0"/>
                </a:lnTo>
                <a:lnTo>
                  <a:pt x="2106548" y="2106548"/>
                </a:lnTo>
                <a:lnTo>
                  <a:pt x="0" y="2106548"/>
                </a:lnTo>
                <a:lnTo>
                  <a:pt x="0" y="0"/>
                </a:lnTo>
                <a:close/>
              </a:path>
            </a:pathLst>
          </a:custGeom>
          <a:blipFill>
            <a:blip r:embed="rId8"/>
            <a:stretch>
              <a:fillRect l="0" t="0" r="0" b="0"/>
            </a:stretch>
          </a:blipFill>
        </p:spPr>
      </p:sp>
      <p:sp>
        <p:nvSpPr>
          <p:cNvPr name="TextBox 17" id="17"/>
          <p:cNvSpPr txBox="true"/>
          <p:nvPr/>
        </p:nvSpPr>
        <p:spPr>
          <a:xfrm rot="0">
            <a:off x="4222904" y="901043"/>
            <a:ext cx="8674026" cy="682520"/>
          </a:xfrm>
          <a:prstGeom prst="rect">
            <a:avLst/>
          </a:prstGeom>
        </p:spPr>
        <p:txBody>
          <a:bodyPr anchor="t" rtlCol="false" tIns="0" lIns="0" bIns="0" rIns="0">
            <a:spAutoFit/>
          </a:bodyPr>
          <a:lstStyle/>
          <a:p>
            <a:pPr algn="l">
              <a:lnSpc>
                <a:spcPts val="4379"/>
              </a:lnSpc>
            </a:pPr>
            <a:r>
              <a:rPr lang="en-US" sz="3981" b="true">
                <a:solidFill>
                  <a:srgbClr val="101010"/>
                </a:solidFill>
                <a:latin typeface="Agrandir Grand Ultra-Bold"/>
                <a:ea typeface="Agrandir Grand Ultra-Bold"/>
                <a:cs typeface="Agrandir Grand Ultra-Bold"/>
                <a:sym typeface="Agrandir Grand Ultra-Bold"/>
              </a:rPr>
              <a:t>RANCANGAN</a:t>
            </a:r>
          </a:p>
        </p:txBody>
      </p:sp>
      <p:sp>
        <p:nvSpPr>
          <p:cNvPr name="TextBox 18" id="18"/>
          <p:cNvSpPr txBox="true"/>
          <p:nvPr/>
        </p:nvSpPr>
        <p:spPr>
          <a:xfrm rot="0">
            <a:off x="4245413" y="1558614"/>
            <a:ext cx="12052653" cy="6392171"/>
          </a:xfrm>
          <a:prstGeom prst="rect">
            <a:avLst/>
          </a:prstGeom>
        </p:spPr>
        <p:txBody>
          <a:bodyPr anchor="t" rtlCol="false" tIns="0" lIns="0" bIns="0" rIns="0">
            <a:spAutoFit/>
          </a:bodyPr>
          <a:lstStyle/>
          <a:p>
            <a:pPr algn="l">
              <a:lnSpc>
                <a:spcPts val="4261"/>
              </a:lnSpc>
            </a:pPr>
            <a:r>
              <a:rPr lang="en-US" sz="3043">
                <a:solidFill>
                  <a:srgbClr val="101010"/>
                </a:solidFill>
                <a:latin typeface="Canva Sans"/>
                <a:ea typeface="Canva Sans"/>
                <a:cs typeface="Canva Sans"/>
                <a:sym typeface="Canva Sans"/>
              </a:rPr>
              <a:t>Antarmuka Admin:</a:t>
            </a:r>
          </a:p>
          <a:p>
            <a:pPr algn="l" marL="657131" indent="-328565" lvl="1">
              <a:lnSpc>
                <a:spcPts val="4261"/>
              </a:lnSpc>
              <a:buFont typeface="Arial"/>
              <a:buChar char="•"/>
            </a:pPr>
            <a:r>
              <a:rPr lang="en-US" sz="3043">
                <a:solidFill>
                  <a:srgbClr val="101010"/>
                </a:solidFill>
                <a:latin typeface="Canva Sans"/>
                <a:ea typeface="Canva Sans"/>
                <a:cs typeface="Canva Sans"/>
                <a:sym typeface="Canva Sans"/>
              </a:rPr>
              <a:t>Dashboard</a:t>
            </a:r>
          </a:p>
          <a:p>
            <a:pPr algn="l" marL="657131" indent="-328565" lvl="1">
              <a:lnSpc>
                <a:spcPts val="4261"/>
              </a:lnSpc>
              <a:buFont typeface="Arial"/>
              <a:buChar char="•"/>
            </a:pPr>
            <a:r>
              <a:rPr lang="en-US" sz="3043">
                <a:solidFill>
                  <a:srgbClr val="101010"/>
                </a:solidFill>
                <a:latin typeface="Canva Sans"/>
                <a:ea typeface="Canva Sans"/>
                <a:cs typeface="Canva Sans"/>
                <a:sym typeface="Canva Sans"/>
              </a:rPr>
              <a:t>Form Upload Musik</a:t>
            </a:r>
          </a:p>
          <a:p>
            <a:pPr algn="l" marL="657131" indent="-328565" lvl="1">
              <a:lnSpc>
                <a:spcPts val="4261"/>
              </a:lnSpc>
              <a:buFont typeface="Arial"/>
              <a:buChar char="•"/>
            </a:pPr>
            <a:r>
              <a:rPr lang="en-US" sz="3043">
                <a:solidFill>
                  <a:srgbClr val="101010"/>
                </a:solidFill>
                <a:latin typeface="Canva Sans"/>
                <a:ea typeface="Canva Sans"/>
                <a:cs typeface="Canva Sans"/>
                <a:sym typeface="Canva Sans"/>
              </a:rPr>
              <a:t>Daftar Musik (dengan fitur edit &amp; hapus)</a:t>
            </a:r>
          </a:p>
          <a:p>
            <a:pPr algn="l" marL="657131" indent="-328565" lvl="1">
              <a:lnSpc>
                <a:spcPts val="4261"/>
              </a:lnSpc>
              <a:buFont typeface="Arial"/>
              <a:buChar char="•"/>
            </a:pPr>
            <a:r>
              <a:rPr lang="en-US" sz="3043">
                <a:solidFill>
                  <a:srgbClr val="101010"/>
                </a:solidFill>
                <a:latin typeface="Canva Sans"/>
                <a:ea typeface="Canva Sans"/>
                <a:cs typeface="Canva Sans"/>
                <a:sym typeface="Canva Sans"/>
              </a:rPr>
              <a:t>Profil Admin</a:t>
            </a:r>
          </a:p>
          <a:p>
            <a:pPr algn="l">
              <a:lnSpc>
                <a:spcPts val="4261"/>
              </a:lnSpc>
            </a:pPr>
            <a:r>
              <a:rPr lang="en-US" sz="3043">
                <a:solidFill>
                  <a:srgbClr val="101010"/>
                </a:solidFill>
                <a:latin typeface="Canva Sans"/>
                <a:ea typeface="Canva Sans"/>
                <a:cs typeface="Canva Sans"/>
                <a:sym typeface="Canva Sans"/>
              </a:rPr>
              <a:t>Antarmuka Listener:</a:t>
            </a:r>
          </a:p>
          <a:p>
            <a:pPr algn="l" marL="657131" indent="-328565" lvl="1">
              <a:lnSpc>
                <a:spcPts val="4261"/>
              </a:lnSpc>
              <a:buFont typeface="Arial"/>
              <a:buChar char="•"/>
            </a:pPr>
            <a:r>
              <a:rPr lang="en-US" sz="3043">
                <a:solidFill>
                  <a:srgbClr val="101010"/>
                </a:solidFill>
                <a:latin typeface="Canva Sans"/>
                <a:ea typeface="Canva Sans"/>
                <a:cs typeface="Canva Sans"/>
                <a:sym typeface="Canva Sans"/>
              </a:rPr>
              <a:t>Halaman Beranda</a:t>
            </a:r>
          </a:p>
          <a:p>
            <a:pPr algn="l" marL="657131" indent="-328565" lvl="1">
              <a:lnSpc>
                <a:spcPts val="4261"/>
              </a:lnSpc>
              <a:buFont typeface="Arial"/>
              <a:buChar char="•"/>
            </a:pPr>
            <a:r>
              <a:rPr lang="en-US" sz="3043">
                <a:solidFill>
                  <a:srgbClr val="101010"/>
                </a:solidFill>
                <a:latin typeface="Canva Sans"/>
                <a:ea typeface="Canva Sans"/>
                <a:cs typeface="Canva Sans"/>
                <a:sym typeface="Canva Sans"/>
              </a:rPr>
              <a:t>Detail Musik + Player</a:t>
            </a:r>
          </a:p>
          <a:p>
            <a:pPr algn="l" marL="657131" indent="-328565" lvl="1">
              <a:lnSpc>
                <a:spcPts val="4261"/>
              </a:lnSpc>
              <a:buFont typeface="Arial"/>
              <a:buChar char="•"/>
            </a:pPr>
            <a:r>
              <a:rPr lang="en-US" sz="3043">
                <a:solidFill>
                  <a:srgbClr val="101010"/>
                </a:solidFill>
                <a:latin typeface="Canva Sans"/>
                <a:ea typeface="Canva Sans"/>
                <a:cs typeface="Canva Sans"/>
                <a:sym typeface="Canva Sans"/>
              </a:rPr>
              <a:t>Menu Jelajah</a:t>
            </a:r>
          </a:p>
          <a:p>
            <a:pPr algn="l" marL="657131" indent="-328565" lvl="1">
              <a:lnSpc>
                <a:spcPts val="4261"/>
              </a:lnSpc>
              <a:buFont typeface="Arial"/>
              <a:buChar char="•"/>
            </a:pPr>
            <a:r>
              <a:rPr lang="en-US" sz="3043">
                <a:solidFill>
                  <a:srgbClr val="101010"/>
                </a:solidFill>
                <a:latin typeface="Canva Sans"/>
                <a:ea typeface="Canva Sans"/>
                <a:cs typeface="Canva Sans"/>
                <a:sym typeface="Canva Sans"/>
              </a:rPr>
              <a:t>Favorit &amp; Profil</a:t>
            </a:r>
          </a:p>
          <a:p>
            <a:pPr algn="l">
              <a:lnSpc>
                <a:spcPts val="4261"/>
              </a:lnSpc>
            </a:pPr>
            <a:r>
              <a:rPr lang="en-US" sz="3043">
                <a:solidFill>
                  <a:srgbClr val="101010"/>
                </a:solidFill>
                <a:latin typeface="Canva Sans"/>
                <a:ea typeface="Canva Sans"/>
                <a:cs typeface="Canva Sans"/>
                <a:sym typeface="Canva Sans"/>
              </a:rPr>
              <a:t>Desain responsif dengan navigasi bottom menu</a:t>
            </a:r>
          </a:p>
          <a:p>
            <a:pPr algn="l">
              <a:lnSpc>
                <a:spcPts val="4261"/>
              </a:lnSpc>
            </a:pPr>
          </a:p>
        </p:txBody>
      </p:sp>
      <p:grpSp>
        <p:nvGrpSpPr>
          <p:cNvPr name="Group 19" id="19"/>
          <p:cNvGrpSpPr/>
          <p:nvPr/>
        </p:nvGrpSpPr>
        <p:grpSpPr>
          <a:xfrm rot="187008">
            <a:off x="906837" y="3645516"/>
            <a:ext cx="781777" cy="781777"/>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DE59"/>
            </a:solidFill>
          </p:spPr>
        </p:sp>
        <p:sp>
          <p:nvSpPr>
            <p:cNvPr name="TextBox 21" id="21"/>
            <p:cNvSpPr txBox="true"/>
            <p:nvPr/>
          </p:nvSpPr>
          <p:spPr>
            <a:xfrm>
              <a:off x="190500" y="142875"/>
              <a:ext cx="431800" cy="479425"/>
            </a:xfrm>
            <a:prstGeom prst="rect">
              <a:avLst/>
            </a:prstGeom>
          </p:spPr>
          <p:txBody>
            <a:bodyPr anchor="ctr" rtlCol="false" tIns="50800" lIns="50800" bIns="50800" rIns="50800"/>
            <a:lstStyle/>
            <a:p>
              <a:pPr algn="ctr">
                <a:lnSpc>
                  <a:spcPts val="3499"/>
                </a:lnSpc>
              </a:pP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76707" y="-366843"/>
            <a:ext cx="21314151" cy="10676209"/>
            <a:chOff x="0" y="0"/>
            <a:chExt cx="28418868" cy="14234945"/>
          </a:xfrm>
        </p:grpSpPr>
        <p:sp>
          <p:nvSpPr>
            <p:cNvPr name="Freeform 3" id="3"/>
            <p:cNvSpPr/>
            <p:nvPr/>
          </p:nvSpPr>
          <p:spPr>
            <a:xfrm flipH="false" flipV="false" rot="0">
              <a:off x="0" y="0"/>
              <a:ext cx="14234945" cy="14234945"/>
            </a:xfrm>
            <a:custGeom>
              <a:avLst/>
              <a:gdLst/>
              <a:ahLst/>
              <a:cxnLst/>
              <a:rect r="r" b="b" t="t" l="l"/>
              <a:pathLst>
                <a:path h="14234945" w="14234945">
                  <a:moveTo>
                    <a:pt x="0" y="0"/>
                  </a:moveTo>
                  <a:lnTo>
                    <a:pt x="14234945" y="0"/>
                  </a:lnTo>
                  <a:lnTo>
                    <a:pt x="14234945" y="14234945"/>
                  </a:lnTo>
                  <a:lnTo>
                    <a:pt x="0" y="14234945"/>
                  </a:lnTo>
                  <a:lnTo>
                    <a:pt x="0" y="0"/>
                  </a:lnTo>
                  <a:close/>
                </a:path>
              </a:pathLst>
            </a:custGeom>
            <a:blipFill>
              <a:blip r:embed="rId2">
                <a:alphaModFix amt="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183923" y="0"/>
              <a:ext cx="14234945" cy="14234945"/>
            </a:xfrm>
            <a:custGeom>
              <a:avLst/>
              <a:gdLst/>
              <a:ahLst/>
              <a:cxnLst/>
              <a:rect r="r" b="b" t="t" l="l"/>
              <a:pathLst>
                <a:path h="14234945" w="14234945">
                  <a:moveTo>
                    <a:pt x="0" y="0"/>
                  </a:moveTo>
                  <a:lnTo>
                    <a:pt x="14234945" y="0"/>
                  </a:lnTo>
                  <a:lnTo>
                    <a:pt x="14234945" y="14234945"/>
                  </a:lnTo>
                  <a:lnTo>
                    <a:pt x="0" y="14234945"/>
                  </a:lnTo>
                  <a:lnTo>
                    <a:pt x="0" y="0"/>
                  </a:lnTo>
                  <a:close/>
                </a:path>
              </a:pathLst>
            </a:custGeom>
            <a:blipFill>
              <a:blip r:embed="rId2">
                <a:alphaModFix amt="3000"/>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976707" y="9537567"/>
            <a:ext cx="20274216" cy="1059151"/>
            <a:chOff x="0" y="0"/>
            <a:chExt cx="5339711" cy="278953"/>
          </a:xfrm>
        </p:grpSpPr>
        <p:sp>
          <p:nvSpPr>
            <p:cNvPr name="Freeform 6" id="6"/>
            <p:cNvSpPr/>
            <p:nvPr/>
          </p:nvSpPr>
          <p:spPr>
            <a:xfrm flipH="false" flipV="false" rot="0">
              <a:off x="0" y="0"/>
              <a:ext cx="5339711" cy="278953"/>
            </a:xfrm>
            <a:custGeom>
              <a:avLst/>
              <a:gdLst/>
              <a:ahLst/>
              <a:cxnLst/>
              <a:rect r="r" b="b" t="t" l="l"/>
              <a:pathLst>
                <a:path h="278953" w="5339711">
                  <a:moveTo>
                    <a:pt x="19475" y="0"/>
                  </a:moveTo>
                  <a:lnTo>
                    <a:pt x="5320236" y="0"/>
                  </a:lnTo>
                  <a:cubicBezTo>
                    <a:pt x="5330992" y="0"/>
                    <a:pt x="5339711" y="8719"/>
                    <a:pt x="5339711" y="19475"/>
                  </a:cubicBezTo>
                  <a:lnTo>
                    <a:pt x="5339711" y="259478"/>
                  </a:lnTo>
                  <a:cubicBezTo>
                    <a:pt x="5339711" y="270234"/>
                    <a:pt x="5330992" y="278953"/>
                    <a:pt x="5320236" y="278953"/>
                  </a:cubicBezTo>
                  <a:lnTo>
                    <a:pt x="19475" y="278953"/>
                  </a:lnTo>
                  <a:cubicBezTo>
                    <a:pt x="8719" y="278953"/>
                    <a:pt x="0" y="270234"/>
                    <a:pt x="0" y="259478"/>
                  </a:cubicBezTo>
                  <a:lnTo>
                    <a:pt x="0" y="19475"/>
                  </a:lnTo>
                  <a:cubicBezTo>
                    <a:pt x="0" y="8719"/>
                    <a:pt x="8719" y="0"/>
                    <a:pt x="19475" y="0"/>
                  </a:cubicBezTo>
                  <a:close/>
                </a:path>
              </a:pathLst>
            </a:custGeom>
            <a:solidFill>
              <a:srgbClr val="CC576F"/>
            </a:solidFill>
          </p:spPr>
        </p:sp>
        <p:sp>
          <p:nvSpPr>
            <p:cNvPr name="TextBox 7" id="7"/>
            <p:cNvSpPr txBox="true"/>
            <p:nvPr/>
          </p:nvSpPr>
          <p:spPr>
            <a:xfrm>
              <a:off x="0" y="-47625"/>
              <a:ext cx="5339711" cy="326578"/>
            </a:xfrm>
            <a:prstGeom prst="rect">
              <a:avLst/>
            </a:prstGeom>
          </p:spPr>
          <p:txBody>
            <a:bodyPr anchor="ctr" rtlCol="false" tIns="50800" lIns="50800" bIns="50800" rIns="50800"/>
            <a:lstStyle/>
            <a:p>
              <a:pPr algn="ctr">
                <a:lnSpc>
                  <a:spcPts val="3499"/>
                </a:lnSpc>
              </a:pPr>
            </a:p>
          </p:txBody>
        </p:sp>
      </p:grpSp>
      <p:sp>
        <p:nvSpPr>
          <p:cNvPr name="Freeform 8" id="8"/>
          <p:cNvSpPr/>
          <p:nvPr/>
        </p:nvSpPr>
        <p:spPr>
          <a:xfrm flipH="false" flipV="false" rot="0">
            <a:off x="11086672" y="7616202"/>
            <a:ext cx="8210837" cy="9903421"/>
          </a:xfrm>
          <a:custGeom>
            <a:avLst/>
            <a:gdLst/>
            <a:ahLst/>
            <a:cxnLst/>
            <a:rect r="r" b="b" t="t" l="l"/>
            <a:pathLst>
              <a:path h="9903421" w="8210837">
                <a:moveTo>
                  <a:pt x="0" y="0"/>
                </a:moveTo>
                <a:lnTo>
                  <a:pt x="8210837" y="0"/>
                </a:lnTo>
                <a:lnTo>
                  <a:pt x="8210837" y="9903421"/>
                </a:lnTo>
                <a:lnTo>
                  <a:pt x="0" y="990342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9" id="9"/>
          <p:cNvSpPr/>
          <p:nvPr/>
        </p:nvSpPr>
        <p:spPr>
          <a:xfrm flipH="true" flipV="false" rot="0">
            <a:off x="234982" y="5721531"/>
            <a:ext cx="5517360" cy="7073539"/>
          </a:xfrm>
          <a:custGeom>
            <a:avLst/>
            <a:gdLst/>
            <a:ahLst/>
            <a:cxnLst/>
            <a:rect r="r" b="b" t="t" l="l"/>
            <a:pathLst>
              <a:path h="7073539" w="5517360">
                <a:moveTo>
                  <a:pt x="5517360" y="0"/>
                </a:moveTo>
                <a:lnTo>
                  <a:pt x="0" y="0"/>
                </a:lnTo>
                <a:lnTo>
                  <a:pt x="0" y="7073538"/>
                </a:lnTo>
                <a:lnTo>
                  <a:pt x="5517360" y="7073538"/>
                </a:lnTo>
                <a:lnTo>
                  <a:pt x="551736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grpSp>
        <p:nvGrpSpPr>
          <p:cNvPr name="Group 10" id="10"/>
          <p:cNvGrpSpPr/>
          <p:nvPr/>
        </p:nvGrpSpPr>
        <p:grpSpPr>
          <a:xfrm rot="187008">
            <a:off x="16318741" y="1388323"/>
            <a:ext cx="781777" cy="781777"/>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DE59"/>
            </a:solidFill>
          </p:spPr>
        </p:sp>
        <p:sp>
          <p:nvSpPr>
            <p:cNvPr name="TextBox 12" id="12"/>
            <p:cNvSpPr txBox="true"/>
            <p:nvPr/>
          </p:nvSpPr>
          <p:spPr>
            <a:xfrm>
              <a:off x="190500" y="142875"/>
              <a:ext cx="431800" cy="479425"/>
            </a:xfrm>
            <a:prstGeom prst="rect">
              <a:avLst/>
            </a:prstGeom>
          </p:spPr>
          <p:txBody>
            <a:bodyPr anchor="ctr" rtlCol="false" tIns="50800" lIns="50800" bIns="50800" rIns="50800"/>
            <a:lstStyle/>
            <a:p>
              <a:pPr algn="ctr">
                <a:lnSpc>
                  <a:spcPts val="3499"/>
                </a:lnSpc>
              </a:pPr>
            </a:p>
          </p:txBody>
        </p:sp>
      </p:grpSp>
      <p:grpSp>
        <p:nvGrpSpPr>
          <p:cNvPr name="Group 13" id="13"/>
          <p:cNvGrpSpPr/>
          <p:nvPr/>
        </p:nvGrpSpPr>
        <p:grpSpPr>
          <a:xfrm rot="-321674">
            <a:off x="17156005" y="6239026"/>
            <a:ext cx="781777" cy="781777"/>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DE59"/>
            </a:solidFill>
          </p:spPr>
        </p:sp>
        <p:sp>
          <p:nvSpPr>
            <p:cNvPr name="TextBox 15" id="15"/>
            <p:cNvSpPr txBox="true"/>
            <p:nvPr/>
          </p:nvSpPr>
          <p:spPr>
            <a:xfrm>
              <a:off x="190500" y="142875"/>
              <a:ext cx="431800" cy="479425"/>
            </a:xfrm>
            <a:prstGeom prst="rect">
              <a:avLst/>
            </a:prstGeom>
          </p:spPr>
          <p:txBody>
            <a:bodyPr anchor="ctr" rtlCol="false" tIns="50800" lIns="50800" bIns="50800" rIns="50800"/>
            <a:lstStyle/>
            <a:p>
              <a:pPr algn="ctr">
                <a:lnSpc>
                  <a:spcPts val="3499"/>
                </a:lnSpc>
              </a:pPr>
            </a:p>
          </p:txBody>
        </p:sp>
      </p:grpSp>
      <p:sp>
        <p:nvSpPr>
          <p:cNvPr name="Freeform 16" id="16"/>
          <p:cNvSpPr/>
          <p:nvPr/>
        </p:nvSpPr>
        <p:spPr>
          <a:xfrm flipH="false" flipV="false" rot="0">
            <a:off x="656015" y="505006"/>
            <a:ext cx="2106548" cy="2106548"/>
          </a:xfrm>
          <a:custGeom>
            <a:avLst/>
            <a:gdLst/>
            <a:ahLst/>
            <a:cxnLst/>
            <a:rect r="r" b="b" t="t" l="l"/>
            <a:pathLst>
              <a:path h="2106548" w="2106548">
                <a:moveTo>
                  <a:pt x="0" y="0"/>
                </a:moveTo>
                <a:lnTo>
                  <a:pt x="2106548" y="0"/>
                </a:lnTo>
                <a:lnTo>
                  <a:pt x="2106548" y="2106548"/>
                </a:lnTo>
                <a:lnTo>
                  <a:pt x="0" y="2106548"/>
                </a:lnTo>
                <a:lnTo>
                  <a:pt x="0" y="0"/>
                </a:lnTo>
                <a:close/>
              </a:path>
            </a:pathLst>
          </a:custGeom>
          <a:blipFill>
            <a:blip r:embed="rId8"/>
            <a:stretch>
              <a:fillRect l="0" t="0" r="0" b="0"/>
            </a:stretch>
          </a:blipFill>
        </p:spPr>
      </p:sp>
      <p:sp>
        <p:nvSpPr>
          <p:cNvPr name="TextBox 17" id="17"/>
          <p:cNvSpPr txBox="true"/>
          <p:nvPr/>
        </p:nvSpPr>
        <p:spPr>
          <a:xfrm rot="0">
            <a:off x="4222904" y="901043"/>
            <a:ext cx="8674026" cy="682520"/>
          </a:xfrm>
          <a:prstGeom prst="rect">
            <a:avLst/>
          </a:prstGeom>
        </p:spPr>
        <p:txBody>
          <a:bodyPr anchor="t" rtlCol="false" tIns="0" lIns="0" bIns="0" rIns="0">
            <a:spAutoFit/>
          </a:bodyPr>
          <a:lstStyle/>
          <a:p>
            <a:pPr algn="l">
              <a:lnSpc>
                <a:spcPts val="4379"/>
              </a:lnSpc>
            </a:pPr>
            <a:r>
              <a:rPr lang="en-US" sz="3981" b="true">
                <a:solidFill>
                  <a:srgbClr val="101010"/>
                </a:solidFill>
                <a:latin typeface="Agrandir Grand Ultra-Bold"/>
                <a:ea typeface="Agrandir Grand Ultra-Bold"/>
                <a:cs typeface="Agrandir Grand Ultra-Bold"/>
                <a:sym typeface="Agrandir Grand Ultra-Bold"/>
              </a:rPr>
              <a:t>IMPLEMENTASI</a:t>
            </a:r>
          </a:p>
        </p:txBody>
      </p:sp>
      <p:sp>
        <p:nvSpPr>
          <p:cNvPr name="TextBox 18" id="18"/>
          <p:cNvSpPr txBox="true"/>
          <p:nvPr/>
        </p:nvSpPr>
        <p:spPr>
          <a:xfrm rot="0">
            <a:off x="4245413" y="1549089"/>
            <a:ext cx="14496395" cy="7043451"/>
          </a:xfrm>
          <a:prstGeom prst="rect">
            <a:avLst/>
          </a:prstGeom>
        </p:spPr>
        <p:txBody>
          <a:bodyPr anchor="t" rtlCol="false" tIns="0" lIns="0" bIns="0" rIns="0">
            <a:spAutoFit/>
          </a:bodyPr>
          <a:lstStyle/>
          <a:p>
            <a:pPr algn="l">
              <a:lnSpc>
                <a:spcPts val="5125"/>
              </a:lnSpc>
            </a:pPr>
            <a:r>
              <a:rPr lang="en-US" sz="3660">
                <a:solidFill>
                  <a:srgbClr val="101010"/>
                </a:solidFill>
                <a:latin typeface="Canva Sans"/>
                <a:ea typeface="Canva Sans"/>
                <a:cs typeface="Canva Sans"/>
                <a:sym typeface="Canva Sans"/>
              </a:rPr>
              <a:t>Teknologi yang Digunakan:</a:t>
            </a:r>
          </a:p>
          <a:p>
            <a:pPr algn="l" marL="790368" indent="-395184" lvl="1">
              <a:lnSpc>
                <a:spcPts val="5125"/>
              </a:lnSpc>
              <a:buFont typeface="Arial"/>
              <a:buChar char="•"/>
            </a:pPr>
            <a:r>
              <a:rPr lang="en-US" sz="3660">
                <a:solidFill>
                  <a:srgbClr val="101010"/>
                </a:solidFill>
                <a:latin typeface="Canva Sans"/>
                <a:ea typeface="Canva Sans"/>
                <a:cs typeface="Canva Sans"/>
                <a:sym typeface="Canva Sans"/>
              </a:rPr>
              <a:t>Android Studio (Java)</a:t>
            </a:r>
          </a:p>
          <a:p>
            <a:pPr algn="l" marL="790368" indent="-395184" lvl="1">
              <a:lnSpc>
                <a:spcPts val="5125"/>
              </a:lnSpc>
              <a:buFont typeface="Arial"/>
              <a:buChar char="•"/>
            </a:pPr>
            <a:r>
              <a:rPr lang="en-US" sz="3660">
                <a:solidFill>
                  <a:srgbClr val="101010"/>
                </a:solidFill>
                <a:latin typeface="Canva Sans"/>
                <a:ea typeface="Canva Sans"/>
                <a:cs typeface="Canva Sans"/>
                <a:sym typeface="Canva Sans"/>
              </a:rPr>
              <a:t>Firebase / Supabase untuk autentikasi</a:t>
            </a:r>
          </a:p>
          <a:p>
            <a:pPr algn="l" marL="790368" indent="-395184" lvl="1">
              <a:lnSpc>
                <a:spcPts val="5125"/>
              </a:lnSpc>
              <a:buFont typeface="Arial"/>
              <a:buChar char="•"/>
            </a:pPr>
            <a:r>
              <a:rPr lang="en-US" sz="3660">
                <a:solidFill>
                  <a:srgbClr val="101010"/>
                </a:solidFill>
                <a:latin typeface="Canva Sans"/>
                <a:ea typeface="Canva Sans"/>
                <a:cs typeface="Canva Sans"/>
                <a:sym typeface="Canva Sans"/>
              </a:rPr>
              <a:t>Firebase Storage / Server API untuk penyimpanan musik</a:t>
            </a:r>
          </a:p>
          <a:p>
            <a:pPr algn="l" marL="790368" indent="-395184" lvl="1">
              <a:lnSpc>
                <a:spcPts val="5125"/>
              </a:lnSpc>
              <a:buFont typeface="Arial"/>
              <a:buChar char="•"/>
            </a:pPr>
            <a:r>
              <a:rPr lang="en-US" sz="3660">
                <a:solidFill>
                  <a:srgbClr val="101010"/>
                </a:solidFill>
                <a:latin typeface="Canva Sans"/>
                <a:ea typeface="Canva Sans"/>
                <a:cs typeface="Canva Sans"/>
                <a:sym typeface="Canva Sans"/>
              </a:rPr>
              <a:t>Format dukungan: MP3, JPG, PNG</a:t>
            </a:r>
          </a:p>
          <a:p>
            <a:pPr algn="l">
              <a:lnSpc>
                <a:spcPts val="5125"/>
              </a:lnSpc>
            </a:pPr>
            <a:r>
              <a:rPr lang="en-US" sz="3660">
                <a:solidFill>
                  <a:srgbClr val="101010"/>
                </a:solidFill>
                <a:latin typeface="Canva Sans"/>
                <a:ea typeface="Canva Sans"/>
                <a:cs typeface="Canva Sans"/>
                <a:sym typeface="Canva Sans"/>
              </a:rPr>
              <a:t>Fitur Utama:</a:t>
            </a:r>
          </a:p>
          <a:p>
            <a:pPr algn="l" marL="790368" indent="-395184" lvl="1">
              <a:lnSpc>
                <a:spcPts val="5125"/>
              </a:lnSpc>
              <a:buFont typeface="Arial"/>
              <a:buChar char="•"/>
            </a:pPr>
            <a:r>
              <a:rPr lang="en-US" sz="3660">
                <a:solidFill>
                  <a:srgbClr val="101010"/>
                </a:solidFill>
                <a:latin typeface="Canva Sans"/>
                <a:ea typeface="Canva Sans"/>
                <a:cs typeface="Canva Sans"/>
                <a:sym typeface="Canva Sans"/>
              </a:rPr>
              <a:t>Role-based login</a:t>
            </a:r>
          </a:p>
          <a:p>
            <a:pPr algn="l" marL="790368" indent="-395184" lvl="1">
              <a:lnSpc>
                <a:spcPts val="5125"/>
              </a:lnSpc>
              <a:buFont typeface="Arial"/>
              <a:buChar char="•"/>
            </a:pPr>
            <a:r>
              <a:rPr lang="en-US" sz="3660">
                <a:solidFill>
                  <a:srgbClr val="101010"/>
                </a:solidFill>
                <a:latin typeface="Canva Sans"/>
                <a:ea typeface="Canva Sans"/>
                <a:cs typeface="Canva Sans"/>
                <a:sym typeface="Canva Sans"/>
              </a:rPr>
              <a:t>Upload dan preview musik</a:t>
            </a:r>
          </a:p>
          <a:p>
            <a:pPr algn="l" marL="790368" indent="-395184" lvl="1">
              <a:lnSpc>
                <a:spcPts val="5125"/>
              </a:lnSpc>
              <a:buFont typeface="Arial"/>
              <a:buChar char="•"/>
            </a:pPr>
            <a:r>
              <a:rPr lang="en-US" sz="3660">
                <a:solidFill>
                  <a:srgbClr val="101010"/>
                </a:solidFill>
                <a:latin typeface="Canva Sans"/>
                <a:ea typeface="Canva Sans"/>
                <a:cs typeface="Canva Sans"/>
                <a:sym typeface="Canva Sans"/>
              </a:rPr>
              <a:t>Rekomendasi berbasis data medis</a:t>
            </a:r>
          </a:p>
          <a:p>
            <a:pPr algn="l">
              <a:lnSpc>
                <a:spcPts val="5125"/>
              </a:lnSpc>
            </a:pPr>
          </a:p>
          <a:p>
            <a:pPr algn="l">
              <a:lnSpc>
                <a:spcPts val="5125"/>
              </a:lnSpc>
            </a:pPr>
          </a:p>
        </p:txBody>
      </p:sp>
      <p:grpSp>
        <p:nvGrpSpPr>
          <p:cNvPr name="Group 19" id="19"/>
          <p:cNvGrpSpPr/>
          <p:nvPr/>
        </p:nvGrpSpPr>
        <p:grpSpPr>
          <a:xfrm rot="187008">
            <a:off x="906837" y="3645516"/>
            <a:ext cx="781777" cy="781777"/>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DE59"/>
            </a:solidFill>
          </p:spPr>
        </p:sp>
        <p:sp>
          <p:nvSpPr>
            <p:cNvPr name="TextBox 21" id="21"/>
            <p:cNvSpPr txBox="true"/>
            <p:nvPr/>
          </p:nvSpPr>
          <p:spPr>
            <a:xfrm>
              <a:off x="190500" y="142875"/>
              <a:ext cx="431800" cy="479425"/>
            </a:xfrm>
            <a:prstGeom prst="rect">
              <a:avLst/>
            </a:prstGeom>
          </p:spPr>
          <p:txBody>
            <a:bodyPr anchor="ctr" rtlCol="false" tIns="50800" lIns="50800" bIns="50800" rIns="50800"/>
            <a:lstStyle/>
            <a:p>
              <a:pPr algn="ctr">
                <a:lnSpc>
                  <a:spcPts val="3499"/>
                </a:lnSpc>
              </a:pP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76707" y="-366843"/>
            <a:ext cx="21314151" cy="10676209"/>
            <a:chOff x="0" y="0"/>
            <a:chExt cx="28418868" cy="14234945"/>
          </a:xfrm>
        </p:grpSpPr>
        <p:sp>
          <p:nvSpPr>
            <p:cNvPr name="Freeform 3" id="3"/>
            <p:cNvSpPr/>
            <p:nvPr/>
          </p:nvSpPr>
          <p:spPr>
            <a:xfrm flipH="false" flipV="false" rot="0">
              <a:off x="0" y="0"/>
              <a:ext cx="14234945" cy="14234945"/>
            </a:xfrm>
            <a:custGeom>
              <a:avLst/>
              <a:gdLst/>
              <a:ahLst/>
              <a:cxnLst/>
              <a:rect r="r" b="b" t="t" l="l"/>
              <a:pathLst>
                <a:path h="14234945" w="14234945">
                  <a:moveTo>
                    <a:pt x="0" y="0"/>
                  </a:moveTo>
                  <a:lnTo>
                    <a:pt x="14234945" y="0"/>
                  </a:lnTo>
                  <a:lnTo>
                    <a:pt x="14234945" y="14234945"/>
                  </a:lnTo>
                  <a:lnTo>
                    <a:pt x="0" y="14234945"/>
                  </a:lnTo>
                  <a:lnTo>
                    <a:pt x="0" y="0"/>
                  </a:lnTo>
                  <a:close/>
                </a:path>
              </a:pathLst>
            </a:custGeom>
            <a:blipFill>
              <a:blip r:embed="rId2">
                <a:alphaModFix amt="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183923" y="0"/>
              <a:ext cx="14234945" cy="14234945"/>
            </a:xfrm>
            <a:custGeom>
              <a:avLst/>
              <a:gdLst/>
              <a:ahLst/>
              <a:cxnLst/>
              <a:rect r="r" b="b" t="t" l="l"/>
              <a:pathLst>
                <a:path h="14234945" w="14234945">
                  <a:moveTo>
                    <a:pt x="0" y="0"/>
                  </a:moveTo>
                  <a:lnTo>
                    <a:pt x="14234945" y="0"/>
                  </a:lnTo>
                  <a:lnTo>
                    <a:pt x="14234945" y="14234945"/>
                  </a:lnTo>
                  <a:lnTo>
                    <a:pt x="0" y="14234945"/>
                  </a:lnTo>
                  <a:lnTo>
                    <a:pt x="0" y="0"/>
                  </a:lnTo>
                  <a:close/>
                </a:path>
              </a:pathLst>
            </a:custGeom>
            <a:blipFill>
              <a:blip r:embed="rId2">
                <a:alphaModFix amt="3000"/>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976707" y="9537567"/>
            <a:ext cx="20274216" cy="1059151"/>
            <a:chOff x="0" y="0"/>
            <a:chExt cx="5339711" cy="278953"/>
          </a:xfrm>
        </p:grpSpPr>
        <p:sp>
          <p:nvSpPr>
            <p:cNvPr name="Freeform 6" id="6"/>
            <p:cNvSpPr/>
            <p:nvPr/>
          </p:nvSpPr>
          <p:spPr>
            <a:xfrm flipH="false" flipV="false" rot="0">
              <a:off x="0" y="0"/>
              <a:ext cx="5339711" cy="278953"/>
            </a:xfrm>
            <a:custGeom>
              <a:avLst/>
              <a:gdLst/>
              <a:ahLst/>
              <a:cxnLst/>
              <a:rect r="r" b="b" t="t" l="l"/>
              <a:pathLst>
                <a:path h="278953" w="5339711">
                  <a:moveTo>
                    <a:pt x="19475" y="0"/>
                  </a:moveTo>
                  <a:lnTo>
                    <a:pt x="5320236" y="0"/>
                  </a:lnTo>
                  <a:cubicBezTo>
                    <a:pt x="5330992" y="0"/>
                    <a:pt x="5339711" y="8719"/>
                    <a:pt x="5339711" y="19475"/>
                  </a:cubicBezTo>
                  <a:lnTo>
                    <a:pt x="5339711" y="259478"/>
                  </a:lnTo>
                  <a:cubicBezTo>
                    <a:pt x="5339711" y="270234"/>
                    <a:pt x="5330992" y="278953"/>
                    <a:pt x="5320236" y="278953"/>
                  </a:cubicBezTo>
                  <a:lnTo>
                    <a:pt x="19475" y="278953"/>
                  </a:lnTo>
                  <a:cubicBezTo>
                    <a:pt x="8719" y="278953"/>
                    <a:pt x="0" y="270234"/>
                    <a:pt x="0" y="259478"/>
                  </a:cubicBezTo>
                  <a:lnTo>
                    <a:pt x="0" y="19475"/>
                  </a:lnTo>
                  <a:cubicBezTo>
                    <a:pt x="0" y="8719"/>
                    <a:pt x="8719" y="0"/>
                    <a:pt x="19475" y="0"/>
                  </a:cubicBezTo>
                  <a:close/>
                </a:path>
              </a:pathLst>
            </a:custGeom>
            <a:solidFill>
              <a:srgbClr val="CC576F"/>
            </a:solidFill>
          </p:spPr>
        </p:sp>
        <p:sp>
          <p:nvSpPr>
            <p:cNvPr name="TextBox 7" id="7"/>
            <p:cNvSpPr txBox="true"/>
            <p:nvPr/>
          </p:nvSpPr>
          <p:spPr>
            <a:xfrm>
              <a:off x="0" y="-47625"/>
              <a:ext cx="5339711" cy="326578"/>
            </a:xfrm>
            <a:prstGeom prst="rect">
              <a:avLst/>
            </a:prstGeom>
          </p:spPr>
          <p:txBody>
            <a:bodyPr anchor="ctr" rtlCol="false" tIns="50800" lIns="50800" bIns="50800" rIns="50800"/>
            <a:lstStyle/>
            <a:p>
              <a:pPr algn="ctr">
                <a:lnSpc>
                  <a:spcPts val="3499"/>
                </a:lnSpc>
              </a:pPr>
            </a:p>
          </p:txBody>
        </p:sp>
      </p:grpSp>
      <p:sp>
        <p:nvSpPr>
          <p:cNvPr name="Freeform 8" id="8"/>
          <p:cNvSpPr/>
          <p:nvPr/>
        </p:nvSpPr>
        <p:spPr>
          <a:xfrm flipH="false" flipV="false" rot="0">
            <a:off x="11086672" y="7616202"/>
            <a:ext cx="8210837" cy="9903421"/>
          </a:xfrm>
          <a:custGeom>
            <a:avLst/>
            <a:gdLst/>
            <a:ahLst/>
            <a:cxnLst/>
            <a:rect r="r" b="b" t="t" l="l"/>
            <a:pathLst>
              <a:path h="9903421" w="8210837">
                <a:moveTo>
                  <a:pt x="0" y="0"/>
                </a:moveTo>
                <a:lnTo>
                  <a:pt x="8210837" y="0"/>
                </a:lnTo>
                <a:lnTo>
                  <a:pt x="8210837" y="9903421"/>
                </a:lnTo>
                <a:lnTo>
                  <a:pt x="0" y="990342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9" id="9"/>
          <p:cNvSpPr/>
          <p:nvPr/>
        </p:nvSpPr>
        <p:spPr>
          <a:xfrm flipH="true" flipV="false" rot="0">
            <a:off x="234982" y="5721531"/>
            <a:ext cx="5517360" cy="7073539"/>
          </a:xfrm>
          <a:custGeom>
            <a:avLst/>
            <a:gdLst/>
            <a:ahLst/>
            <a:cxnLst/>
            <a:rect r="r" b="b" t="t" l="l"/>
            <a:pathLst>
              <a:path h="7073539" w="5517360">
                <a:moveTo>
                  <a:pt x="5517360" y="0"/>
                </a:moveTo>
                <a:lnTo>
                  <a:pt x="0" y="0"/>
                </a:lnTo>
                <a:lnTo>
                  <a:pt x="0" y="7073538"/>
                </a:lnTo>
                <a:lnTo>
                  <a:pt x="5517360" y="7073538"/>
                </a:lnTo>
                <a:lnTo>
                  <a:pt x="551736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grpSp>
        <p:nvGrpSpPr>
          <p:cNvPr name="Group 10" id="10"/>
          <p:cNvGrpSpPr/>
          <p:nvPr/>
        </p:nvGrpSpPr>
        <p:grpSpPr>
          <a:xfrm rot="187008">
            <a:off x="16318741" y="1388323"/>
            <a:ext cx="781777" cy="781777"/>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DE59"/>
            </a:solidFill>
          </p:spPr>
        </p:sp>
        <p:sp>
          <p:nvSpPr>
            <p:cNvPr name="TextBox 12" id="12"/>
            <p:cNvSpPr txBox="true"/>
            <p:nvPr/>
          </p:nvSpPr>
          <p:spPr>
            <a:xfrm>
              <a:off x="190500" y="142875"/>
              <a:ext cx="431800" cy="479425"/>
            </a:xfrm>
            <a:prstGeom prst="rect">
              <a:avLst/>
            </a:prstGeom>
          </p:spPr>
          <p:txBody>
            <a:bodyPr anchor="ctr" rtlCol="false" tIns="50800" lIns="50800" bIns="50800" rIns="50800"/>
            <a:lstStyle/>
            <a:p>
              <a:pPr algn="ctr">
                <a:lnSpc>
                  <a:spcPts val="3499"/>
                </a:lnSpc>
              </a:pPr>
            </a:p>
          </p:txBody>
        </p:sp>
      </p:grpSp>
      <p:grpSp>
        <p:nvGrpSpPr>
          <p:cNvPr name="Group 13" id="13"/>
          <p:cNvGrpSpPr/>
          <p:nvPr/>
        </p:nvGrpSpPr>
        <p:grpSpPr>
          <a:xfrm rot="-321674">
            <a:off x="17156005" y="6239026"/>
            <a:ext cx="781777" cy="781777"/>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DE59"/>
            </a:solidFill>
          </p:spPr>
        </p:sp>
        <p:sp>
          <p:nvSpPr>
            <p:cNvPr name="TextBox 15" id="15"/>
            <p:cNvSpPr txBox="true"/>
            <p:nvPr/>
          </p:nvSpPr>
          <p:spPr>
            <a:xfrm>
              <a:off x="190500" y="142875"/>
              <a:ext cx="431800" cy="479425"/>
            </a:xfrm>
            <a:prstGeom prst="rect">
              <a:avLst/>
            </a:prstGeom>
          </p:spPr>
          <p:txBody>
            <a:bodyPr anchor="ctr" rtlCol="false" tIns="50800" lIns="50800" bIns="50800" rIns="50800"/>
            <a:lstStyle/>
            <a:p>
              <a:pPr algn="ctr">
                <a:lnSpc>
                  <a:spcPts val="3499"/>
                </a:lnSpc>
              </a:pPr>
            </a:p>
          </p:txBody>
        </p:sp>
      </p:grpSp>
      <p:sp>
        <p:nvSpPr>
          <p:cNvPr name="Freeform 16" id="16"/>
          <p:cNvSpPr/>
          <p:nvPr/>
        </p:nvSpPr>
        <p:spPr>
          <a:xfrm flipH="false" flipV="false" rot="0">
            <a:off x="656015" y="505006"/>
            <a:ext cx="2106548" cy="2106548"/>
          </a:xfrm>
          <a:custGeom>
            <a:avLst/>
            <a:gdLst/>
            <a:ahLst/>
            <a:cxnLst/>
            <a:rect r="r" b="b" t="t" l="l"/>
            <a:pathLst>
              <a:path h="2106548" w="2106548">
                <a:moveTo>
                  <a:pt x="0" y="0"/>
                </a:moveTo>
                <a:lnTo>
                  <a:pt x="2106548" y="0"/>
                </a:lnTo>
                <a:lnTo>
                  <a:pt x="2106548" y="2106548"/>
                </a:lnTo>
                <a:lnTo>
                  <a:pt x="0" y="2106548"/>
                </a:lnTo>
                <a:lnTo>
                  <a:pt x="0" y="0"/>
                </a:lnTo>
                <a:close/>
              </a:path>
            </a:pathLst>
          </a:custGeom>
          <a:blipFill>
            <a:blip r:embed="rId8"/>
            <a:stretch>
              <a:fillRect l="0" t="0" r="0" b="0"/>
            </a:stretch>
          </a:blipFill>
        </p:spPr>
      </p:sp>
      <p:sp>
        <p:nvSpPr>
          <p:cNvPr name="TextBox 17" id="17"/>
          <p:cNvSpPr txBox="true"/>
          <p:nvPr/>
        </p:nvSpPr>
        <p:spPr>
          <a:xfrm rot="0">
            <a:off x="4222904" y="901043"/>
            <a:ext cx="8674026" cy="682520"/>
          </a:xfrm>
          <a:prstGeom prst="rect">
            <a:avLst/>
          </a:prstGeom>
        </p:spPr>
        <p:txBody>
          <a:bodyPr anchor="t" rtlCol="false" tIns="0" lIns="0" bIns="0" rIns="0">
            <a:spAutoFit/>
          </a:bodyPr>
          <a:lstStyle/>
          <a:p>
            <a:pPr algn="l">
              <a:lnSpc>
                <a:spcPts val="4379"/>
              </a:lnSpc>
            </a:pPr>
            <a:r>
              <a:rPr lang="en-US" sz="3981" b="true">
                <a:solidFill>
                  <a:srgbClr val="101010"/>
                </a:solidFill>
                <a:latin typeface="Agrandir Grand Ultra-Bold"/>
                <a:ea typeface="Agrandir Grand Ultra-Bold"/>
                <a:cs typeface="Agrandir Grand Ultra-Bold"/>
                <a:sym typeface="Agrandir Grand Ultra-Bold"/>
              </a:rPr>
              <a:t>OUTPUT</a:t>
            </a:r>
          </a:p>
        </p:txBody>
      </p:sp>
      <p:sp>
        <p:nvSpPr>
          <p:cNvPr name="TextBox 18" id="18"/>
          <p:cNvSpPr txBox="true"/>
          <p:nvPr/>
        </p:nvSpPr>
        <p:spPr>
          <a:xfrm rot="0">
            <a:off x="3050500" y="1972338"/>
            <a:ext cx="14496395" cy="3187218"/>
          </a:xfrm>
          <a:prstGeom prst="rect">
            <a:avLst/>
          </a:prstGeom>
        </p:spPr>
        <p:txBody>
          <a:bodyPr anchor="t" rtlCol="false" tIns="0" lIns="0" bIns="0" rIns="0">
            <a:spAutoFit/>
          </a:bodyPr>
          <a:lstStyle/>
          <a:p>
            <a:pPr algn="l">
              <a:lnSpc>
                <a:spcPts val="5125"/>
              </a:lnSpc>
            </a:pPr>
            <a:r>
              <a:rPr lang="en-US" sz="3660">
                <a:solidFill>
                  <a:srgbClr val="101010"/>
                </a:solidFill>
                <a:latin typeface="Canva Sans"/>
                <a:ea typeface="Canva Sans"/>
                <a:cs typeface="Canva Sans"/>
                <a:sym typeface="Canva Sans"/>
              </a:rPr>
              <a:t>Hasil Aplikasi:</a:t>
            </a:r>
          </a:p>
          <a:p>
            <a:pPr algn="l">
              <a:lnSpc>
                <a:spcPts val="5125"/>
              </a:lnSpc>
            </a:pPr>
            <a:r>
              <a:rPr lang="en-US" sz="3660">
                <a:solidFill>
                  <a:srgbClr val="101010"/>
                </a:solidFill>
                <a:latin typeface="Canva Sans"/>
                <a:ea typeface="Canva Sans"/>
                <a:cs typeface="Canva Sans"/>
                <a:sym typeface="Canva Sans"/>
              </a:rPr>
              <a:t> ✅ Listener dapat mendengarkan musik terapeutik secara online</a:t>
            </a:r>
          </a:p>
          <a:p>
            <a:pPr algn="l">
              <a:lnSpc>
                <a:spcPts val="5125"/>
              </a:lnSpc>
            </a:pPr>
            <a:r>
              <a:rPr lang="en-US" sz="3660">
                <a:solidFill>
                  <a:srgbClr val="101010"/>
                </a:solidFill>
                <a:latin typeface="Canva Sans"/>
                <a:ea typeface="Canva Sans"/>
                <a:cs typeface="Canva Sans"/>
                <a:sym typeface="Canva Sans"/>
              </a:rPr>
              <a:t> ✅ Admin dapat mengelola konten dengan efisien</a:t>
            </a:r>
          </a:p>
          <a:p>
            <a:pPr algn="l">
              <a:lnSpc>
                <a:spcPts val="5125"/>
              </a:lnSpc>
            </a:pPr>
            <a:r>
              <a:rPr lang="en-US" sz="3660">
                <a:solidFill>
                  <a:srgbClr val="101010"/>
                </a:solidFill>
                <a:latin typeface="Canva Sans"/>
                <a:ea typeface="Canva Sans"/>
                <a:cs typeface="Canva Sans"/>
                <a:sym typeface="Canva Sans"/>
              </a:rPr>
              <a:t> ✅ Tersedia f</a:t>
            </a:r>
            <a:r>
              <a:rPr lang="en-US" sz="3660">
                <a:solidFill>
                  <a:srgbClr val="101010"/>
                </a:solidFill>
                <a:latin typeface="Canva Sans"/>
                <a:ea typeface="Canva Sans"/>
                <a:cs typeface="Canva Sans"/>
                <a:sym typeface="Canva Sans"/>
              </a:rPr>
              <a:t>itur rekomendasi dokter &amp; jurnal ilmiah</a:t>
            </a:r>
          </a:p>
          <a:p>
            <a:pPr algn="l">
              <a:lnSpc>
                <a:spcPts val="5125"/>
              </a:lnSpc>
            </a:pPr>
            <a:r>
              <a:rPr lang="en-US" sz="3660">
                <a:solidFill>
                  <a:srgbClr val="101010"/>
                </a:solidFill>
                <a:latin typeface="Canva Sans"/>
                <a:ea typeface="Canva Sans"/>
                <a:cs typeface="Canva Sans"/>
                <a:sym typeface="Canva Sans"/>
              </a:rPr>
              <a:t> ✅ UI ramah pengguna dan dapat digunakan berbagai kalangan</a:t>
            </a:r>
          </a:p>
        </p:txBody>
      </p:sp>
      <p:grpSp>
        <p:nvGrpSpPr>
          <p:cNvPr name="Group 19" id="19"/>
          <p:cNvGrpSpPr/>
          <p:nvPr/>
        </p:nvGrpSpPr>
        <p:grpSpPr>
          <a:xfrm rot="187008">
            <a:off x="906837" y="3645516"/>
            <a:ext cx="781777" cy="781777"/>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DE59"/>
            </a:solidFill>
          </p:spPr>
        </p:sp>
        <p:sp>
          <p:nvSpPr>
            <p:cNvPr name="TextBox 21" id="21"/>
            <p:cNvSpPr txBox="true"/>
            <p:nvPr/>
          </p:nvSpPr>
          <p:spPr>
            <a:xfrm>
              <a:off x="190500" y="142875"/>
              <a:ext cx="431800" cy="479425"/>
            </a:xfrm>
            <a:prstGeom prst="rect">
              <a:avLst/>
            </a:prstGeom>
          </p:spPr>
          <p:txBody>
            <a:bodyPr anchor="ctr" rtlCol="false" tIns="50800" lIns="50800" bIns="50800" rIns="50800"/>
            <a:lstStyle/>
            <a:p>
              <a:pPr algn="ctr">
                <a:lnSpc>
                  <a:spcPts val="3499"/>
                </a:lnSpc>
              </a:pP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76707" y="-366843"/>
            <a:ext cx="21314151" cy="10676209"/>
            <a:chOff x="0" y="0"/>
            <a:chExt cx="28418868" cy="14234945"/>
          </a:xfrm>
        </p:grpSpPr>
        <p:sp>
          <p:nvSpPr>
            <p:cNvPr name="Freeform 3" id="3"/>
            <p:cNvSpPr/>
            <p:nvPr/>
          </p:nvSpPr>
          <p:spPr>
            <a:xfrm flipH="false" flipV="false" rot="0">
              <a:off x="0" y="0"/>
              <a:ext cx="14234945" cy="14234945"/>
            </a:xfrm>
            <a:custGeom>
              <a:avLst/>
              <a:gdLst/>
              <a:ahLst/>
              <a:cxnLst/>
              <a:rect r="r" b="b" t="t" l="l"/>
              <a:pathLst>
                <a:path h="14234945" w="14234945">
                  <a:moveTo>
                    <a:pt x="0" y="0"/>
                  </a:moveTo>
                  <a:lnTo>
                    <a:pt x="14234945" y="0"/>
                  </a:lnTo>
                  <a:lnTo>
                    <a:pt x="14234945" y="14234945"/>
                  </a:lnTo>
                  <a:lnTo>
                    <a:pt x="0" y="14234945"/>
                  </a:lnTo>
                  <a:lnTo>
                    <a:pt x="0" y="0"/>
                  </a:lnTo>
                  <a:close/>
                </a:path>
              </a:pathLst>
            </a:custGeom>
            <a:blipFill>
              <a:blip r:embed="rId2">
                <a:alphaModFix amt="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183923" y="0"/>
              <a:ext cx="14234945" cy="14234945"/>
            </a:xfrm>
            <a:custGeom>
              <a:avLst/>
              <a:gdLst/>
              <a:ahLst/>
              <a:cxnLst/>
              <a:rect r="r" b="b" t="t" l="l"/>
              <a:pathLst>
                <a:path h="14234945" w="14234945">
                  <a:moveTo>
                    <a:pt x="0" y="0"/>
                  </a:moveTo>
                  <a:lnTo>
                    <a:pt x="14234945" y="0"/>
                  </a:lnTo>
                  <a:lnTo>
                    <a:pt x="14234945" y="14234945"/>
                  </a:lnTo>
                  <a:lnTo>
                    <a:pt x="0" y="14234945"/>
                  </a:lnTo>
                  <a:lnTo>
                    <a:pt x="0" y="0"/>
                  </a:lnTo>
                  <a:close/>
                </a:path>
              </a:pathLst>
            </a:custGeom>
            <a:blipFill>
              <a:blip r:embed="rId2">
                <a:alphaModFix amt="3000"/>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976707" y="9537567"/>
            <a:ext cx="20274216" cy="1059151"/>
            <a:chOff x="0" y="0"/>
            <a:chExt cx="5339711" cy="278953"/>
          </a:xfrm>
        </p:grpSpPr>
        <p:sp>
          <p:nvSpPr>
            <p:cNvPr name="Freeform 6" id="6"/>
            <p:cNvSpPr/>
            <p:nvPr/>
          </p:nvSpPr>
          <p:spPr>
            <a:xfrm flipH="false" flipV="false" rot="0">
              <a:off x="0" y="0"/>
              <a:ext cx="5339711" cy="278953"/>
            </a:xfrm>
            <a:custGeom>
              <a:avLst/>
              <a:gdLst/>
              <a:ahLst/>
              <a:cxnLst/>
              <a:rect r="r" b="b" t="t" l="l"/>
              <a:pathLst>
                <a:path h="278953" w="5339711">
                  <a:moveTo>
                    <a:pt x="19475" y="0"/>
                  </a:moveTo>
                  <a:lnTo>
                    <a:pt x="5320236" y="0"/>
                  </a:lnTo>
                  <a:cubicBezTo>
                    <a:pt x="5330992" y="0"/>
                    <a:pt x="5339711" y="8719"/>
                    <a:pt x="5339711" y="19475"/>
                  </a:cubicBezTo>
                  <a:lnTo>
                    <a:pt x="5339711" y="259478"/>
                  </a:lnTo>
                  <a:cubicBezTo>
                    <a:pt x="5339711" y="270234"/>
                    <a:pt x="5330992" y="278953"/>
                    <a:pt x="5320236" y="278953"/>
                  </a:cubicBezTo>
                  <a:lnTo>
                    <a:pt x="19475" y="278953"/>
                  </a:lnTo>
                  <a:cubicBezTo>
                    <a:pt x="8719" y="278953"/>
                    <a:pt x="0" y="270234"/>
                    <a:pt x="0" y="259478"/>
                  </a:cubicBezTo>
                  <a:lnTo>
                    <a:pt x="0" y="19475"/>
                  </a:lnTo>
                  <a:cubicBezTo>
                    <a:pt x="0" y="8719"/>
                    <a:pt x="8719" y="0"/>
                    <a:pt x="19475" y="0"/>
                  </a:cubicBezTo>
                  <a:close/>
                </a:path>
              </a:pathLst>
            </a:custGeom>
            <a:solidFill>
              <a:srgbClr val="CC576F"/>
            </a:solidFill>
          </p:spPr>
        </p:sp>
        <p:sp>
          <p:nvSpPr>
            <p:cNvPr name="TextBox 7" id="7"/>
            <p:cNvSpPr txBox="true"/>
            <p:nvPr/>
          </p:nvSpPr>
          <p:spPr>
            <a:xfrm>
              <a:off x="0" y="-47625"/>
              <a:ext cx="5339711" cy="326578"/>
            </a:xfrm>
            <a:prstGeom prst="rect">
              <a:avLst/>
            </a:prstGeom>
          </p:spPr>
          <p:txBody>
            <a:bodyPr anchor="ctr" rtlCol="false" tIns="50800" lIns="50800" bIns="50800" rIns="50800"/>
            <a:lstStyle/>
            <a:p>
              <a:pPr algn="ctr">
                <a:lnSpc>
                  <a:spcPts val="3499"/>
                </a:lnSpc>
              </a:pPr>
            </a:p>
          </p:txBody>
        </p:sp>
      </p:grpSp>
      <p:sp>
        <p:nvSpPr>
          <p:cNvPr name="Freeform 8" id="8"/>
          <p:cNvSpPr/>
          <p:nvPr/>
        </p:nvSpPr>
        <p:spPr>
          <a:xfrm flipH="true" flipV="false" rot="0">
            <a:off x="227723" y="5618817"/>
            <a:ext cx="4299869" cy="4547939"/>
          </a:xfrm>
          <a:custGeom>
            <a:avLst/>
            <a:gdLst/>
            <a:ahLst/>
            <a:cxnLst/>
            <a:rect r="r" b="b" t="t" l="l"/>
            <a:pathLst>
              <a:path h="4547939" w="4299869">
                <a:moveTo>
                  <a:pt x="4299869" y="0"/>
                </a:moveTo>
                <a:lnTo>
                  <a:pt x="0" y="0"/>
                </a:lnTo>
                <a:lnTo>
                  <a:pt x="0" y="4547938"/>
                </a:lnTo>
                <a:lnTo>
                  <a:pt x="4299869" y="4547938"/>
                </a:lnTo>
                <a:lnTo>
                  <a:pt x="4299869"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9" id="9"/>
          <p:cNvSpPr txBox="true"/>
          <p:nvPr/>
        </p:nvSpPr>
        <p:spPr>
          <a:xfrm rot="0">
            <a:off x="387776" y="516918"/>
            <a:ext cx="8115300" cy="682520"/>
          </a:xfrm>
          <a:prstGeom prst="rect">
            <a:avLst/>
          </a:prstGeom>
        </p:spPr>
        <p:txBody>
          <a:bodyPr anchor="t" rtlCol="false" tIns="0" lIns="0" bIns="0" rIns="0">
            <a:spAutoFit/>
          </a:bodyPr>
          <a:lstStyle/>
          <a:p>
            <a:pPr algn="l">
              <a:lnSpc>
                <a:spcPts val="4379"/>
              </a:lnSpc>
            </a:pPr>
            <a:r>
              <a:rPr lang="en-US" sz="3981" b="true">
                <a:solidFill>
                  <a:srgbClr val="101010"/>
                </a:solidFill>
                <a:latin typeface="Agrandir Grand Ultra-Bold"/>
                <a:ea typeface="Agrandir Grand Ultra-Bold"/>
                <a:cs typeface="Agrandir Grand Ultra-Bold"/>
                <a:sym typeface="Agrandir Grand Ultra-Bold"/>
              </a:rPr>
              <a:t>PERAN PENGGUNA</a:t>
            </a:r>
          </a:p>
        </p:txBody>
      </p:sp>
      <p:grpSp>
        <p:nvGrpSpPr>
          <p:cNvPr name="Group 10" id="10"/>
          <p:cNvGrpSpPr/>
          <p:nvPr/>
        </p:nvGrpSpPr>
        <p:grpSpPr>
          <a:xfrm rot="187008">
            <a:off x="7825090" y="613793"/>
            <a:ext cx="781777" cy="781777"/>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DE59"/>
            </a:solidFill>
          </p:spPr>
        </p:sp>
        <p:sp>
          <p:nvSpPr>
            <p:cNvPr name="TextBox 12" id="12"/>
            <p:cNvSpPr txBox="true"/>
            <p:nvPr/>
          </p:nvSpPr>
          <p:spPr>
            <a:xfrm>
              <a:off x="190500" y="142875"/>
              <a:ext cx="431800" cy="479425"/>
            </a:xfrm>
            <a:prstGeom prst="rect">
              <a:avLst/>
            </a:prstGeom>
          </p:spPr>
          <p:txBody>
            <a:bodyPr anchor="ctr" rtlCol="false" tIns="50800" lIns="50800" bIns="50800" rIns="50800"/>
            <a:lstStyle/>
            <a:p>
              <a:pPr algn="ctr">
                <a:lnSpc>
                  <a:spcPts val="3499"/>
                </a:lnSpc>
              </a:pPr>
            </a:p>
          </p:txBody>
        </p:sp>
      </p:grpSp>
      <p:grpSp>
        <p:nvGrpSpPr>
          <p:cNvPr name="Group 13" id="13"/>
          <p:cNvGrpSpPr/>
          <p:nvPr/>
        </p:nvGrpSpPr>
        <p:grpSpPr>
          <a:xfrm rot="-321674">
            <a:off x="9178813" y="4580373"/>
            <a:ext cx="781777" cy="781777"/>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DE59"/>
            </a:solidFill>
          </p:spPr>
        </p:sp>
        <p:sp>
          <p:nvSpPr>
            <p:cNvPr name="TextBox 15" id="15"/>
            <p:cNvSpPr txBox="true"/>
            <p:nvPr/>
          </p:nvSpPr>
          <p:spPr>
            <a:xfrm>
              <a:off x="190500" y="142875"/>
              <a:ext cx="431800" cy="479425"/>
            </a:xfrm>
            <a:prstGeom prst="rect">
              <a:avLst/>
            </a:prstGeom>
          </p:spPr>
          <p:txBody>
            <a:bodyPr anchor="ctr" rtlCol="false" tIns="50800" lIns="50800" bIns="50800" rIns="50800"/>
            <a:lstStyle/>
            <a:p>
              <a:pPr algn="ctr">
                <a:lnSpc>
                  <a:spcPts val="3499"/>
                </a:lnSpc>
              </a:pPr>
            </a:p>
          </p:txBody>
        </p:sp>
      </p:grpSp>
      <p:sp>
        <p:nvSpPr>
          <p:cNvPr name="Freeform 16" id="16"/>
          <p:cNvSpPr/>
          <p:nvPr/>
        </p:nvSpPr>
        <p:spPr>
          <a:xfrm flipH="false" flipV="false" rot="0">
            <a:off x="10637383" y="371264"/>
            <a:ext cx="2636588" cy="5025698"/>
          </a:xfrm>
          <a:custGeom>
            <a:avLst/>
            <a:gdLst/>
            <a:ahLst/>
            <a:cxnLst/>
            <a:rect r="r" b="b" t="t" l="l"/>
            <a:pathLst>
              <a:path h="5025698" w="2636588">
                <a:moveTo>
                  <a:pt x="0" y="0"/>
                </a:moveTo>
                <a:lnTo>
                  <a:pt x="2636588" y="0"/>
                </a:lnTo>
                <a:lnTo>
                  <a:pt x="2636588" y="5025698"/>
                </a:lnTo>
                <a:lnTo>
                  <a:pt x="0" y="5025698"/>
                </a:lnTo>
                <a:lnTo>
                  <a:pt x="0" y="0"/>
                </a:lnTo>
                <a:close/>
              </a:path>
            </a:pathLst>
          </a:custGeom>
          <a:blipFill>
            <a:blip r:embed="rId6"/>
            <a:stretch>
              <a:fillRect l="0" t="0" r="0" b="0"/>
            </a:stretch>
          </a:blipFill>
        </p:spPr>
      </p:sp>
      <p:sp>
        <p:nvSpPr>
          <p:cNvPr name="Freeform 17" id="17"/>
          <p:cNvSpPr/>
          <p:nvPr/>
        </p:nvSpPr>
        <p:spPr>
          <a:xfrm flipH="false" flipV="false" rot="0">
            <a:off x="13379583" y="2351548"/>
            <a:ext cx="2197436" cy="4550382"/>
          </a:xfrm>
          <a:custGeom>
            <a:avLst/>
            <a:gdLst/>
            <a:ahLst/>
            <a:cxnLst/>
            <a:rect r="r" b="b" t="t" l="l"/>
            <a:pathLst>
              <a:path h="4550382" w="2197436">
                <a:moveTo>
                  <a:pt x="0" y="0"/>
                </a:moveTo>
                <a:lnTo>
                  <a:pt x="2197436" y="0"/>
                </a:lnTo>
                <a:lnTo>
                  <a:pt x="2197436" y="4550382"/>
                </a:lnTo>
                <a:lnTo>
                  <a:pt x="0" y="4550382"/>
                </a:lnTo>
                <a:lnTo>
                  <a:pt x="0" y="0"/>
                </a:lnTo>
                <a:close/>
              </a:path>
            </a:pathLst>
          </a:custGeom>
          <a:blipFill>
            <a:blip r:embed="rId7"/>
            <a:stretch>
              <a:fillRect l="0" t="0" r="0" b="0"/>
            </a:stretch>
          </a:blipFill>
        </p:spPr>
      </p:sp>
      <p:sp>
        <p:nvSpPr>
          <p:cNvPr name="Freeform 18" id="18"/>
          <p:cNvSpPr/>
          <p:nvPr/>
        </p:nvSpPr>
        <p:spPr>
          <a:xfrm flipH="false" flipV="false" rot="0">
            <a:off x="15688930" y="4545560"/>
            <a:ext cx="2407437" cy="4712740"/>
          </a:xfrm>
          <a:custGeom>
            <a:avLst/>
            <a:gdLst/>
            <a:ahLst/>
            <a:cxnLst/>
            <a:rect r="r" b="b" t="t" l="l"/>
            <a:pathLst>
              <a:path h="4712740" w="2407437">
                <a:moveTo>
                  <a:pt x="0" y="0"/>
                </a:moveTo>
                <a:lnTo>
                  <a:pt x="2407437" y="0"/>
                </a:lnTo>
                <a:lnTo>
                  <a:pt x="2407437" y="4712740"/>
                </a:lnTo>
                <a:lnTo>
                  <a:pt x="0" y="4712740"/>
                </a:lnTo>
                <a:lnTo>
                  <a:pt x="0" y="0"/>
                </a:lnTo>
                <a:close/>
              </a:path>
            </a:pathLst>
          </a:custGeom>
          <a:blipFill>
            <a:blip r:embed="rId8"/>
            <a:stretch>
              <a:fillRect l="0" t="0" r="0" b="0"/>
            </a:stretch>
          </a:blipFill>
        </p:spPr>
      </p:sp>
      <p:sp>
        <p:nvSpPr>
          <p:cNvPr name="TextBox 19" id="19"/>
          <p:cNvSpPr txBox="true"/>
          <p:nvPr/>
        </p:nvSpPr>
        <p:spPr>
          <a:xfrm rot="0">
            <a:off x="447681" y="1735685"/>
            <a:ext cx="10084089" cy="2590800"/>
          </a:xfrm>
          <a:prstGeom prst="rect">
            <a:avLst/>
          </a:prstGeom>
        </p:spPr>
        <p:txBody>
          <a:bodyPr anchor="t" rtlCol="false" tIns="0" lIns="0" bIns="0" rIns="0">
            <a:spAutoFit/>
          </a:bodyPr>
          <a:lstStyle/>
          <a:p>
            <a:pPr algn="l">
              <a:lnSpc>
                <a:spcPts val="4199"/>
              </a:lnSpc>
              <a:spcBef>
                <a:spcPct val="0"/>
              </a:spcBef>
            </a:pPr>
            <a:r>
              <a:rPr lang="en-US" sz="2999">
                <a:solidFill>
                  <a:srgbClr val="101010"/>
                </a:solidFill>
                <a:latin typeface="Canva Sans"/>
                <a:ea typeface="Canva Sans"/>
                <a:cs typeface="Canva Sans"/>
                <a:sym typeface="Canva Sans"/>
              </a:rPr>
              <a:t>Admin</a:t>
            </a:r>
            <a:r>
              <a:rPr lang="en-US" sz="2999">
                <a:solidFill>
                  <a:srgbClr val="101010"/>
                </a:solidFill>
                <a:latin typeface="Canva Sans"/>
                <a:ea typeface="Canva Sans"/>
                <a:cs typeface="Canva Sans"/>
                <a:sym typeface="Canva Sans"/>
              </a:rPr>
              <a:t>istrator:</a:t>
            </a:r>
          </a:p>
          <a:p>
            <a:pPr algn="l" marL="647698" indent="-323849" lvl="1">
              <a:lnSpc>
                <a:spcPts val="4199"/>
              </a:lnSpc>
              <a:spcBef>
                <a:spcPct val="0"/>
              </a:spcBef>
              <a:buFont typeface="Arial"/>
              <a:buChar char="•"/>
            </a:pPr>
            <a:r>
              <a:rPr lang="en-US" sz="2999">
                <a:solidFill>
                  <a:srgbClr val="101010"/>
                </a:solidFill>
                <a:latin typeface="Canva Sans"/>
                <a:ea typeface="Canva Sans"/>
                <a:cs typeface="Canva Sans"/>
                <a:sym typeface="Canva Sans"/>
              </a:rPr>
              <a:t>Mengelola musik: upload, edit, hapus, dengar musik</a:t>
            </a:r>
          </a:p>
          <a:p>
            <a:pPr algn="l" marL="647698" indent="-323849" lvl="1">
              <a:lnSpc>
                <a:spcPts val="4199"/>
              </a:lnSpc>
              <a:spcBef>
                <a:spcPct val="0"/>
              </a:spcBef>
              <a:buFont typeface="Arial"/>
              <a:buChar char="•"/>
            </a:pPr>
            <a:r>
              <a:rPr lang="en-US" sz="2999">
                <a:solidFill>
                  <a:srgbClr val="101010"/>
                </a:solidFill>
                <a:latin typeface="Canva Sans"/>
                <a:ea typeface="Canva Sans"/>
                <a:cs typeface="Canva Sans"/>
                <a:sym typeface="Canva Sans"/>
              </a:rPr>
              <a:t>Melihat statistik pengguna &amp; total musik</a:t>
            </a:r>
          </a:p>
          <a:p>
            <a:pPr algn="l" marL="647698" indent="-323849" lvl="1">
              <a:lnSpc>
                <a:spcPts val="4199"/>
              </a:lnSpc>
              <a:spcBef>
                <a:spcPct val="0"/>
              </a:spcBef>
              <a:buFont typeface="Arial"/>
              <a:buChar char="•"/>
            </a:pPr>
            <a:r>
              <a:rPr lang="en-US" sz="2999">
                <a:solidFill>
                  <a:srgbClr val="101010"/>
                </a:solidFill>
                <a:latin typeface="Canva Sans"/>
                <a:ea typeface="Canva Sans"/>
                <a:cs typeface="Canva Sans"/>
                <a:sym typeface="Canva Sans"/>
              </a:rPr>
              <a:t>Menjamin kualitas konten berdasarkan rekomendasi dokter, jurnal maupun buku</a:t>
            </a:r>
          </a:p>
        </p:txBody>
      </p:sp>
      <p:sp>
        <p:nvSpPr>
          <p:cNvPr name="Freeform 20" id="20"/>
          <p:cNvSpPr/>
          <p:nvPr/>
        </p:nvSpPr>
        <p:spPr>
          <a:xfrm flipH="false" flipV="false" rot="0">
            <a:off x="6676540" y="6901930"/>
            <a:ext cx="8210837" cy="9903421"/>
          </a:xfrm>
          <a:custGeom>
            <a:avLst/>
            <a:gdLst/>
            <a:ahLst/>
            <a:cxnLst/>
            <a:rect r="r" b="b" t="t" l="l"/>
            <a:pathLst>
              <a:path h="9903421" w="8210837">
                <a:moveTo>
                  <a:pt x="0" y="0"/>
                </a:moveTo>
                <a:lnTo>
                  <a:pt x="8210837" y="0"/>
                </a:lnTo>
                <a:lnTo>
                  <a:pt x="8210837" y="9903421"/>
                </a:lnTo>
                <a:lnTo>
                  <a:pt x="0" y="990342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76707" y="-366843"/>
            <a:ext cx="21314151" cy="10676209"/>
            <a:chOff x="0" y="0"/>
            <a:chExt cx="28418868" cy="14234945"/>
          </a:xfrm>
        </p:grpSpPr>
        <p:sp>
          <p:nvSpPr>
            <p:cNvPr name="Freeform 3" id="3"/>
            <p:cNvSpPr/>
            <p:nvPr/>
          </p:nvSpPr>
          <p:spPr>
            <a:xfrm flipH="false" flipV="false" rot="0">
              <a:off x="0" y="0"/>
              <a:ext cx="14234945" cy="14234945"/>
            </a:xfrm>
            <a:custGeom>
              <a:avLst/>
              <a:gdLst/>
              <a:ahLst/>
              <a:cxnLst/>
              <a:rect r="r" b="b" t="t" l="l"/>
              <a:pathLst>
                <a:path h="14234945" w="14234945">
                  <a:moveTo>
                    <a:pt x="0" y="0"/>
                  </a:moveTo>
                  <a:lnTo>
                    <a:pt x="14234945" y="0"/>
                  </a:lnTo>
                  <a:lnTo>
                    <a:pt x="14234945" y="14234945"/>
                  </a:lnTo>
                  <a:lnTo>
                    <a:pt x="0" y="14234945"/>
                  </a:lnTo>
                  <a:lnTo>
                    <a:pt x="0" y="0"/>
                  </a:lnTo>
                  <a:close/>
                </a:path>
              </a:pathLst>
            </a:custGeom>
            <a:blipFill>
              <a:blip r:embed="rId2">
                <a:alphaModFix amt="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183923" y="0"/>
              <a:ext cx="14234945" cy="14234945"/>
            </a:xfrm>
            <a:custGeom>
              <a:avLst/>
              <a:gdLst/>
              <a:ahLst/>
              <a:cxnLst/>
              <a:rect r="r" b="b" t="t" l="l"/>
              <a:pathLst>
                <a:path h="14234945" w="14234945">
                  <a:moveTo>
                    <a:pt x="0" y="0"/>
                  </a:moveTo>
                  <a:lnTo>
                    <a:pt x="14234945" y="0"/>
                  </a:lnTo>
                  <a:lnTo>
                    <a:pt x="14234945" y="14234945"/>
                  </a:lnTo>
                  <a:lnTo>
                    <a:pt x="0" y="14234945"/>
                  </a:lnTo>
                  <a:lnTo>
                    <a:pt x="0" y="0"/>
                  </a:lnTo>
                  <a:close/>
                </a:path>
              </a:pathLst>
            </a:custGeom>
            <a:blipFill>
              <a:blip r:embed="rId2">
                <a:alphaModFix amt="3000"/>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976707" y="9537567"/>
            <a:ext cx="20274216" cy="1059151"/>
            <a:chOff x="0" y="0"/>
            <a:chExt cx="5339711" cy="278953"/>
          </a:xfrm>
        </p:grpSpPr>
        <p:sp>
          <p:nvSpPr>
            <p:cNvPr name="Freeform 6" id="6"/>
            <p:cNvSpPr/>
            <p:nvPr/>
          </p:nvSpPr>
          <p:spPr>
            <a:xfrm flipH="false" flipV="false" rot="0">
              <a:off x="0" y="0"/>
              <a:ext cx="5339711" cy="278953"/>
            </a:xfrm>
            <a:custGeom>
              <a:avLst/>
              <a:gdLst/>
              <a:ahLst/>
              <a:cxnLst/>
              <a:rect r="r" b="b" t="t" l="l"/>
              <a:pathLst>
                <a:path h="278953" w="5339711">
                  <a:moveTo>
                    <a:pt x="19475" y="0"/>
                  </a:moveTo>
                  <a:lnTo>
                    <a:pt x="5320236" y="0"/>
                  </a:lnTo>
                  <a:cubicBezTo>
                    <a:pt x="5330992" y="0"/>
                    <a:pt x="5339711" y="8719"/>
                    <a:pt x="5339711" y="19475"/>
                  </a:cubicBezTo>
                  <a:lnTo>
                    <a:pt x="5339711" y="259478"/>
                  </a:lnTo>
                  <a:cubicBezTo>
                    <a:pt x="5339711" y="270234"/>
                    <a:pt x="5330992" y="278953"/>
                    <a:pt x="5320236" y="278953"/>
                  </a:cubicBezTo>
                  <a:lnTo>
                    <a:pt x="19475" y="278953"/>
                  </a:lnTo>
                  <a:cubicBezTo>
                    <a:pt x="8719" y="278953"/>
                    <a:pt x="0" y="270234"/>
                    <a:pt x="0" y="259478"/>
                  </a:cubicBezTo>
                  <a:lnTo>
                    <a:pt x="0" y="19475"/>
                  </a:lnTo>
                  <a:cubicBezTo>
                    <a:pt x="0" y="8719"/>
                    <a:pt x="8719" y="0"/>
                    <a:pt x="19475" y="0"/>
                  </a:cubicBezTo>
                  <a:close/>
                </a:path>
              </a:pathLst>
            </a:custGeom>
            <a:solidFill>
              <a:srgbClr val="CC576F"/>
            </a:solidFill>
          </p:spPr>
        </p:sp>
        <p:sp>
          <p:nvSpPr>
            <p:cNvPr name="TextBox 7" id="7"/>
            <p:cNvSpPr txBox="true"/>
            <p:nvPr/>
          </p:nvSpPr>
          <p:spPr>
            <a:xfrm>
              <a:off x="0" y="-47625"/>
              <a:ext cx="5339711" cy="326578"/>
            </a:xfrm>
            <a:prstGeom prst="rect">
              <a:avLst/>
            </a:prstGeom>
          </p:spPr>
          <p:txBody>
            <a:bodyPr anchor="ctr" rtlCol="false" tIns="50800" lIns="50800" bIns="50800" rIns="50800"/>
            <a:lstStyle/>
            <a:p>
              <a:pPr algn="ctr">
                <a:lnSpc>
                  <a:spcPts val="3499"/>
                </a:lnSpc>
              </a:pPr>
            </a:p>
          </p:txBody>
        </p:sp>
      </p:grpSp>
      <p:sp>
        <p:nvSpPr>
          <p:cNvPr name="Freeform 8" id="8"/>
          <p:cNvSpPr/>
          <p:nvPr/>
        </p:nvSpPr>
        <p:spPr>
          <a:xfrm flipH="true" flipV="false" rot="0">
            <a:off x="227723" y="5618817"/>
            <a:ext cx="4299869" cy="4547939"/>
          </a:xfrm>
          <a:custGeom>
            <a:avLst/>
            <a:gdLst/>
            <a:ahLst/>
            <a:cxnLst/>
            <a:rect r="r" b="b" t="t" l="l"/>
            <a:pathLst>
              <a:path h="4547939" w="4299869">
                <a:moveTo>
                  <a:pt x="4299869" y="0"/>
                </a:moveTo>
                <a:lnTo>
                  <a:pt x="0" y="0"/>
                </a:lnTo>
                <a:lnTo>
                  <a:pt x="0" y="4547938"/>
                </a:lnTo>
                <a:lnTo>
                  <a:pt x="4299869" y="4547938"/>
                </a:lnTo>
                <a:lnTo>
                  <a:pt x="4299869"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9" id="9"/>
          <p:cNvSpPr txBox="true"/>
          <p:nvPr/>
        </p:nvSpPr>
        <p:spPr>
          <a:xfrm rot="0">
            <a:off x="387776" y="516918"/>
            <a:ext cx="8115300" cy="682520"/>
          </a:xfrm>
          <a:prstGeom prst="rect">
            <a:avLst/>
          </a:prstGeom>
        </p:spPr>
        <p:txBody>
          <a:bodyPr anchor="t" rtlCol="false" tIns="0" lIns="0" bIns="0" rIns="0">
            <a:spAutoFit/>
          </a:bodyPr>
          <a:lstStyle/>
          <a:p>
            <a:pPr algn="l">
              <a:lnSpc>
                <a:spcPts val="4379"/>
              </a:lnSpc>
            </a:pPr>
            <a:r>
              <a:rPr lang="en-US" sz="3981" b="true">
                <a:solidFill>
                  <a:srgbClr val="101010"/>
                </a:solidFill>
                <a:latin typeface="Agrandir Grand Ultra-Bold"/>
                <a:ea typeface="Agrandir Grand Ultra-Bold"/>
                <a:cs typeface="Agrandir Grand Ultra-Bold"/>
                <a:sym typeface="Agrandir Grand Ultra-Bold"/>
              </a:rPr>
              <a:t>PERAN PENGGUNA</a:t>
            </a:r>
          </a:p>
        </p:txBody>
      </p:sp>
      <p:grpSp>
        <p:nvGrpSpPr>
          <p:cNvPr name="Group 10" id="10"/>
          <p:cNvGrpSpPr/>
          <p:nvPr/>
        </p:nvGrpSpPr>
        <p:grpSpPr>
          <a:xfrm rot="187008">
            <a:off x="7825090" y="613793"/>
            <a:ext cx="781777" cy="781777"/>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DE59"/>
            </a:solidFill>
          </p:spPr>
        </p:sp>
        <p:sp>
          <p:nvSpPr>
            <p:cNvPr name="TextBox 12" id="12"/>
            <p:cNvSpPr txBox="true"/>
            <p:nvPr/>
          </p:nvSpPr>
          <p:spPr>
            <a:xfrm>
              <a:off x="190500" y="142875"/>
              <a:ext cx="431800" cy="479425"/>
            </a:xfrm>
            <a:prstGeom prst="rect">
              <a:avLst/>
            </a:prstGeom>
          </p:spPr>
          <p:txBody>
            <a:bodyPr anchor="ctr" rtlCol="false" tIns="50800" lIns="50800" bIns="50800" rIns="50800"/>
            <a:lstStyle/>
            <a:p>
              <a:pPr algn="ctr">
                <a:lnSpc>
                  <a:spcPts val="3499"/>
                </a:lnSpc>
              </a:pPr>
            </a:p>
          </p:txBody>
        </p:sp>
      </p:grpSp>
      <p:grpSp>
        <p:nvGrpSpPr>
          <p:cNvPr name="Group 13" id="13"/>
          <p:cNvGrpSpPr/>
          <p:nvPr/>
        </p:nvGrpSpPr>
        <p:grpSpPr>
          <a:xfrm rot="-321674">
            <a:off x="9178813" y="4580373"/>
            <a:ext cx="781777" cy="781777"/>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DE59"/>
            </a:solidFill>
          </p:spPr>
        </p:sp>
        <p:sp>
          <p:nvSpPr>
            <p:cNvPr name="TextBox 15" id="15"/>
            <p:cNvSpPr txBox="true"/>
            <p:nvPr/>
          </p:nvSpPr>
          <p:spPr>
            <a:xfrm>
              <a:off x="190500" y="142875"/>
              <a:ext cx="431800" cy="479425"/>
            </a:xfrm>
            <a:prstGeom prst="rect">
              <a:avLst/>
            </a:prstGeom>
          </p:spPr>
          <p:txBody>
            <a:bodyPr anchor="ctr" rtlCol="false" tIns="50800" lIns="50800" bIns="50800" rIns="50800"/>
            <a:lstStyle/>
            <a:p>
              <a:pPr algn="ctr">
                <a:lnSpc>
                  <a:spcPts val="3499"/>
                </a:lnSpc>
              </a:pPr>
            </a:p>
          </p:txBody>
        </p:sp>
      </p:grpSp>
      <p:sp>
        <p:nvSpPr>
          <p:cNvPr name="Freeform 16" id="16"/>
          <p:cNvSpPr/>
          <p:nvPr/>
        </p:nvSpPr>
        <p:spPr>
          <a:xfrm flipH="false" flipV="false" rot="0">
            <a:off x="10239813" y="290720"/>
            <a:ext cx="2487187" cy="5095700"/>
          </a:xfrm>
          <a:custGeom>
            <a:avLst/>
            <a:gdLst/>
            <a:ahLst/>
            <a:cxnLst/>
            <a:rect r="r" b="b" t="t" l="l"/>
            <a:pathLst>
              <a:path h="5095700" w="2487187">
                <a:moveTo>
                  <a:pt x="0" y="0"/>
                </a:moveTo>
                <a:lnTo>
                  <a:pt x="2487187" y="0"/>
                </a:lnTo>
                <a:lnTo>
                  <a:pt x="2487187" y="5095701"/>
                </a:lnTo>
                <a:lnTo>
                  <a:pt x="0" y="5095701"/>
                </a:lnTo>
                <a:lnTo>
                  <a:pt x="0" y="0"/>
                </a:lnTo>
                <a:close/>
              </a:path>
            </a:pathLst>
          </a:custGeom>
          <a:blipFill>
            <a:blip r:embed="rId6"/>
            <a:stretch>
              <a:fillRect l="0" t="0" r="0" b="0"/>
            </a:stretch>
          </a:blipFill>
        </p:spPr>
      </p:sp>
      <p:sp>
        <p:nvSpPr>
          <p:cNvPr name="Freeform 17" id="17"/>
          <p:cNvSpPr/>
          <p:nvPr/>
        </p:nvSpPr>
        <p:spPr>
          <a:xfrm flipH="false" flipV="false" rot="0">
            <a:off x="12833520" y="1416245"/>
            <a:ext cx="2516906" cy="5241904"/>
          </a:xfrm>
          <a:custGeom>
            <a:avLst/>
            <a:gdLst/>
            <a:ahLst/>
            <a:cxnLst/>
            <a:rect r="r" b="b" t="t" l="l"/>
            <a:pathLst>
              <a:path h="5241904" w="2516906">
                <a:moveTo>
                  <a:pt x="0" y="0"/>
                </a:moveTo>
                <a:lnTo>
                  <a:pt x="2516907" y="0"/>
                </a:lnTo>
                <a:lnTo>
                  <a:pt x="2516907" y="5241904"/>
                </a:lnTo>
                <a:lnTo>
                  <a:pt x="0" y="5241904"/>
                </a:lnTo>
                <a:lnTo>
                  <a:pt x="0" y="0"/>
                </a:lnTo>
                <a:close/>
              </a:path>
            </a:pathLst>
          </a:custGeom>
          <a:blipFill>
            <a:blip r:embed="rId7"/>
            <a:stretch>
              <a:fillRect l="0" t="0" r="0" b="0"/>
            </a:stretch>
          </a:blipFill>
        </p:spPr>
      </p:sp>
      <p:sp>
        <p:nvSpPr>
          <p:cNvPr name="Freeform 18" id="18"/>
          <p:cNvSpPr/>
          <p:nvPr/>
        </p:nvSpPr>
        <p:spPr>
          <a:xfrm flipH="false" flipV="false" rot="0">
            <a:off x="15455202" y="4185323"/>
            <a:ext cx="2589021" cy="5153540"/>
          </a:xfrm>
          <a:custGeom>
            <a:avLst/>
            <a:gdLst/>
            <a:ahLst/>
            <a:cxnLst/>
            <a:rect r="r" b="b" t="t" l="l"/>
            <a:pathLst>
              <a:path h="5153540" w="2589021">
                <a:moveTo>
                  <a:pt x="0" y="0"/>
                </a:moveTo>
                <a:lnTo>
                  <a:pt x="2589020" y="0"/>
                </a:lnTo>
                <a:lnTo>
                  <a:pt x="2589020" y="5153539"/>
                </a:lnTo>
                <a:lnTo>
                  <a:pt x="0" y="5153539"/>
                </a:lnTo>
                <a:lnTo>
                  <a:pt x="0" y="0"/>
                </a:lnTo>
                <a:close/>
              </a:path>
            </a:pathLst>
          </a:custGeom>
          <a:blipFill>
            <a:blip r:embed="rId8"/>
            <a:stretch>
              <a:fillRect l="0" t="0" r="0" b="0"/>
            </a:stretch>
          </a:blipFill>
        </p:spPr>
      </p:sp>
      <p:sp>
        <p:nvSpPr>
          <p:cNvPr name="TextBox 19" id="19"/>
          <p:cNvSpPr txBox="true"/>
          <p:nvPr/>
        </p:nvSpPr>
        <p:spPr>
          <a:xfrm rot="0">
            <a:off x="447681" y="1735685"/>
            <a:ext cx="10084089" cy="3114675"/>
          </a:xfrm>
          <a:prstGeom prst="rect">
            <a:avLst/>
          </a:prstGeom>
        </p:spPr>
        <p:txBody>
          <a:bodyPr anchor="t" rtlCol="false" tIns="0" lIns="0" bIns="0" rIns="0">
            <a:spAutoFit/>
          </a:bodyPr>
          <a:lstStyle/>
          <a:p>
            <a:pPr algn="l">
              <a:lnSpc>
                <a:spcPts val="4199"/>
              </a:lnSpc>
            </a:pPr>
            <a:r>
              <a:rPr lang="en-US" sz="2999">
                <a:solidFill>
                  <a:srgbClr val="101010"/>
                </a:solidFill>
                <a:latin typeface="Canva Sans"/>
                <a:ea typeface="Canva Sans"/>
                <a:cs typeface="Canva Sans"/>
                <a:sym typeface="Canva Sans"/>
              </a:rPr>
              <a:t>Listener (Pengguna):</a:t>
            </a:r>
          </a:p>
          <a:p>
            <a:pPr algn="l" marL="647698" indent="-323849" lvl="1">
              <a:lnSpc>
                <a:spcPts val="4199"/>
              </a:lnSpc>
              <a:spcBef>
                <a:spcPct val="0"/>
              </a:spcBef>
              <a:buFont typeface="Arial"/>
              <a:buChar char="•"/>
            </a:pPr>
            <a:r>
              <a:rPr lang="en-US" sz="2999">
                <a:solidFill>
                  <a:srgbClr val="101010"/>
                </a:solidFill>
                <a:latin typeface="Canva Sans"/>
                <a:ea typeface="Canva Sans"/>
                <a:cs typeface="Canva Sans"/>
                <a:sym typeface="Canva Sans"/>
              </a:rPr>
              <a:t>Dengarkan mu</a:t>
            </a:r>
            <a:r>
              <a:rPr lang="en-US" sz="2999">
                <a:solidFill>
                  <a:srgbClr val="101010"/>
                </a:solidFill>
                <a:latin typeface="Canva Sans"/>
                <a:ea typeface="Canva Sans"/>
                <a:cs typeface="Canva Sans"/>
                <a:sym typeface="Canva Sans"/>
              </a:rPr>
              <a:t>sik terapi</a:t>
            </a:r>
          </a:p>
          <a:p>
            <a:pPr algn="l" marL="647698" indent="-323849" lvl="1">
              <a:lnSpc>
                <a:spcPts val="4199"/>
              </a:lnSpc>
              <a:spcBef>
                <a:spcPct val="0"/>
              </a:spcBef>
              <a:buFont typeface="Arial"/>
              <a:buChar char="•"/>
            </a:pPr>
            <a:r>
              <a:rPr lang="en-US" sz="2999">
                <a:solidFill>
                  <a:srgbClr val="101010"/>
                </a:solidFill>
                <a:latin typeface="Canva Sans"/>
                <a:ea typeface="Canva Sans"/>
                <a:cs typeface="Canva Sans"/>
                <a:sym typeface="Canva Sans"/>
              </a:rPr>
              <a:t>Jelajah &amp; simpan favorit</a:t>
            </a:r>
          </a:p>
          <a:p>
            <a:pPr algn="l" marL="647698" indent="-323849" lvl="1">
              <a:lnSpc>
                <a:spcPts val="4199"/>
              </a:lnSpc>
              <a:spcBef>
                <a:spcPct val="0"/>
              </a:spcBef>
              <a:buFont typeface="Arial"/>
              <a:buChar char="•"/>
            </a:pPr>
            <a:r>
              <a:rPr lang="en-US" sz="2999">
                <a:solidFill>
                  <a:srgbClr val="101010"/>
                </a:solidFill>
                <a:latin typeface="Canva Sans"/>
                <a:ea typeface="Canva Sans"/>
                <a:cs typeface="Canva Sans"/>
                <a:sym typeface="Canva Sans"/>
              </a:rPr>
              <a:t>Akses rekomendasi &amp; referensi medis pada detail musik</a:t>
            </a:r>
          </a:p>
          <a:p>
            <a:pPr algn="l">
              <a:lnSpc>
                <a:spcPts val="4199"/>
              </a:lnSpc>
              <a:spcBef>
                <a:spcPct val="0"/>
              </a:spcBef>
            </a:pPr>
          </a:p>
        </p:txBody>
      </p:sp>
      <p:sp>
        <p:nvSpPr>
          <p:cNvPr name="Freeform 20" id="20"/>
          <p:cNvSpPr/>
          <p:nvPr/>
        </p:nvSpPr>
        <p:spPr>
          <a:xfrm flipH="false" flipV="false" rot="0">
            <a:off x="6676540" y="6901930"/>
            <a:ext cx="8210837" cy="9903421"/>
          </a:xfrm>
          <a:custGeom>
            <a:avLst/>
            <a:gdLst/>
            <a:ahLst/>
            <a:cxnLst/>
            <a:rect r="r" b="b" t="t" l="l"/>
            <a:pathLst>
              <a:path h="9903421" w="8210837">
                <a:moveTo>
                  <a:pt x="0" y="0"/>
                </a:moveTo>
                <a:lnTo>
                  <a:pt x="8210837" y="0"/>
                </a:lnTo>
                <a:lnTo>
                  <a:pt x="8210837" y="9903421"/>
                </a:lnTo>
                <a:lnTo>
                  <a:pt x="0" y="990342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76707" y="-366843"/>
            <a:ext cx="21314151" cy="10676209"/>
            <a:chOff x="0" y="0"/>
            <a:chExt cx="28418868" cy="14234945"/>
          </a:xfrm>
        </p:grpSpPr>
        <p:sp>
          <p:nvSpPr>
            <p:cNvPr name="Freeform 3" id="3"/>
            <p:cNvSpPr/>
            <p:nvPr/>
          </p:nvSpPr>
          <p:spPr>
            <a:xfrm flipH="false" flipV="false" rot="0">
              <a:off x="0" y="0"/>
              <a:ext cx="14234945" cy="14234945"/>
            </a:xfrm>
            <a:custGeom>
              <a:avLst/>
              <a:gdLst/>
              <a:ahLst/>
              <a:cxnLst/>
              <a:rect r="r" b="b" t="t" l="l"/>
              <a:pathLst>
                <a:path h="14234945" w="14234945">
                  <a:moveTo>
                    <a:pt x="0" y="0"/>
                  </a:moveTo>
                  <a:lnTo>
                    <a:pt x="14234945" y="0"/>
                  </a:lnTo>
                  <a:lnTo>
                    <a:pt x="14234945" y="14234945"/>
                  </a:lnTo>
                  <a:lnTo>
                    <a:pt x="0" y="14234945"/>
                  </a:lnTo>
                  <a:lnTo>
                    <a:pt x="0" y="0"/>
                  </a:lnTo>
                  <a:close/>
                </a:path>
              </a:pathLst>
            </a:custGeom>
            <a:blipFill>
              <a:blip r:embed="rId2">
                <a:alphaModFix amt="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183923" y="0"/>
              <a:ext cx="14234945" cy="14234945"/>
            </a:xfrm>
            <a:custGeom>
              <a:avLst/>
              <a:gdLst/>
              <a:ahLst/>
              <a:cxnLst/>
              <a:rect r="r" b="b" t="t" l="l"/>
              <a:pathLst>
                <a:path h="14234945" w="14234945">
                  <a:moveTo>
                    <a:pt x="0" y="0"/>
                  </a:moveTo>
                  <a:lnTo>
                    <a:pt x="14234945" y="0"/>
                  </a:lnTo>
                  <a:lnTo>
                    <a:pt x="14234945" y="14234945"/>
                  </a:lnTo>
                  <a:lnTo>
                    <a:pt x="0" y="14234945"/>
                  </a:lnTo>
                  <a:lnTo>
                    <a:pt x="0" y="0"/>
                  </a:lnTo>
                  <a:close/>
                </a:path>
              </a:pathLst>
            </a:custGeom>
            <a:blipFill>
              <a:blip r:embed="rId2">
                <a:alphaModFix amt="3000"/>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976707" y="9537567"/>
            <a:ext cx="20274216" cy="1059151"/>
            <a:chOff x="0" y="0"/>
            <a:chExt cx="5339711" cy="278953"/>
          </a:xfrm>
        </p:grpSpPr>
        <p:sp>
          <p:nvSpPr>
            <p:cNvPr name="Freeform 6" id="6"/>
            <p:cNvSpPr/>
            <p:nvPr/>
          </p:nvSpPr>
          <p:spPr>
            <a:xfrm flipH="false" flipV="false" rot="0">
              <a:off x="0" y="0"/>
              <a:ext cx="5339711" cy="278953"/>
            </a:xfrm>
            <a:custGeom>
              <a:avLst/>
              <a:gdLst/>
              <a:ahLst/>
              <a:cxnLst/>
              <a:rect r="r" b="b" t="t" l="l"/>
              <a:pathLst>
                <a:path h="278953" w="5339711">
                  <a:moveTo>
                    <a:pt x="19475" y="0"/>
                  </a:moveTo>
                  <a:lnTo>
                    <a:pt x="5320236" y="0"/>
                  </a:lnTo>
                  <a:cubicBezTo>
                    <a:pt x="5330992" y="0"/>
                    <a:pt x="5339711" y="8719"/>
                    <a:pt x="5339711" y="19475"/>
                  </a:cubicBezTo>
                  <a:lnTo>
                    <a:pt x="5339711" y="259478"/>
                  </a:lnTo>
                  <a:cubicBezTo>
                    <a:pt x="5339711" y="270234"/>
                    <a:pt x="5330992" y="278953"/>
                    <a:pt x="5320236" y="278953"/>
                  </a:cubicBezTo>
                  <a:lnTo>
                    <a:pt x="19475" y="278953"/>
                  </a:lnTo>
                  <a:cubicBezTo>
                    <a:pt x="8719" y="278953"/>
                    <a:pt x="0" y="270234"/>
                    <a:pt x="0" y="259478"/>
                  </a:cubicBezTo>
                  <a:lnTo>
                    <a:pt x="0" y="19475"/>
                  </a:lnTo>
                  <a:cubicBezTo>
                    <a:pt x="0" y="8719"/>
                    <a:pt x="8719" y="0"/>
                    <a:pt x="19475" y="0"/>
                  </a:cubicBezTo>
                  <a:close/>
                </a:path>
              </a:pathLst>
            </a:custGeom>
            <a:solidFill>
              <a:srgbClr val="CC576F"/>
            </a:solidFill>
          </p:spPr>
        </p:sp>
        <p:sp>
          <p:nvSpPr>
            <p:cNvPr name="TextBox 7" id="7"/>
            <p:cNvSpPr txBox="true"/>
            <p:nvPr/>
          </p:nvSpPr>
          <p:spPr>
            <a:xfrm>
              <a:off x="0" y="-47625"/>
              <a:ext cx="5339711" cy="326578"/>
            </a:xfrm>
            <a:prstGeom prst="rect">
              <a:avLst/>
            </a:prstGeom>
          </p:spPr>
          <p:txBody>
            <a:bodyPr anchor="ctr" rtlCol="false" tIns="50800" lIns="50800" bIns="50800" rIns="50800"/>
            <a:lstStyle/>
            <a:p>
              <a:pPr algn="ctr">
                <a:lnSpc>
                  <a:spcPts val="3499"/>
                </a:lnSpc>
              </a:pPr>
            </a:p>
          </p:txBody>
        </p:sp>
      </p:grpSp>
      <p:sp>
        <p:nvSpPr>
          <p:cNvPr name="Freeform 8" id="8"/>
          <p:cNvSpPr/>
          <p:nvPr/>
        </p:nvSpPr>
        <p:spPr>
          <a:xfrm flipH="true" flipV="false" rot="0">
            <a:off x="145557" y="6984331"/>
            <a:ext cx="4299869" cy="4547939"/>
          </a:xfrm>
          <a:custGeom>
            <a:avLst/>
            <a:gdLst/>
            <a:ahLst/>
            <a:cxnLst/>
            <a:rect r="r" b="b" t="t" l="l"/>
            <a:pathLst>
              <a:path h="4547939" w="4299869">
                <a:moveTo>
                  <a:pt x="4299869" y="0"/>
                </a:moveTo>
                <a:lnTo>
                  <a:pt x="0" y="0"/>
                </a:lnTo>
                <a:lnTo>
                  <a:pt x="0" y="4547938"/>
                </a:lnTo>
                <a:lnTo>
                  <a:pt x="4299869" y="4547938"/>
                </a:lnTo>
                <a:lnTo>
                  <a:pt x="4299869"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grpSp>
        <p:nvGrpSpPr>
          <p:cNvPr name="Group 9" id="9"/>
          <p:cNvGrpSpPr/>
          <p:nvPr/>
        </p:nvGrpSpPr>
        <p:grpSpPr>
          <a:xfrm rot="187008">
            <a:off x="8753111" y="637811"/>
            <a:ext cx="781777" cy="781777"/>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DE59"/>
            </a:solidFill>
          </p:spPr>
        </p:sp>
        <p:sp>
          <p:nvSpPr>
            <p:cNvPr name="TextBox 11" id="11"/>
            <p:cNvSpPr txBox="true"/>
            <p:nvPr/>
          </p:nvSpPr>
          <p:spPr>
            <a:xfrm>
              <a:off x="190500" y="142875"/>
              <a:ext cx="431800" cy="479425"/>
            </a:xfrm>
            <a:prstGeom prst="rect">
              <a:avLst/>
            </a:prstGeom>
          </p:spPr>
          <p:txBody>
            <a:bodyPr anchor="ctr" rtlCol="false" tIns="50800" lIns="50800" bIns="50800" rIns="50800"/>
            <a:lstStyle/>
            <a:p>
              <a:pPr algn="ctr">
                <a:lnSpc>
                  <a:spcPts val="3499"/>
                </a:lnSpc>
              </a:pPr>
            </a:p>
          </p:txBody>
        </p:sp>
      </p:grpSp>
      <p:grpSp>
        <p:nvGrpSpPr>
          <p:cNvPr name="Group 12" id="12"/>
          <p:cNvGrpSpPr/>
          <p:nvPr/>
        </p:nvGrpSpPr>
        <p:grpSpPr>
          <a:xfrm rot="-321674">
            <a:off x="10756391" y="3298590"/>
            <a:ext cx="781777" cy="781777"/>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DE59"/>
            </a:solidFill>
          </p:spPr>
        </p:sp>
        <p:sp>
          <p:nvSpPr>
            <p:cNvPr name="TextBox 14" id="14"/>
            <p:cNvSpPr txBox="true"/>
            <p:nvPr/>
          </p:nvSpPr>
          <p:spPr>
            <a:xfrm>
              <a:off x="190500" y="142875"/>
              <a:ext cx="431800" cy="479425"/>
            </a:xfrm>
            <a:prstGeom prst="rect">
              <a:avLst/>
            </a:prstGeom>
          </p:spPr>
          <p:txBody>
            <a:bodyPr anchor="ctr" rtlCol="false" tIns="50800" lIns="50800" bIns="50800" rIns="50800"/>
            <a:lstStyle/>
            <a:p>
              <a:pPr algn="ctr">
                <a:lnSpc>
                  <a:spcPts val="3499"/>
                </a:lnSpc>
              </a:pPr>
            </a:p>
          </p:txBody>
        </p:sp>
      </p:grpSp>
      <p:sp>
        <p:nvSpPr>
          <p:cNvPr name="Freeform 15" id="15"/>
          <p:cNvSpPr/>
          <p:nvPr/>
        </p:nvSpPr>
        <p:spPr>
          <a:xfrm flipH="false" flipV="false" rot="0">
            <a:off x="3698997" y="5357655"/>
            <a:ext cx="8210837" cy="9903421"/>
          </a:xfrm>
          <a:custGeom>
            <a:avLst/>
            <a:gdLst/>
            <a:ahLst/>
            <a:cxnLst/>
            <a:rect r="r" b="b" t="t" l="l"/>
            <a:pathLst>
              <a:path h="9903421" w="8210837">
                <a:moveTo>
                  <a:pt x="0" y="0"/>
                </a:moveTo>
                <a:lnTo>
                  <a:pt x="8210837" y="0"/>
                </a:lnTo>
                <a:lnTo>
                  <a:pt x="8210837" y="9903421"/>
                </a:lnTo>
                <a:lnTo>
                  <a:pt x="0" y="990342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16" id="16"/>
          <p:cNvSpPr/>
          <p:nvPr/>
        </p:nvSpPr>
        <p:spPr>
          <a:xfrm flipH="false" flipV="false" rot="0">
            <a:off x="10721579" y="454216"/>
            <a:ext cx="1490446" cy="1490446"/>
          </a:xfrm>
          <a:custGeom>
            <a:avLst/>
            <a:gdLst/>
            <a:ahLst/>
            <a:cxnLst/>
            <a:rect r="r" b="b" t="t" l="l"/>
            <a:pathLst>
              <a:path h="1490446" w="1490446">
                <a:moveTo>
                  <a:pt x="0" y="0"/>
                </a:moveTo>
                <a:lnTo>
                  <a:pt x="1490446" y="0"/>
                </a:lnTo>
                <a:lnTo>
                  <a:pt x="1490446" y="1490445"/>
                </a:lnTo>
                <a:lnTo>
                  <a:pt x="0" y="1490445"/>
                </a:lnTo>
                <a:lnTo>
                  <a:pt x="0" y="0"/>
                </a:lnTo>
                <a:close/>
              </a:path>
            </a:pathLst>
          </a:custGeom>
          <a:blipFill>
            <a:blip r:embed="rId8"/>
            <a:stretch>
              <a:fillRect l="0" t="0" r="0" b="0"/>
            </a:stretch>
          </a:blipFill>
        </p:spPr>
      </p:sp>
      <p:sp>
        <p:nvSpPr>
          <p:cNvPr name="Freeform 17" id="17"/>
          <p:cNvSpPr/>
          <p:nvPr/>
        </p:nvSpPr>
        <p:spPr>
          <a:xfrm flipH="false" flipV="false" rot="0">
            <a:off x="12459675" y="415202"/>
            <a:ext cx="4799625" cy="8873726"/>
          </a:xfrm>
          <a:custGeom>
            <a:avLst/>
            <a:gdLst/>
            <a:ahLst/>
            <a:cxnLst/>
            <a:rect r="r" b="b" t="t" l="l"/>
            <a:pathLst>
              <a:path h="8873726" w="4799625">
                <a:moveTo>
                  <a:pt x="0" y="0"/>
                </a:moveTo>
                <a:lnTo>
                  <a:pt x="4799625" y="0"/>
                </a:lnTo>
                <a:lnTo>
                  <a:pt x="4799625" y="8873726"/>
                </a:lnTo>
                <a:lnTo>
                  <a:pt x="0" y="8873726"/>
                </a:lnTo>
                <a:lnTo>
                  <a:pt x="0" y="0"/>
                </a:lnTo>
                <a:close/>
              </a:path>
            </a:pathLst>
          </a:custGeom>
          <a:blipFill>
            <a:blip r:embed="rId9"/>
            <a:stretch>
              <a:fillRect l="0" t="0" r="0" b="0"/>
            </a:stretch>
          </a:blipFill>
        </p:spPr>
      </p:sp>
      <p:sp>
        <p:nvSpPr>
          <p:cNvPr name="TextBox 18" id="18"/>
          <p:cNvSpPr txBox="true"/>
          <p:nvPr/>
        </p:nvSpPr>
        <p:spPr>
          <a:xfrm rot="0">
            <a:off x="387776" y="516918"/>
            <a:ext cx="8115300" cy="682520"/>
          </a:xfrm>
          <a:prstGeom prst="rect">
            <a:avLst/>
          </a:prstGeom>
        </p:spPr>
        <p:txBody>
          <a:bodyPr anchor="t" rtlCol="false" tIns="0" lIns="0" bIns="0" rIns="0">
            <a:spAutoFit/>
          </a:bodyPr>
          <a:lstStyle/>
          <a:p>
            <a:pPr algn="l">
              <a:lnSpc>
                <a:spcPts val="4379"/>
              </a:lnSpc>
            </a:pPr>
            <a:r>
              <a:rPr lang="en-US" sz="3981" b="true">
                <a:solidFill>
                  <a:srgbClr val="101010"/>
                </a:solidFill>
                <a:latin typeface="Agrandir Grand Ultra-Bold"/>
                <a:ea typeface="Agrandir Grand Ultra-Bold"/>
                <a:cs typeface="Agrandir Grand Ultra-Bold"/>
                <a:sym typeface="Agrandir Grand Ultra-Bold"/>
              </a:rPr>
              <a:t>FITUR UNTUK ADMIN</a:t>
            </a:r>
          </a:p>
        </p:txBody>
      </p:sp>
      <p:sp>
        <p:nvSpPr>
          <p:cNvPr name="TextBox 19" id="19"/>
          <p:cNvSpPr txBox="true"/>
          <p:nvPr/>
        </p:nvSpPr>
        <p:spPr>
          <a:xfrm rot="0">
            <a:off x="387776" y="1340045"/>
            <a:ext cx="7652010" cy="646311"/>
          </a:xfrm>
          <a:prstGeom prst="rect">
            <a:avLst/>
          </a:prstGeom>
        </p:spPr>
        <p:txBody>
          <a:bodyPr anchor="t" rtlCol="false" tIns="0" lIns="0" bIns="0" rIns="0">
            <a:spAutoFit/>
          </a:bodyPr>
          <a:lstStyle/>
          <a:p>
            <a:pPr algn="l">
              <a:lnSpc>
                <a:spcPts val="5348"/>
              </a:lnSpc>
              <a:spcBef>
                <a:spcPct val="0"/>
              </a:spcBef>
            </a:pPr>
            <a:r>
              <a:rPr lang="en-US" b="true" sz="3820">
                <a:solidFill>
                  <a:srgbClr val="101010"/>
                </a:solidFill>
                <a:latin typeface="Canva Sans Bold"/>
                <a:ea typeface="Canva Sans Bold"/>
                <a:cs typeface="Canva Sans Bold"/>
                <a:sym typeface="Canva Sans Bold"/>
              </a:rPr>
              <a:t>Login</a:t>
            </a:r>
          </a:p>
        </p:txBody>
      </p:sp>
      <p:sp>
        <p:nvSpPr>
          <p:cNvPr name="TextBox 20" id="20"/>
          <p:cNvSpPr txBox="true"/>
          <p:nvPr/>
        </p:nvSpPr>
        <p:spPr>
          <a:xfrm rot="0">
            <a:off x="387776" y="2447503"/>
            <a:ext cx="10084089" cy="1019175"/>
          </a:xfrm>
          <a:prstGeom prst="rect">
            <a:avLst/>
          </a:prstGeom>
        </p:spPr>
        <p:txBody>
          <a:bodyPr anchor="t" rtlCol="false" tIns="0" lIns="0" bIns="0" rIns="0">
            <a:spAutoFit/>
          </a:bodyPr>
          <a:lstStyle/>
          <a:p>
            <a:pPr algn="l">
              <a:lnSpc>
                <a:spcPts val="4199"/>
              </a:lnSpc>
              <a:spcBef>
                <a:spcPct val="0"/>
              </a:spcBef>
            </a:pPr>
            <a:r>
              <a:rPr lang="en-US" sz="2999">
                <a:solidFill>
                  <a:srgbClr val="101010"/>
                </a:solidFill>
                <a:latin typeface="Canva Sans"/>
                <a:ea typeface="Canva Sans"/>
                <a:cs typeface="Canva Sans"/>
                <a:sym typeface="Canva Sans"/>
              </a:rPr>
              <a:t>Admin dapat melakukan login menggunakan akun yang sudah terdaftar</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76707" y="-366843"/>
            <a:ext cx="21314151" cy="10676209"/>
            <a:chOff x="0" y="0"/>
            <a:chExt cx="28418868" cy="14234945"/>
          </a:xfrm>
        </p:grpSpPr>
        <p:sp>
          <p:nvSpPr>
            <p:cNvPr name="Freeform 3" id="3"/>
            <p:cNvSpPr/>
            <p:nvPr/>
          </p:nvSpPr>
          <p:spPr>
            <a:xfrm flipH="false" flipV="false" rot="0">
              <a:off x="0" y="0"/>
              <a:ext cx="14234945" cy="14234945"/>
            </a:xfrm>
            <a:custGeom>
              <a:avLst/>
              <a:gdLst/>
              <a:ahLst/>
              <a:cxnLst/>
              <a:rect r="r" b="b" t="t" l="l"/>
              <a:pathLst>
                <a:path h="14234945" w="14234945">
                  <a:moveTo>
                    <a:pt x="0" y="0"/>
                  </a:moveTo>
                  <a:lnTo>
                    <a:pt x="14234945" y="0"/>
                  </a:lnTo>
                  <a:lnTo>
                    <a:pt x="14234945" y="14234945"/>
                  </a:lnTo>
                  <a:lnTo>
                    <a:pt x="0" y="14234945"/>
                  </a:lnTo>
                  <a:lnTo>
                    <a:pt x="0" y="0"/>
                  </a:lnTo>
                  <a:close/>
                </a:path>
              </a:pathLst>
            </a:custGeom>
            <a:blipFill>
              <a:blip r:embed="rId2">
                <a:alphaModFix amt="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183923" y="0"/>
              <a:ext cx="14234945" cy="14234945"/>
            </a:xfrm>
            <a:custGeom>
              <a:avLst/>
              <a:gdLst/>
              <a:ahLst/>
              <a:cxnLst/>
              <a:rect r="r" b="b" t="t" l="l"/>
              <a:pathLst>
                <a:path h="14234945" w="14234945">
                  <a:moveTo>
                    <a:pt x="0" y="0"/>
                  </a:moveTo>
                  <a:lnTo>
                    <a:pt x="14234945" y="0"/>
                  </a:lnTo>
                  <a:lnTo>
                    <a:pt x="14234945" y="14234945"/>
                  </a:lnTo>
                  <a:lnTo>
                    <a:pt x="0" y="14234945"/>
                  </a:lnTo>
                  <a:lnTo>
                    <a:pt x="0" y="0"/>
                  </a:lnTo>
                  <a:close/>
                </a:path>
              </a:pathLst>
            </a:custGeom>
            <a:blipFill>
              <a:blip r:embed="rId2">
                <a:alphaModFix amt="3000"/>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976707" y="9537567"/>
            <a:ext cx="20274216" cy="1059151"/>
            <a:chOff x="0" y="0"/>
            <a:chExt cx="5339711" cy="278953"/>
          </a:xfrm>
        </p:grpSpPr>
        <p:sp>
          <p:nvSpPr>
            <p:cNvPr name="Freeform 6" id="6"/>
            <p:cNvSpPr/>
            <p:nvPr/>
          </p:nvSpPr>
          <p:spPr>
            <a:xfrm flipH="false" flipV="false" rot="0">
              <a:off x="0" y="0"/>
              <a:ext cx="5339711" cy="278953"/>
            </a:xfrm>
            <a:custGeom>
              <a:avLst/>
              <a:gdLst/>
              <a:ahLst/>
              <a:cxnLst/>
              <a:rect r="r" b="b" t="t" l="l"/>
              <a:pathLst>
                <a:path h="278953" w="5339711">
                  <a:moveTo>
                    <a:pt x="19475" y="0"/>
                  </a:moveTo>
                  <a:lnTo>
                    <a:pt x="5320236" y="0"/>
                  </a:lnTo>
                  <a:cubicBezTo>
                    <a:pt x="5330992" y="0"/>
                    <a:pt x="5339711" y="8719"/>
                    <a:pt x="5339711" y="19475"/>
                  </a:cubicBezTo>
                  <a:lnTo>
                    <a:pt x="5339711" y="259478"/>
                  </a:lnTo>
                  <a:cubicBezTo>
                    <a:pt x="5339711" y="270234"/>
                    <a:pt x="5330992" y="278953"/>
                    <a:pt x="5320236" y="278953"/>
                  </a:cubicBezTo>
                  <a:lnTo>
                    <a:pt x="19475" y="278953"/>
                  </a:lnTo>
                  <a:cubicBezTo>
                    <a:pt x="8719" y="278953"/>
                    <a:pt x="0" y="270234"/>
                    <a:pt x="0" y="259478"/>
                  </a:cubicBezTo>
                  <a:lnTo>
                    <a:pt x="0" y="19475"/>
                  </a:lnTo>
                  <a:cubicBezTo>
                    <a:pt x="0" y="8719"/>
                    <a:pt x="8719" y="0"/>
                    <a:pt x="19475" y="0"/>
                  </a:cubicBezTo>
                  <a:close/>
                </a:path>
              </a:pathLst>
            </a:custGeom>
            <a:solidFill>
              <a:srgbClr val="CC576F"/>
            </a:solidFill>
          </p:spPr>
        </p:sp>
        <p:sp>
          <p:nvSpPr>
            <p:cNvPr name="TextBox 7" id="7"/>
            <p:cNvSpPr txBox="true"/>
            <p:nvPr/>
          </p:nvSpPr>
          <p:spPr>
            <a:xfrm>
              <a:off x="0" y="-47625"/>
              <a:ext cx="5339711" cy="326578"/>
            </a:xfrm>
            <a:prstGeom prst="rect">
              <a:avLst/>
            </a:prstGeom>
          </p:spPr>
          <p:txBody>
            <a:bodyPr anchor="ctr" rtlCol="false" tIns="50800" lIns="50800" bIns="50800" rIns="50800"/>
            <a:lstStyle/>
            <a:p>
              <a:pPr algn="ctr">
                <a:lnSpc>
                  <a:spcPts val="3499"/>
                </a:lnSpc>
              </a:pPr>
            </a:p>
          </p:txBody>
        </p:sp>
      </p:grpSp>
      <p:sp>
        <p:nvSpPr>
          <p:cNvPr name="Freeform 8" id="8"/>
          <p:cNvSpPr/>
          <p:nvPr/>
        </p:nvSpPr>
        <p:spPr>
          <a:xfrm flipH="true" flipV="false" rot="0">
            <a:off x="145557" y="6984331"/>
            <a:ext cx="4299869" cy="4547939"/>
          </a:xfrm>
          <a:custGeom>
            <a:avLst/>
            <a:gdLst/>
            <a:ahLst/>
            <a:cxnLst/>
            <a:rect r="r" b="b" t="t" l="l"/>
            <a:pathLst>
              <a:path h="4547939" w="4299869">
                <a:moveTo>
                  <a:pt x="4299869" y="0"/>
                </a:moveTo>
                <a:lnTo>
                  <a:pt x="0" y="0"/>
                </a:lnTo>
                <a:lnTo>
                  <a:pt x="0" y="4547938"/>
                </a:lnTo>
                <a:lnTo>
                  <a:pt x="4299869" y="4547938"/>
                </a:lnTo>
                <a:lnTo>
                  <a:pt x="4299869"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9" id="9"/>
          <p:cNvSpPr txBox="true"/>
          <p:nvPr/>
        </p:nvSpPr>
        <p:spPr>
          <a:xfrm rot="0">
            <a:off x="387776" y="516918"/>
            <a:ext cx="8115300" cy="682520"/>
          </a:xfrm>
          <a:prstGeom prst="rect">
            <a:avLst/>
          </a:prstGeom>
        </p:spPr>
        <p:txBody>
          <a:bodyPr anchor="t" rtlCol="false" tIns="0" lIns="0" bIns="0" rIns="0">
            <a:spAutoFit/>
          </a:bodyPr>
          <a:lstStyle/>
          <a:p>
            <a:pPr algn="l">
              <a:lnSpc>
                <a:spcPts val="4379"/>
              </a:lnSpc>
            </a:pPr>
            <a:r>
              <a:rPr lang="en-US" sz="3981" b="true">
                <a:solidFill>
                  <a:srgbClr val="101010"/>
                </a:solidFill>
                <a:latin typeface="Agrandir Grand Ultra-Bold"/>
                <a:ea typeface="Agrandir Grand Ultra-Bold"/>
                <a:cs typeface="Agrandir Grand Ultra-Bold"/>
                <a:sym typeface="Agrandir Grand Ultra-Bold"/>
              </a:rPr>
              <a:t>FITUR UNTUK ADMIN</a:t>
            </a:r>
          </a:p>
        </p:txBody>
      </p:sp>
      <p:grpSp>
        <p:nvGrpSpPr>
          <p:cNvPr name="Group 10" id="10"/>
          <p:cNvGrpSpPr/>
          <p:nvPr/>
        </p:nvGrpSpPr>
        <p:grpSpPr>
          <a:xfrm rot="187008">
            <a:off x="7825090" y="613793"/>
            <a:ext cx="781777" cy="781777"/>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DE59"/>
            </a:solidFill>
          </p:spPr>
        </p:sp>
        <p:sp>
          <p:nvSpPr>
            <p:cNvPr name="TextBox 12" id="12"/>
            <p:cNvSpPr txBox="true"/>
            <p:nvPr/>
          </p:nvSpPr>
          <p:spPr>
            <a:xfrm>
              <a:off x="190500" y="142875"/>
              <a:ext cx="431800" cy="479425"/>
            </a:xfrm>
            <a:prstGeom prst="rect">
              <a:avLst/>
            </a:prstGeom>
          </p:spPr>
          <p:txBody>
            <a:bodyPr anchor="ctr" rtlCol="false" tIns="50800" lIns="50800" bIns="50800" rIns="50800"/>
            <a:lstStyle/>
            <a:p>
              <a:pPr algn="ctr">
                <a:lnSpc>
                  <a:spcPts val="3499"/>
                </a:lnSpc>
              </a:pPr>
            </a:p>
          </p:txBody>
        </p:sp>
      </p:grpSp>
      <p:grpSp>
        <p:nvGrpSpPr>
          <p:cNvPr name="Group 13" id="13"/>
          <p:cNvGrpSpPr/>
          <p:nvPr/>
        </p:nvGrpSpPr>
        <p:grpSpPr>
          <a:xfrm rot="-321674">
            <a:off x="10756391" y="3298590"/>
            <a:ext cx="781777" cy="781777"/>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DE59"/>
            </a:solidFill>
          </p:spPr>
        </p:sp>
        <p:sp>
          <p:nvSpPr>
            <p:cNvPr name="TextBox 15" id="15"/>
            <p:cNvSpPr txBox="true"/>
            <p:nvPr/>
          </p:nvSpPr>
          <p:spPr>
            <a:xfrm>
              <a:off x="190500" y="142875"/>
              <a:ext cx="431800" cy="479425"/>
            </a:xfrm>
            <a:prstGeom prst="rect">
              <a:avLst/>
            </a:prstGeom>
          </p:spPr>
          <p:txBody>
            <a:bodyPr anchor="ctr" rtlCol="false" tIns="50800" lIns="50800" bIns="50800" rIns="50800"/>
            <a:lstStyle/>
            <a:p>
              <a:pPr algn="ctr">
                <a:lnSpc>
                  <a:spcPts val="3499"/>
                </a:lnSpc>
              </a:pPr>
            </a:p>
          </p:txBody>
        </p:sp>
      </p:grpSp>
      <p:sp>
        <p:nvSpPr>
          <p:cNvPr name="Freeform 16" id="16"/>
          <p:cNvSpPr/>
          <p:nvPr/>
        </p:nvSpPr>
        <p:spPr>
          <a:xfrm flipH="false" flipV="false" rot="0">
            <a:off x="12596972" y="371264"/>
            <a:ext cx="4662328" cy="8887036"/>
          </a:xfrm>
          <a:custGeom>
            <a:avLst/>
            <a:gdLst/>
            <a:ahLst/>
            <a:cxnLst/>
            <a:rect r="r" b="b" t="t" l="l"/>
            <a:pathLst>
              <a:path h="8887036" w="4662328">
                <a:moveTo>
                  <a:pt x="0" y="0"/>
                </a:moveTo>
                <a:lnTo>
                  <a:pt x="4662328" y="0"/>
                </a:lnTo>
                <a:lnTo>
                  <a:pt x="4662328" y="8887036"/>
                </a:lnTo>
                <a:lnTo>
                  <a:pt x="0" y="8887036"/>
                </a:lnTo>
                <a:lnTo>
                  <a:pt x="0" y="0"/>
                </a:lnTo>
                <a:close/>
              </a:path>
            </a:pathLst>
          </a:custGeom>
          <a:blipFill>
            <a:blip r:embed="rId6"/>
            <a:stretch>
              <a:fillRect l="0" t="0" r="0" b="0"/>
            </a:stretch>
          </a:blipFill>
        </p:spPr>
      </p:sp>
      <p:sp>
        <p:nvSpPr>
          <p:cNvPr name="TextBox 17" id="17"/>
          <p:cNvSpPr txBox="true"/>
          <p:nvPr/>
        </p:nvSpPr>
        <p:spPr>
          <a:xfrm rot="0">
            <a:off x="387776" y="1340045"/>
            <a:ext cx="7652010" cy="646311"/>
          </a:xfrm>
          <a:prstGeom prst="rect">
            <a:avLst/>
          </a:prstGeom>
        </p:spPr>
        <p:txBody>
          <a:bodyPr anchor="t" rtlCol="false" tIns="0" lIns="0" bIns="0" rIns="0">
            <a:spAutoFit/>
          </a:bodyPr>
          <a:lstStyle/>
          <a:p>
            <a:pPr algn="l">
              <a:lnSpc>
                <a:spcPts val="5348"/>
              </a:lnSpc>
              <a:spcBef>
                <a:spcPct val="0"/>
              </a:spcBef>
            </a:pPr>
            <a:r>
              <a:rPr lang="en-US" b="true" sz="3820">
                <a:solidFill>
                  <a:srgbClr val="101010"/>
                </a:solidFill>
                <a:latin typeface="Canva Sans Bold"/>
                <a:ea typeface="Canva Sans Bold"/>
                <a:cs typeface="Canva Sans Bold"/>
                <a:sym typeface="Canva Sans Bold"/>
              </a:rPr>
              <a:t>Dashboard stat</a:t>
            </a:r>
            <a:r>
              <a:rPr lang="en-US" b="true" sz="3820">
                <a:solidFill>
                  <a:srgbClr val="101010"/>
                </a:solidFill>
                <a:latin typeface="Canva Sans Bold"/>
                <a:ea typeface="Canva Sans Bold"/>
                <a:cs typeface="Canva Sans Bold"/>
                <a:sym typeface="Canva Sans Bold"/>
              </a:rPr>
              <a:t>istik real-time</a:t>
            </a:r>
          </a:p>
        </p:txBody>
      </p:sp>
      <p:sp>
        <p:nvSpPr>
          <p:cNvPr name="TextBox 18" id="18"/>
          <p:cNvSpPr txBox="true"/>
          <p:nvPr/>
        </p:nvSpPr>
        <p:spPr>
          <a:xfrm rot="0">
            <a:off x="387776" y="2447503"/>
            <a:ext cx="10084089" cy="1019175"/>
          </a:xfrm>
          <a:prstGeom prst="rect">
            <a:avLst/>
          </a:prstGeom>
        </p:spPr>
        <p:txBody>
          <a:bodyPr anchor="t" rtlCol="false" tIns="0" lIns="0" bIns="0" rIns="0">
            <a:spAutoFit/>
          </a:bodyPr>
          <a:lstStyle/>
          <a:p>
            <a:pPr algn="l">
              <a:lnSpc>
                <a:spcPts val="4199"/>
              </a:lnSpc>
              <a:spcBef>
                <a:spcPct val="0"/>
              </a:spcBef>
            </a:pPr>
            <a:r>
              <a:rPr lang="en-US" sz="2999">
                <a:solidFill>
                  <a:srgbClr val="101010"/>
                </a:solidFill>
                <a:latin typeface="Canva Sans"/>
                <a:ea typeface="Canva Sans"/>
                <a:cs typeface="Canva Sans"/>
                <a:sym typeface="Canva Sans"/>
              </a:rPr>
              <a:t>Dashboard di perbarui otomatis ketika ada perubahan data seperti Total Pengguna, Total Musik. </a:t>
            </a:r>
          </a:p>
        </p:txBody>
      </p:sp>
      <p:sp>
        <p:nvSpPr>
          <p:cNvPr name="Freeform 19" id="19"/>
          <p:cNvSpPr/>
          <p:nvPr/>
        </p:nvSpPr>
        <p:spPr>
          <a:xfrm flipH="false" flipV="false" rot="0">
            <a:off x="3698997" y="5357655"/>
            <a:ext cx="8210837" cy="9903421"/>
          </a:xfrm>
          <a:custGeom>
            <a:avLst/>
            <a:gdLst/>
            <a:ahLst/>
            <a:cxnLst/>
            <a:rect r="r" b="b" t="t" l="l"/>
            <a:pathLst>
              <a:path h="9903421" w="8210837">
                <a:moveTo>
                  <a:pt x="0" y="0"/>
                </a:moveTo>
                <a:lnTo>
                  <a:pt x="8210837" y="0"/>
                </a:lnTo>
                <a:lnTo>
                  <a:pt x="8210837" y="9903421"/>
                </a:lnTo>
                <a:lnTo>
                  <a:pt x="0" y="990342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20" id="20"/>
          <p:cNvSpPr/>
          <p:nvPr/>
        </p:nvSpPr>
        <p:spPr>
          <a:xfrm flipH="false" flipV="false" rot="0">
            <a:off x="10721579" y="454216"/>
            <a:ext cx="1490446" cy="1490446"/>
          </a:xfrm>
          <a:custGeom>
            <a:avLst/>
            <a:gdLst/>
            <a:ahLst/>
            <a:cxnLst/>
            <a:rect r="r" b="b" t="t" l="l"/>
            <a:pathLst>
              <a:path h="1490446" w="1490446">
                <a:moveTo>
                  <a:pt x="0" y="0"/>
                </a:moveTo>
                <a:lnTo>
                  <a:pt x="1490446" y="0"/>
                </a:lnTo>
                <a:lnTo>
                  <a:pt x="1490446" y="1490445"/>
                </a:lnTo>
                <a:lnTo>
                  <a:pt x="0" y="1490445"/>
                </a:lnTo>
                <a:lnTo>
                  <a:pt x="0" y="0"/>
                </a:lnTo>
                <a:close/>
              </a:path>
            </a:pathLst>
          </a:custGeom>
          <a:blipFill>
            <a:blip r:embed="rId9"/>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76707" y="-366843"/>
            <a:ext cx="21314151" cy="10676209"/>
            <a:chOff x="0" y="0"/>
            <a:chExt cx="28418868" cy="14234945"/>
          </a:xfrm>
        </p:grpSpPr>
        <p:sp>
          <p:nvSpPr>
            <p:cNvPr name="Freeform 3" id="3"/>
            <p:cNvSpPr/>
            <p:nvPr/>
          </p:nvSpPr>
          <p:spPr>
            <a:xfrm flipH="false" flipV="false" rot="0">
              <a:off x="0" y="0"/>
              <a:ext cx="14234945" cy="14234945"/>
            </a:xfrm>
            <a:custGeom>
              <a:avLst/>
              <a:gdLst/>
              <a:ahLst/>
              <a:cxnLst/>
              <a:rect r="r" b="b" t="t" l="l"/>
              <a:pathLst>
                <a:path h="14234945" w="14234945">
                  <a:moveTo>
                    <a:pt x="0" y="0"/>
                  </a:moveTo>
                  <a:lnTo>
                    <a:pt x="14234945" y="0"/>
                  </a:lnTo>
                  <a:lnTo>
                    <a:pt x="14234945" y="14234945"/>
                  </a:lnTo>
                  <a:lnTo>
                    <a:pt x="0" y="14234945"/>
                  </a:lnTo>
                  <a:lnTo>
                    <a:pt x="0" y="0"/>
                  </a:lnTo>
                  <a:close/>
                </a:path>
              </a:pathLst>
            </a:custGeom>
            <a:blipFill>
              <a:blip r:embed="rId2">
                <a:alphaModFix amt="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183923" y="0"/>
              <a:ext cx="14234945" cy="14234945"/>
            </a:xfrm>
            <a:custGeom>
              <a:avLst/>
              <a:gdLst/>
              <a:ahLst/>
              <a:cxnLst/>
              <a:rect r="r" b="b" t="t" l="l"/>
              <a:pathLst>
                <a:path h="14234945" w="14234945">
                  <a:moveTo>
                    <a:pt x="0" y="0"/>
                  </a:moveTo>
                  <a:lnTo>
                    <a:pt x="14234945" y="0"/>
                  </a:lnTo>
                  <a:lnTo>
                    <a:pt x="14234945" y="14234945"/>
                  </a:lnTo>
                  <a:lnTo>
                    <a:pt x="0" y="14234945"/>
                  </a:lnTo>
                  <a:lnTo>
                    <a:pt x="0" y="0"/>
                  </a:lnTo>
                  <a:close/>
                </a:path>
              </a:pathLst>
            </a:custGeom>
            <a:blipFill>
              <a:blip r:embed="rId2">
                <a:alphaModFix amt="3000"/>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976707" y="9537567"/>
            <a:ext cx="20274216" cy="1059151"/>
            <a:chOff x="0" y="0"/>
            <a:chExt cx="5339711" cy="278953"/>
          </a:xfrm>
        </p:grpSpPr>
        <p:sp>
          <p:nvSpPr>
            <p:cNvPr name="Freeform 6" id="6"/>
            <p:cNvSpPr/>
            <p:nvPr/>
          </p:nvSpPr>
          <p:spPr>
            <a:xfrm flipH="false" flipV="false" rot="0">
              <a:off x="0" y="0"/>
              <a:ext cx="5339711" cy="278953"/>
            </a:xfrm>
            <a:custGeom>
              <a:avLst/>
              <a:gdLst/>
              <a:ahLst/>
              <a:cxnLst/>
              <a:rect r="r" b="b" t="t" l="l"/>
              <a:pathLst>
                <a:path h="278953" w="5339711">
                  <a:moveTo>
                    <a:pt x="19475" y="0"/>
                  </a:moveTo>
                  <a:lnTo>
                    <a:pt x="5320236" y="0"/>
                  </a:lnTo>
                  <a:cubicBezTo>
                    <a:pt x="5330992" y="0"/>
                    <a:pt x="5339711" y="8719"/>
                    <a:pt x="5339711" y="19475"/>
                  </a:cubicBezTo>
                  <a:lnTo>
                    <a:pt x="5339711" y="259478"/>
                  </a:lnTo>
                  <a:cubicBezTo>
                    <a:pt x="5339711" y="270234"/>
                    <a:pt x="5330992" y="278953"/>
                    <a:pt x="5320236" y="278953"/>
                  </a:cubicBezTo>
                  <a:lnTo>
                    <a:pt x="19475" y="278953"/>
                  </a:lnTo>
                  <a:cubicBezTo>
                    <a:pt x="8719" y="278953"/>
                    <a:pt x="0" y="270234"/>
                    <a:pt x="0" y="259478"/>
                  </a:cubicBezTo>
                  <a:lnTo>
                    <a:pt x="0" y="19475"/>
                  </a:lnTo>
                  <a:cubicBezTo>
                    <a:pt x="0" y="8719"/>
                    <a:pt x="8719" y="0"/>
                    <a:pt x="19475" y="0"/>
                  </a:cubicBezTo>
                  <a:close/>
                </a:path>
              </a:pathLst>
            </a:custGeom>
            <a:solidFill>
              <a:srgbClr val="CC576F"/>
            </a:solidFill>
          </p:spPr>
        </p:sp>
        <p:sp>
          <p:nvSpPr>
            <p:cNvPr name="TextBox 7" id="7"/>
            <p:cNvSpPr txBox="true"/>
            <p:nvPr/>
          </p:nvSpPr>
          <p:spPr>
            <a:xfrm>
              <a:off x="0" y="-47625"/>
              <a:ext cx="5339711" cy="326578"/>
            </a:xfrm>
            <a:prstGeom prst="rect">
              <a:avLst/>
            </a:prstGeom>
          </p:spPr>
          <p:txBody>
            <a:bodyPr anchor="ctr" rtlCol="false" tIns="50800" lIns="50800" bIns="50800" rIns="50800"/>
            <a:lstStyle/>
            <a:p>
              <a:pPr algn="ctr">
                <a:lnSpc>
                  <a:spcPts val="3499"/>
                </a:lnSpc>
              </a:pPr>
            </a:p>
          </p:txBody>
        </p:sp>
      </p:grpSp>
      <p:sp>
        <p:nvSpPr>
          <p:cNvPr name="Freeform 8" id="8"/>
          <p:cNvSpPr/>
          <p:nvPr/>
        </p:nvSpPr>
        <p:spPr>
          <a:xfrm flipH="true" flipV="false" rot="0">
            <a:off x="145557" y="6984331"/>
            <a:ext cx="4299869" cy="4547939"/>
          </a:xfrm>
          <a:custGeom>
            <a:avLst/>
            <a:gdLst/>
            <a:ahLst/>
            <a:cxnLst/>
            <a:rect r="r" b="b" t="t" l="l"/>
            <a:pathLst>
              <a:path h="4547939" w="4299869">
                <a:moveTo>
                  <a:pt x="4299869" y="0"/>
                </a:moveTo>
                <a:lnTo>
                  <a:pt x="0" y="0"/>
                </a:lnTo>
                <a:lnTo>
                  <a:pt x="0" y="4547938"/>
                </a:lnTo>
                <a:lnTo>
                  <a:pt x="4299869" y="4547938"/>
                </a:lnTo>
                <a:lnTo>
                  <a:pt x="4299869"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9" id="9"/>
          <p:cNvSpPr txBox="true"/>
          <p:nvPr/>
        </p:nvSpPr>
        <p:spPr>
          <a:xfrm rot="0">
            <a:off x="387776" y="516918"/>
            <a:ext cx="8115300" cy="682520"/>
          </a:xfrm>
          <a:prstGeom prst="rect">
            <a:avLst/>
          </a:prstGeom>
        </p:spPr>
        <p:txBody>
          <a:bodyPr anchor="t" rtlCol="false" tIns="0" lIns="0" bIns="0" rIns="0">
            <a:spAutoFit/>
          </a:bodyPr>
          <a:lstStyle/>
          <a:p>
            <a:pPr algn="l">
              <a:lnSpc>
                <a:spcPts val="4379"/>
              </a:lnSpc>
            </a:pPr>
            <a:r>
              <a:rPr lang="en-US" sz="3981" b="true">
                <a:solidFill>
                  <a:srgbClr val="101010"/>
                </a:solidFill>
                <a:latin typeface="Agrandir Grand Ultra-Bold"/>
                <a:ea typeface="Agrandir Grand Ultra-Bold"/>
                <a:cs typeface="Agrandir Grand Ultra-Bold"/>
                <a:sym typeface="Agrandir Grand Ultra-Bold"/>
              </a:rPr>
              <a:t>FITUR UNTUK ADMIN</a:t>
            </a:r>
          </a:p>
        </p:txBody>
      </p:sp>
      <p:grpSp>
        <p:nvGrpSpPr>
          <p:cNvPr name="Group 10" id="10"/>
          <p:cNvGrpSpPr/>
          <p:nvPr/>
        </p:nvGrpSpPr>
        <p:grpSpPr>
          <a:xfrm rot="187008">
            <a:off x="7825090" y="613793"/>
            <a:ext cx="781777" cy="781777"/>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DE59"/>
            </a:solidFill>
          </p:spPr>
        </p:sp>
        <p:sp>
          <p:nvSpPr>
            <p:cNvPr name="TextBox 12" id="12"/>
            <p:cNvSpPr txBox="true"/>
            <p:nvPr/>
          </p:nvSpPr>
          <p:spPr>
            <a:xfrm>
              <a:off x="190500" y="142875"/>
              <a:ext cx="431800" cy="479425"/>
            </a:xfrm>
            <a:prstGeom prst="rect">
              <a:avLst/>
            </a:prstGeom>
          </p:spPr>
          <p:txBody>
            <a:bodyPr anchor="ctr" rtlCol="false" tIns="50800" lIns="50800" bIns="50800" rIns="50800"/>
            <a:lstStyle/>
            <a:p>
              <a:pPr algn="ctr">
                <a:lnSpc>
                  <a:spcPts val="3499"/>
                </a:lnSpc>
              </a:pPr>
            </a:p>
          </p:txBody>
        </p:sp>
      </p:grpSp>
      <p:grpSp>
        <p:nvGrpSpPr>
          <p:cNvPr name="Group 13" id="13"/>
          <p:cNvGrpSpPr/>
          <p:nvPr/>
        </p:nvGrpSpPr>
        <p:grpSpPr>
          <a:xfrm rot="-321674">
            <a:off x="10756391" y="3298590"/>
            <a:ext cx="781777" cy="781777"/>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DE59"/>
            </a:solidFill>
          </p:spPr>
        </p:sp>
        <p:sp>
          <p:nvSpPr>
            <p:cNvPr name="TextBox 15" id="15"/>
            <p:cNvSpPr txBox="true"/>
            <p:nvPr/>
          </p:nvSpPr>
          <p:spPr>
            <a:xfrm>
              <a:off x="190500" y="142875"/>
              <a:ext cx="431800" cy="479425"/>
            </a:xfrm>
            <a:prstGeom prst="rect">
              <a:avLst/>
            </a:prstGeom>
          </p:spPr>
          <p:txBody>
            <a:bodyPr anchor="ctr" rtlCol="false" tIns="50800" lIns="50800" bIns="50800" rIns="50800"/>
            <a:lstStyle/>
            <a:p>
              <a:pPr algn="ctr">
                <a:lnSpc>
                  <a:spcPts val="3499"/>
                </a:lnSpc>
              </a:pPr>
            </a:p>
          </p:txBody>
        </p:sp>
      </p:grpSp>
      <p:sp>
        <p:nvSpPr>
          <p:cNvPr name="TextBox 16" id="16"/>
          <p:cNvSpPr txBox="true"/>
          <p:nvPr/>
        </p:nvSpPr>
        <p:spPr>
          <a:xfrm rot="0">
            <a:off x="387776" y="1340045"/>
            <a:ext cx="3444714" cy="646311"/>
          </a:xfrm>
          <a:prstGeom prst="rect">
            <a:avLst/>
          </a:prstGeom>
        </p:spPr>
        <p:txBody>
          <a:bodyPr anchor="t" rtlCol="false" tIns="0" lIns="0" bIns="0" rIns="0">
            <a:spAutoFit/>
          </a:bodyPr>
          <a:lstStyle/>
          <a:p>
            <a:pPr algn="l">
              <a:lnSpc>
                <a:spcPts val="5348"/>
              </a:lnSpc>
              <a:spcBef>
                <a:spcPct val="0"/>
              </a:spcBef>
            </a:pPr>
            <a:r>
              <a:rPr lang="en-US" b="true" sz="3820">
                <a:solidFill>
                  <a:srgbClr val="101010"/>
                </a:solidFill>
                <a:latin typeface="Canva Sans Bold"/>
                <a:ea typeface="Canva Sans Bold"/>
                <a:cs typeface="Canva Sans Bold"/>
                <a:sym typeface="Canva Sans Bold"/>
              </a:rPr>
              <a:t>Upload musik</a:t>
            </a:r>
          </a:p>
        </p:txBody>
      </p:sp>
      <p:sp>
        <p:nvSpPr>
          <p:cNvPr name="Freeform 17" id="17"/>
          <p:cNvSpPr/>
          <p:nvPr/>
        </p:nvSpPr>
        <p:spPr>
          <a:xfrm flipH="false" flipV="false" rot="0">
            <a:off x="3698997" y="5357655"/>
            <a:ext cx="8210837" cy="9903421"/>
          </a:xfrm>
          <a:custGeom>
            <a:avLst/>
            <a:gdLst/>
            <a:ahLst/>
            <a:cxnLst/>
            <a:rect r="r" b="b" t="t" l="l"/>
            <a:pathLst>
              <a:path h="9903421" w="8210837">
                <a:moveTo>
                  <a:pt x="0" y="0"/>
                </a:moveTo>
                <a:lnTo>
                  <a:pt x="8210837" y="0"/>
                </a:lnTo>
                <a:lnTo>
                  <a:pt x="8210837" y="9903421"/>
                </a:lnTo>
                <a:lnTo>
                  <a:pt x="0" y="990342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18" id="18"/>
          <p:cNvSpPr/>
          <p:nvPr/>
        </p:nvSpPr>
        <p:spPr>
          <a:xfrm flipH="false" flipV="false" rot="0">
            <a:off x="10721579" y="454216"/>
            <a:ext cx="1490446" cy="1490446"/>
          </a:xfrm>
          <a:custGeom>
            <a:avLst/>
            <a:gdLst/>
            <a:ahLst/>
            <a:cxnLst/>
            <a:rect r="r" b="b" t="t" l="l"/>
            <a:pathLst>
              <a:path h="1490446" w="1490446">
                <a:moveTo>
                  <a:pt x="0" y="0"/>
                </a:moveTo>
                <a:lnTo>
                  <a:pt x="1490446" y="0"/>
                </a:lnTo>
                <a:lnTo>
                  <a:pt x="1490446" y="1490445"/>
                </a:lnTo>
                <a:lnTo>
                  <a:pt x="0" y="1490445"/>
                </a:lnTo>
                <a:lnTo>
                  <a:pt x="0" y="0"/>
                </a:lnTo>
                <a:close/>
              </a:path>
            </a:pathLst>
          </a:custGeom>
          <a:blipFill>
            <a:blip r:embed="rId8"/>
            <a:stretch>
              <a:fillRect l="0" t="0" r="0" b="0"/>
            </a:stretch>
          </a:blipFill>
        </p:spPr>
      </p:sp>
      <p:sp>
        <p:nvSpPr>
          <p:cNvPr name="Freeform 19" id="19"/>
          <p:cNvSpPr/>
          <p:nvPr/>
        </p:nvSpPr>
        <p:spPr>
          <a:xfrm flipH="false" flipV="false" rot="0">
            <a:off x="12563282" y="314204"/>
            <a:ext cx="4319214" cy="8944096"/>
          </a:xfrm>
          <a:custGeom>
            <a:avLst/>
            <a:gdLst/>
            <a:ahLst/>
            <a:cxnLst/>
            <a:rect r="r" b="b" t="t" l="l"/>
            <a:pathLst>
              <a:path h="8944096" w="4319214">
                <a:moveTo>
                  <a:pt x="0" y="0"/>
                </a:moveTo>
                <a:lnTo>
                  <a:pt x="4319214" y="0"/>
                </a:lnTo>
                <a:lnTo>
                  <a:pt x="4319214" y="8944096"/>
                </a:lnTo>
                <a:lnTo>
                  <a:pt x="0" y="8944096"/>
                </a:lnTo>
                <a:lnTo>
                  <a:pt x="0" y="0"/>
                </a:lnTo>
                <a:close/>
              </a:path>
            </a:pathLst>
          </a:custGeom>
          <a:blipFill>
            <a:blip r:embed="rId9"/>
            <a:stretch>
              <a:fillRect l="0" t="0" r="0" b="0"/>
            </a:stretch>
          </a:blipFill>
        </p:spPr>
      </p:sp>
      <p:sp>
        <p:nvSpPr>
          <p:cNvPr name="TextBox 20" id="20"/>
          <p:cNvSpPr txBox="true"/>
          <p:nvPr/>
        </p:nvSpPr>
        <p:spPr>
          <a:xfrm rot="0">
            <a:off x="387776" y="2447503"/>
            <a:ext cx="10084089" cy="1543050"/>
          </a:xfrm>
          <a:prstGeom prst="rect">
            <a:avLst/>
          </a:prstGeom>
        </p:spPr>
        <p:txBody>
          <a:bodyPr anchor="t" rtlCol="false" tIns="0" lIns="0" bIns="0" rIns="0">
            <a:spAutoFit/>
          </a:bodyPr>
          <a:lstStyle/>
          <a:p>
            <a:pPr algn="l">
              <a:lnSpc>
                <a:spcPts val="4199"/>
              </a:lnSpc>
              <a:spcBef>
                <a:spcPct val="0"/>
              </a:spcBef>
            </a:pPr>
            <a:r>
              <a:rPr lang="en-US" sz="2999">
                <a:solidFill>
                  <a:srgbClr val="101010"/>
                </a:solidFill>
                <a:latin typeface="Canva Sans"/>
                <a:ea typeface="Canva Sans"/>
                <a:cs typeface="Canva Sans"/>
                <a:sym typeface="Canva Sans"/>
              </a:rPr>
              <a:t>Admin bisa mengisi inputan data dari musik yang akan di upload, setelah melakukan reaseach pada jurnal atau buku dan dokter yang mendukung</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76707" y="-366843"/>
            <a:ext cx="21314151" cy="10676209"/>
            <a:chOff x="0" y="0"/>
            <a:chExt cx="28418868" cy="14234945"/>
          </a:xfrm>
        </p:grpSpPr>
        <p:sp>
          <p:nvSpPr>
            <p:cNvPr name="Freeform 3" id="3"/>
            <p:cNvSpPr/>
            <p:nvPr/>
          </p:nvSpPr>
          <p:spPr>
            <a:xfrm flipH="false" flipV="false" rot="0">
              <a:off x="0" y="0"/>
              <a:ext cx="14234945" cy="14234945"/>
            </a:xfrm>
            <a:custGeom>
              <a:avLst/>
              <a:gdLst/>
              <a:ahLst/>
              <a:cxnLst/>
              <a:rect r="r" b="b" t="t" l="l"/>
              <a:pathLst>
                <a:path h="14234945" w="14234945">
                  <a:moveTo>
                    <a:pt x="0" y="0"/>
                  </a:moveTo>
                  <a:lnTo>
                    <a:pt x="14234945" y="0"/>
                  </a:lnTo>
                  <a:lnTo>
                    <a:pt x="14234945" y="14234945"/>
                  </a:lnTo>
                  <a:lnTo>
                    <a:pt x="0" y="14234945"/>
                  </a:lnTo>
                  <a:lnTo>
                    <a:pt x="0" y="0"/>
                  </a:lnTo>
                  <a:close/>
                </a:path>
              </a:pathLst>
            </a:custGeom>
            <a:blipFill>
              <a:blip r:embed="rId2">
                <a:alphaModFix amt="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183923" y="0"/>
              <a:ext cx="14234945" cy="14234945"/>
            </a:xfrm>
            <a:custGeom>
              <a:avLst/>
              <a:gdLst/>
              <a:ahLst/>
              <a:cxnLst/>
              <a:rect r="r" b="b" t="t" l="l"/>
              <a:pathLst>
                <a:path h="14234945" w="14234945">
                  <a:moveTo>
                    <a:pt x="0" y="0"/>
                  </a:moveTo>
                  <a:lnTo>
                    <a:pt x="14234945" y="0"/>
                  </a:lnTo>
                  <a:lnTo>
                    <a:pt x="14234945" y="14234945"/>
                  </a:lnTo>
                  <a:lnTo>
                    <a:pt x="0" y="14234945"/>
                  </a:lnTo>
                  <a:lnTo>
                    <a:pt x="0" y="0"/>
                  </a:lnTo>
                  <a:close/>
                </a:path>
              </a:pathLst>
            </a:custGeom>
            <a:blipFill>
              <a:blip r:embed="rId2">
                <a:alphaModFix amt="3000"/>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976707" y="9537567"/>
            <a:ext cx="20274216" cy="1059151"/>
            <a:chOff x="0" y="0"/>
            <a:chExt cx="5339711" cy="278953"/>
          </a:xfrm>
        </p:grpSpPr>
        <p:sp>
          <p:nvSpPr>
            <p:cNvPr name="Freeform 6" id="6"/>
            <p:cNvSpPr/>
            <p:nvPr/>
          </p:nvSpPr>
          <p:spPr>
            <a:xfrm flipH="false" flipV="false" rot="0">
              <a:off x="0" y="0"/>
              <a:ext cx="5339711" cy="278953"/>
            </a:xfrm>
            <a:custGeom>
              <a:avLst/>
              <a:gdLst/>
              <a:ahLst/>
              <a:cxnLst/>
              <a:rect r="r" b="b" t="t" l="l"/>
              <a:pathLst>
                <a:path h="278953" w="5339711">
                  <a:moveTo>
                    <a:pt x="19475" y="0"/>
                  </a:moveTo>
                  <a:lnTo>
                    <a:pt x="5320236" y="0"/>
                  </a:lnTo>
                  <a:cubicBezTo>
                    <a:pt x="5330992" y="0"/>
                    <a:pt x="5339711" y="8719"/>
                    <a:pt x="5339711" y="19475"/>
                  </a:cubicBezTo>
                  <a:lnTo>
                    <a:pt x="5339711" y="259478"/>
                  </a:lnTo>
                  <a:cubicBezTo>
                    <a:pt x="5339711" y="270234"/>
                    <a:pt x="5330992" y="278953"/>
                    <a:pt x="5320236" y="278953"/>
                  </a:cubicBezTo>
                  <a:lnTo>
                    <a:pt x="19475" y="278953"/>
                  </a:lnTo>
                  <a:cubicBezTo>
                    <a:pt x="8719" y="278953"/>
                    <a:pt x="0" y="270234"/>
                    <a:pt x="0" y="259478"/>
                  </a:cubicBezTo>
                  <a:lnTo>
                    <a:pt x="0" y="19475"/>
                  </a:lnTo>
                  <a:cubicBezTo>
                    <a:pt x="0" y="8719"/>
                    <a:pt x="8719" y="0"/>
                    <a:pt x="19475" y="0"/>
                  </a:cubicBezTo>
                  <a:close/>
                </a:path>
              </a:pathLst>
            </a:custGeom>
            <a:solidFill>
              <a:srgbClr val="CC576F"/>
            </a:solidFill>
          </p:spPr>
        </p:sp>
        <p:sp>
          <p:nvSpPr>
            <p:cNvPr name="TextBox 7" id="7"/>
            <p:cNvSpPr txBox="true"/>
            <p:nvPr/>
          </p:nvSpPr>
          <p:spPr>
            <a:xfrm>
              <a:off x="0" y="-47625"/>
              <a:ext cx="5339711" cy="326578"/>
            </a:xfrm>
            <a:prstGeom prst="rect">
              <a:avLst/>
            </a:prstGeom>
          </p:spPr>
          <p:txBody>
            <a:bodyPr anchor="ctr" rtlCol="false" tIns="50800" lIns="50800" bIns="50800" rIns="50800"/>
            <a:lstStyle/>
            <a:p>
              <a:pPr algn="ctr">
                <a:lnSpc>
                  <a:spcPts val="3499"/>
                </a:lnSpc>
              </a:pPr>
            </a:p>
          </p:txBody>
        </p:sp>
      </p:grpSp>
      <p:sp>
        <p:nvSpPr>
          <p:cNvPr name="Freeform 8" id="8"/>
          <p:cNvSpPr/>
          <p:nvPr/>
        </p:nvSpPr>
        <p:spPr>
          <a:xfrm flipH="true" flipV="false" rot="0">
            <a:off x="145557" y="6984331"/>
            <a:ext cx="4299869" cy="4547939"/>
          </a:xfrm>
          <a:custGeom>
            <a:avLst/>
            <a:gdLst/>
            <a:ahLst/>
            <a:cxnLst/>
            <a:rect r="r" b="b" t="t" l="l"/>
            <a:pathLst>
              <a:path h="4547939" w="4299869">
                <a:moveTo>
                  <a:pt x="4299869" y="0"/>
                </a:moveTo>
                <a:lnTo>
                  <a:pt x="0" y="0"/>
                </a:lnTo>
                <a:lnTo>
                  <a:pt x="0" y="4547938"/>
                </a:lnTo>
                <a:lnTo>
                  <a:pt x="4299869" y="4547938"/>
                </a:lnTo>
                <a:lnTo>
                  <a:pt x="4299869"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9" id="9"/>
          <p:cNvSpPr txBox="true"/>
          <p:nvPr/>
        </p:nvSpPr>
        <p:spPr>
          <a:xfrm rot="0">
            <a:off x="387776" y="516918"/>
            <a:ext cx="8115300" cy="682520"/>
          </a:xfrm>
          <a:prstGeom prst="rect">
            <a:avLst/>
          </a:prstGeom>
        </p:spPr>
        <p:txBody>
          <a:bodyPr anchor="t" rtlCol="false" tIns="0" lIns="0" bIns="0" rIns="0">
            <a:spAutoFit/>
          </a:bodyPr>
          <a:lstStyle/>
          <a:p>
            <a:pPr algn="l">
              <a:lnSpc>
                <a:spcPts val="4379"/>
              </a:lnSpc>
            </a:pPr>
            <a:r>
              <a:rPr lang="en-US" sz="3981" b="true">
                <a:solidFill>
                  <a:srgbClr val="101010"/>
                </a:solidFill>
                <a:latin typeface="Agrandir Grand Ultra-Bold"/>
                <a:ea typeface="Agrandir Grand Ultra-Bold"/>
                <a:cs typeface="Agrandir Grand Ultra-Bold"/>
                <a:sym typeface="Agrandir Grand Ultra-Bold"/>
              </a:rPr>
              <a:t>FITUR UNTUK ADMIN</a:t>
            </a:r>
          </a:p>
        </p:txBody>
      </p:sp>
      <p:grpSp>
        <p:nvGrpSpPr>
          <p:cNvPr name="Group 10" id="10"/>
          <p:cNvGrpSpPr/>
          <p:nvPr/>
        </p:nvGrpSpPr>
        <p:grpSpPr>
          <a:xfrm rot="187008">
            <a:off x="7825090" y="613793"/>
            <a:ext cx="781777" cy="781777"/>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DE59"/>
            </a:solidFill>
          </p:spPr>
        </p:sp>
        <p:sp>
          <p:nvSpPr>
            <p:cNvPr name="TextBox 12" id="12"/>
            <p:cNvSpPr txBox="true"/>
            <p:nvPr/>
          </p:nvSpPr>
          <p:spPr>
            <a:xfrm>
              <a:off x="190500" y="142875"/>
              <a:ext cx="431800" cy="479425"/>
            </a:xfrm>
            <a:prstGeom prst="rect">
              <a:avLst/>
            </a:prstGeom>
          </p:spPr>
          <p:txBody>
            <a:bodyPr anchor="ctr" rtlCol="false" tIns="50800" lIns="50800" bIns="50800" rIns="50800"/>
            <a:lstStyle/>
            <a:p>
              <a:pPr algn="ctr">
                <a:lnSpc>
                  <a:spcPts val="3499"/>
                </a:lnSpc>
              </a:pPr>
            </a:p>
          </p:txBody>
        </p:sp>
      </p:grpSp>
      <p:grpSp>
        <p:nvGrpSpPr>
          <p:cNvPr name="Group 13" id="13"/>
          <p:cNvGrpSpPr/>
          <p:nvPr/>
        </p:nvGrpSpPr>
        <p:grpSpPr>
          <a:xfrm rot="-321674">
            <a:off x="10896872" y="2650088"/>
            <a:ext cx="781777" cy="781777"/>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DE59"/>
            </a:solidFill>
          </p:spPr>
        </p:sp>
        <p:sp>
          <p:nvSpPr>
            <p:cNvPr name="TextBox 15" id="15"/>
            <p:cNvSpPr txBox="true"/>
            <p:nvPr/>
          </p:nvSpPr>
          <p:spPr>
            <a:xfrm>
              <a:off x="190500" y="142875"/>
              <a:ext cx="431800" cy="479425"/>
            </a:xfrm>
            <a:prstGeom prst="rect">
              <a:avLst/>
            </a:prstGeom>
          </p:spPr>
          <p:txBody>
            <a:bodyPr anchor="ctr" rtlCol="false" tIns="50800" lIns="50800" bIns="50800" rIns="50800"/>
            <a:lstStyle/>
            <a:p>
              <a:pPr algn="ctr">
                <a:lnSpc>
                  <a:spcPts val="3499"/>
                </a:lnSpc>
              </a:pPr>
            </a:p>
          </p:txBody>
        </p:sp>
      </p:grpSp>
      <p:sp>
        <p:nvSpPr>
          <p:cNvPr name="Freeform 16" id="16"/>
          <p:cNvSpPr/>
          <p:nvPr/>
        </p:nvSpPr>
        <p:spPr>
          <a:xfrm flipH="false" flipV="false" rot="0">
            <a:off x="10721579" y="454216"/>
            <a:ext cx="1490446" cy="1490446"/>
          </a:xfrm>
          <a:custGeom>
            <a:avLst/>
            <a:gdLst/>
            <a:ahLst/>
            <a:cxnLst/>
            <a:rect r="r" b="b" t="t" l="l"/>
            <a:pathLst>
              <a:path h="1490446" w="1490446">
                <a:moveTo>
                  <a:pt x="0" y="0"/>
                </a:moveTo>
                <a:lnTo>
                  <a:pt x="1490446" y="0"/>
                </a:lnTo>
                <a:lnTo>
                  <a:pt x="1490446" y="1490445"/>
                </a:lnTo>
                <a:lnTo>
                  <a:pt x="0" y="1490445"/>
                </a:lnTo>
                <a:lnTo>
                  <a:pt x="0" y="0"/>
                </a:lnTo>
                <a:close/>
              </a:path>
            </a:pathLst>
          </a:custGeom>
          <a:blipFill>
            <a:blip r:embed="rId6"/>
            <a:stretch>
              <a:fillRect l="0" t="0" r="0" b="0"/>
            </a:stretch>
          </a:blipFill>
        </p:spPr>
      </p:sp>
      <p:sp>
        <p:nvSpPr>
          <p:cNvPr name="Freeform 17" id="17"/>
          <p:cNvSpPr/>
          <p:nvPr/>
        </p:nvSpPr>
        <p:spPr>
          <a:xfrm flipH="false" flipV="false" rot="0">
            <a:off x="12754767" y="314204"/>
            <a:ext cx="4504533" cy="8944096"/>
          </a:xfrm>
          <a:custGeom>
            <a:avLst/>
            <a:gdLst/>
            <a:ahLst/>
            <a:cxnLst/>
            <a:rect r="r" b="b" t="t" l="l"/>
            <a:pathLst>
              <a:path h="8944096" w="4504533">
                <a:moveTo>
                  <a:pt x="0" y="0"/>
                </a:moveTo>
                <a:lnTo>
                  <a:pt x="4504533" y="0"/>
                </a:lnTo>
                <a:lnTo>
                  <a:pt x="4504533" y="8944096"/>
                </a:lnTo>
                <a:lnTo>
                  <a:pt x="0" y="8944096"/>
                </a:lnTo>
                <a:lnTo>
                  <a:pt x="0" y="0"/>
                </a:lnTo>
                <a:close/>
              </a:path>
            </a:pathLst>
          </a:custGeom>
          <a:blipFill>
            <a:blip r:embed="rId7"/>
            <a:stretch>
              <a:fillRect l="0" t="0" r="0" b="0"/>
            </a:stretch>
          </a:blipFill>
        </p:spPr>
      </p:sp>
      <p:sp>
        <p:nvSpPr>
          <p:cNvPr name="Freeform 18" id="18"/>
          <p:cNvSpPr/>
          <p:nvPr/>
        </p:nvSpPr>
        <p:spPr>
          <a:xfrm flipH="false" flipV="false" rot="0">
            <a:off x="9512094" y="3739861"/>
            <a:ext cx="2699930" cy="5518439"/>
          </a:xfrm>
          <a:custGeom>
            <a:avLst/>
            <a:gdLst/>
            <a:ahLst/>
            <a:cxnLst/>
            <a:rect r="r" b="b" t="t" l="l"/>
            <a:pathLst>
              <a:path h="5518439" w="2699930">
                <a:moveTo>
                  <a:pt x="0" y="0"/>
                </a:moveTo>
                <a:lnTo>
                  <a:pt x="2699931" y="0"/>
                </a:lnTo>
                <a:lnTo>
                  <a:pt x="2699931" y="5518439"/>
                </a:lnTo>
                <a:lnTo>
                  <a:pt x="0" y="5518439"/>
                </a:lnTo>
                <a:lnTo>
                  <a:pt x="0" y="0"/>
                </a:lnTo>
                <a:close/>
              </a:path>
            </a:pathLst>
          </a:custGeom>
          <a:blipFill>
            <a:blip r:embed="rId8"/>
            <a:stretch>
              <a:fillRect l="0" t="0" r="0" b="0"/>
            </a:stretch>
          </a:blipFill>
        </p:spPr>
      </p:sp>
      <p:sp>
        <p:nvSpPr>
          <p:cNvPr name="Freeform 19" id="19"/>
          <p:cNvSpPr/>
          <p:nvPr/>
        </p:nvSpPr>
        <p:spPr>
          <a:xfrm flipH="false" flipV="false" rot="0">
            <a:off x="6205760" y="3739861"/>
            <a:ext cx="2706327" cy="5518439"/>
          </a:xfrm>
          <a:custGeom>
            <a:avLst/>
            <a:gdLst/>
            <a:ahLst/>
            <a:cxnLst/>
            <a:rect r="r" b="b" t="t" l="l"/>
            <a:pathLst>
              <a:path h="5518439" w="2706327">
                <a:moveTo>
                  <a:pt x="0" y="0"/>
                </a:moveTo>
                <a:lnTo>
                  <a:pt x="2706327" y="0"/>
                </a:lnTo>
                <a:lnTo>
                  <a:pt x="2706327" y="5518439"/>
                </a:lnTo>
                <a:lnTo>
                  <a:pt x="0" y="5518439"/>
                </a:lnTo>
                <a:lnTo>
                  <a:pt x="0" y="0"/>
                </a:lnTo>
                <a:close/>
              </a:path>
            </a:pathLst>
          </a:custGeom>
          <a:blipFill>
            <a:blip r:embed="rId9"/>
            <a:stretch>
              <a:fillRect l="0" t="0" r="0" b="0"/>
            </a:stretch>
          </a:blipFill>
        </p:spPr>
      </p:sp>
      <p:sp>
        <p:nvSpPr>
          <p:cNvPr name="TextBox 20" id="20"/>
          <p:cNvSpPr txBox="true"/>
          <p:nvPr/>
        </p:nvSpPr>
        <p:spPr>
          <a:xfrm rot="0">
            <a:off x="387776" y="1340045"/>
            <a:ext cx="3444714" cy="646311"/>
          </a:xfrm>
          <a:prstGeom prst="rect">
            <a:avLst/>
          </a:prstGeom>
        </p:spPr>
        <p:txBody>
          <a:bodyPr anchor="t" rtlCol="false" tIns="0" lIns="0" bIns="0" rIns="0">
            <a:spAutoFit/>
          </a:bodyPr>
          <a:lstStyle/>
          <a:p>
            <a:pPr algn="l">
              <a:lnSpc>
                <a:spcPts val="5348"/>
              </a:lnSpc>
              <a:spcBef>
                <a:spcPct val="0"/>
              </a:spcBef>
            </a:pPr>
            <a:r>
              <a:rPr lang="en-US" b="true" sz="3820">
                <a:solidFill>
                  <a:srgbClr val="101010"/>
                </a:solidFill>
                <a:latin typeface="Canva Sans Bold"/>
                <a:ea typeface="Canva Sans Bold"/>
                <a:cs typeface="Canva Sans Bold"/>
                <a:sym typeface="Canva Sans Bold"/>
              </a:rPr>
              <a:t>Edit &amp; hapus</a:t>
            </a:r>
          </a:p>
        </p:txBody>
      </p:sp>
      <p:sp>
        <p:nvSpPr>
          <p:cNvPr name="TextBox 21" id="21"/>
          <p:cNvSpPr txBox="true"/>
          <p:nvPr/>
        </p:nvSpPr>
        <p:spPr>
          <a:xfrm rot="0">
            <a:off x="387776" y="2447503"/>
            <a:ext cx="10084089" cy="1019175"/>
          </a:xfrm>
          <a:prstGeom prst="rect">
            <a:avLst/>
          </a:prstGeom>
        </p:spPr>
        <p:txBody>
          <a:bodyPr anchor="t" rtlCol="false" tIns="0" lIns="0" bIns="0" rIns="0">
            <a:spAutoFit/>
          </a:bodyPr>
          <a:lstStyle/>
          <a:p>
            <a:pPr algn="l">
              <a:lnSpc>
                <a:spcPts val="4199"/>
              </a:lnSpc>
              <a:spcBef>
                <a:spcPct val="0"/>
              </a:spcBef>
            </a:pPr>
            <a:r>
              <a:rPr lang="en-US" sz="2999">
                <a:solidFill>
                  <a:srgbClr val="101010"/>
                </a:solidFill>
                <a:latin typeface="Canva Sans"/>
                <a:ea typeface="Canva Sans"/>
                <a:cs typeface="Canva Sans"/>
                <a:sym typeface="Canva Sans"/>
              </a:rPr>
              <a:t>Admin bisa melakukan Update &amp; Hapus data dari musik yang telah di upload dan pencarian musik</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76707" y="-366843"/>
            <a:ext cx="21314151" cy="10676209"/>
            <a:chOff x="0" y="0"/>
            <a:chExt cx="28418868" cy="14234945"/>
          </a:xfrm>
        </p:grpSpPr>
        <p:sp>
          <p:nvSpPr>
            <p:cNvPr name="Freeform 3" id="3"/>
            <p:cNvSpPr/>
            <p:nvPr/>
          </p:nvSpPr>
          <p:spPr>
            <a:xfrm flipH="false" flipV="false" rot="0">
              <a:off x="0" y="0"/>
              <a:ext cx="14234945" cy="14234945"/>
            </a:xfrm>
            <a:custGeom>
              <a:avLst/>
              <a:gdLst/>
              <a:ahLst/>
              <a:cxnLst/>
              <a:rect r="r" b="b" t="t" l="l"/>
              <a:pathLst>
                <a:path h="14234945" w="14234945">
                  <a:moveTo>
                    <a:pt x="0" y="0"/>
                  </a:moveTo>
                  <a:lnTo>
                    <a:pt x="14234945" y="0"/>
                  </a:lnTo>
                  <a:lnTo>
                    <a:pt x="14234945" y="14234945"/>
                  </a:lnTo>
                  <a:lnTo>
                    <a:pt x="0" y="14234945"/>
                  </a:lnTo>
                  <a:lnTo>
                    <a:pt x="0" y="0"/>
                  </a:lnTo>
                  <a:close/>
                </a:path>
              </a:pathLst>
            </a:custGeom>
            <a:blipFill>
              <a:blip r:embed="rId2">
                <a:alphaModFix amt="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183923" y="0"/>
              <a:ext cx="14234945" cy="14234945"/>
            </a:xfrm>
            <a:custGeom>
              <a:avLst/>
              <a:gdLst/>
              <a:ahLst/>
              <a:cxnLst/>
              <a:rect r="r" b="b" t="t" l="l"/>
              <a:pathLst>
                <a:path h="14234945" w="14234945">
                  <a:moveTo>
                    <a:pt x="0" y="0"/>
                  </a:moveTo>
                  <a:lnTo>
                    <a:pt x="14234945" y="0"/>
                  </a:lnTo>
                  <a:lnTo>
                    <a:pt x="14234945" y="14234945"/>
                  </a:lnTo>
                  <a:lnTo>
                    <a:pt x="0" y="14234945"/>
                  </a:lnTo>
                  <a:lnTo>
                    <a:pt x="0" y="0"/>
                  </a:lnTo>
                  <a:close/>
                </a:path>
              </a:pathLst>
            </a:custGeom>
            <a:blipFill>
              <a:blip r:embed="rId2">
                <a:alphaModFix amt="3000"/>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976707" y="9537567"/>
            <a:ext cx="20274216" cy="1059151"/>
            <a:chOff x="0" y="0"/>
            <a:chExt cx="5339711" cy="278953"/>
          </a:xfrm>
        </p:grpSpPr>
        <p:sp>
          <p:nvSpPr>
            <p:cNvPr name="Freeform 6" id="6"/>
            <p:cNvSpPr/>
            <p:nvPr/>
          </p:nvSpPr>
          <p:spPr>
            <a:xfrm flipH="false" flipV="false" rot="0">
              <a:off x="0" y="0"/>
              <a:ext cx="5339711" cy="278953"/>
            </a:xfrm>
            <a:custGeom>
              <a:avLst/>
              <a:gdLst/>
              <a:ahLst/>
              <a:cxnLst/>
              <a:rect r="r" b="b" t="t" l="l"/>
              <a:pathLst>
                <a:path h="278953" w="5339711">
                  <a:moveTo>
                    <a:pt x="19475" y="0"/>
                  </a:moveTo>
                  <a:lnTo>
                    <a:pt x="5320236" y="0"/>
                  </a:lnTo>
                  <a:cubicBezTo>
                    <a:pt x="5330992" y="0"/>
                    <a:pt x="5339711" y="8719"/>
                    <a:pt x="5339711" y="19475"/>
                  </a:cubicBezTo>
                  <a:lnTo>
                    <a:pt x="5339711" y="259478"/>
                  </a:lnTo>
                  <a:cubicBezTo>
                    <a:pt x="5339711" y="270234"/>
                    <a:pt x="5330992" y="278953"/>
                    <a:pt x="5320236" y="278953"/>
                  </a:cubicBezTo>
                  <a:lnTo>
                    <a:pt x="19475" y="278953"/>
                  </a:lnTo>
                  <a:cubicBezTo>
                    <a:pt x="8719" y="278953"/>
                    <a:pt x="0" y="270234"/>
                    <a:pt x="0" y="259478"/>
                  </a:cubicBezTo>
                  <a:lnTo>
                    <a:pt x="0" y="19475"/>
                  </a:lnTo>
                  <a:cubicBezTo>
                    <a:pt x="0" y="8719"/>
                    <a:pt x="8719" y="0"/>
                    <a:pt x="19475" y="0"/>
                  </a:cubicBezTo>
                  <a:close/>
                </a:path>
              </a:pathLst>
            </a:custGeom>
            <a:solidFill>
              <a:srgbClr val="CC576F"/>
            </a:solidFill>
          </p:spPr>
        </p:sp>
        <p:sp>
          <p:nvSpPr>
            <p:cNvPr name="TextBox 7" id="7"/>
            <p:cNvSpPr txBox="true"/>
            <p:nvPr/>
          </p:nvSpPr>
          <p:spPr>
            <a:xfrm>
              <a:off x="0" y="-47625"/>
              <a:ext cx="5339711" cy="326578"/>
            </a:xfrm>
            <a:prstGeom prst="rect">
              <a:avLst/>
            </a:prstGeom>
          </p:spPr>
          <p:txBody>
            <a:bodyPr anchor="ctr" rtlCol="false" tIns="50800" lIns="50800" bIns="50800" rIns="50800"/>
            <a:lstStyle/>
            <a:p>
              <a:pPr algn="ctr">
                <a:lnSpc>
                  <a:spcPts val="3499"/>
                </a:lnSpc>
              </a:pPr>
            </a:p>
          </p:txBody>
        </p:sp>
      </p:grpSp>
      <p:sp>
        <p:nvSpPr>
          <p:cNvPr name="Freeform 8" id="8"/>
          <p:cNvSpPr/>
          <p:nvPr/>
        </p:nvSpPr>
        <p:spPr>
          <a:xfrm flipH="true" flipV="false" rot="0">
            <a:off x="145557" y="6984331"/>
            <a:ext cx="4299869" cy="4547939"/>
          </a:xfrm>
          <a:custGeom>
            <a:avLst/>
            <a:gdLst/>
            <a:ahLst/>
            <a:cxnLst/>
            <a:rect r="r" b="b" t="t" l="l"/>
            <a:pathLst>
              <a:path h="4547939" w="4299869">
                <a:moveTo>
                  <a:pt x="4299869" y="0"/>
                </a:moveTo>
                <a:lnTo>
                  <a:pt x="0" y="0"/>
                </a:lnTo>
                <a:lnTo>
                  <a:pt x="0" y="4547938"/>
                </a:lnTo>
                <a:lnTo>
                  <a:pt x="4299869" y="4547938"/>
                </a:lnTo>
                <a:lnTo>
                  <a:pt x="4299869"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9" id="9"/>
          <p:cNvSpPr txBox="true"/>
          <p:nvPr/>
        </p:nvSpPr>
        <p:spPr>
          <a:xfrm rot="0">
            <a:off x="387776" y="516918"/>
            <a:ext cx="8115300" cy="682520"/>
          </a:xfrm>
          <a:prstGeom prst="rect">
            <a:avLst/>
          </a:prstGeom>
        </p:spPr>
        <p:txBody>
          <a:bodyPr anchor="t" rtlCol="false" tIns="0" lIns="0" bIns="0" rIns="0">
            <a:spAutoFit/>
          </a:bodyPr>
          <a:lstStyle/>
          <a:p>
            <a:pPr algn="l">
              <a:lnSpc>
                <a:spcPts val="4379"/>
              </a:lnSpc>
            </a:pPr>
            <a:r>
              <a:rPr lang="en-US" sz="3981" b="true">
                <a:solidFill>
                  <a:srgbClr val="101010"/>
                </a:solidFill>
                <a:latin typeface="Agrandir Grand Ultra-Bold"/>
                <a:ea typeface="Agrandir Grand Ultra-Bold"/>
                <a:cs typeface="Agrandir Grand Ultra-Bold"/>
                <a:sym typeface="Agrandir Grand Ultra-Bold"/>
              </a:rPr>
              <a:t>FITUR UNTUK ADMIN</a:t>
            </a:r>
          </a:p>
        </p:txBody>
      </p:sp>
      <p:grpSp>
        <p:nvGrpSpPr>
          <p:cNvPr name="Group 10" id="10"/>
          <p:cNvGrpSpPr/>
          <p:nvPr/>
        </p:nvGrpSpPr>
        <p:grpSpPr>
          <a:xfrm rot="187008">
            <a:off x="7825090" y="613793"/>
            <a:ext cx="781777" cy="781777"/>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DE59"/>
            </a:solidFill>
          </p:spPr>
        </p:sp>
        <p:sp>
          <p:nvSpPr>
            <p:cNvPr name="TextBox 12" id="12"/>
            <p:cNvSpPr txBox="true"/>
            <p:nvPr/>
          </p:nvSpPr>
          <p:spPr>
            <a:xfrm>
              <a:off x="190500" y="142875"/>
              <a:ext cx="431800" cy="479425"/>
            </a:xfrm>
            <a:prstGeom prst="rect">
              <a:avLst/>
            </a:prstGeom>
          </p:spPr>
          <p:txBody>
            <a:bodyPr anchor="ctr" rtlCol="false" tIns="50800" lIns="50800" bIns="50800" rIns="50800"/>
            <a:lstStyle/>
            <a:p>
              <a:pPr algn="ctr">
                <a:lnSpc>
                  <a:spcPts val="3499"/>
                </a:lnSpc>
              </a:pPr>
            </a:p>
          </p:txBody>
        </p:sp>
      </p:grpSp>
      <p:grpSp>
        <p:nvGrpSpPr>
          <p:cNvPr name="Group 13" id="13"/>
          <p:cNvGrpSpPr/>
          <p:nvPr/>
        </p:nvGrpSpPr>
        <p:grpSpPr>
          <a:xfrm rot="-1061596">
            <a:off x="10756391" y="2650088"/>
            <a:ext cx="781777" cy="781777"/>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DE59"/>
            </a:solidFill>
          </p:spPr>
        </p:sp>
        <p:sp>
          <p:nvSpPr>
            <p:cNvPr name="TextBox 15" id="15"/>
            <p:cNvSpPr txBox="true"/>
            <p:nvPr/>
          </p:nvSpPr>
          <p:spPr>
            <a:xfrm>
              <a:off x="190500" y="142875"/>
              <a:ext cx="431800" cy="479425"/>
            </a:xfrm>
            <a:prstGeom prst="rect">
              <a:avLst/>
            </a:prstGeom>
          </p:spPr>
          <p:txBody>
            <a:bodyPr anchor="ctr" rtlCol="false" tIns="50800" lIns="50800" bIns="50800" rIns="50800"/>
            <a:lstStyle/>
            <a:p>
              <a:pPr algn="ctr">
                <a:lnSpc>
                  <a:spcPts val="3499"/>
                </a:lnSpc>
              </a:pPr>
            </a:p>
          </p:txBody>
        </p:sp>
      </p:grpSp>
      <p:sp>
        <p:nvSpPr>
          <p:cNvPr name="Freeform 16" id="16"/>
          <p:cNvSpPr/>
          <p:nvPr/>
        </p:nvSpPr>
        <p:spPr>
          <a:xfrm flipH="false" flipV="false" rot="0">
            <a:off x="10721579" y="454216"/>
            <a:ext cx="1490446" cy="1490446"/>
          </a:xfrm>
          <a:custGeom>
            <a:avLst/>
            <a:gdLst/>
            <a:ahLst/>
            <a:cxnLst/>
            <a:rect r="r" b="b" t="t" l="l"/>
            <a:pathLst>
              <a:path h="1490446" w="1490446">
                <a:moveTo>
                  <a:pt x="0" y="0"/>
                </a:moveTo>
                <a:lnTo>
                  <a:pt x="1490446" y="0"/>
                </a:lnTo>
                <a:lnTo>
                  <a:pt x="1490446" y="1490445"/>
                </a:lnTo>
                <a:lnTo>
                  <a:pt x="0" y="1490445"/>
                </a:lnTo>
                <a:lnTo>
                  <a:pt x="0" y="0"/>
                </a:lnTo>
                <a:close/>
              </a:path>
            </a:pathLst>
          </a:custGeom>
          <a:blipFill>
            <a:blip r:embed="rId6"/>
            <a:stretch>
              <a:fillRect l="0" t="0" r="0" b="0"/>
            </a:stretch>
          </a:blipFill>
        </p:spPr>
      </p:sp>
      <p:sp>
        <p:nvSpPr>
          <p:cNvPr name="Freeform 17" id="17"/>
          <p:cNvSpPr/>
          <p:nvPr/>
        </p:nvSpPr>
        <p:spPr>
          <a:xfrm flipH="false" flipV="false" rot="0">
            <a:off x="12459675" y="361166"/>
            <a:ext cx="4397629" cy="8897134"/>
          </a:xfrm>
          <a:custGeom>
            <a:avLst/>
            <a:gdLst/>
            <a:ahLst/>
            <a:cxnLst/>
            <a:rect r="r" b="b" t="t" l="l"/>
            <a:pathLst>
              <a:path h="8897134" w="4397629">
                <a:moveTo>
                  <a:pt x="0" y="0"/>
                </a:moveTo>
                <a:lnTo>
                  <a:pt x="4397629" y="0"/>
                </a:lnTo>
                <a:lnTo>
                  <a:pt x="4397629" y="8897134"/>
                </a:lnTo>
                <a:lnTo>
                  <a:pt x="0" y="8897134"/>
                </a:lnTo>
                <a:lnTo>
                  <a:pt x="0" y="0"/>
                </a:lnTo>
                <a:close/>
              </a:path>
            </a:pathLst>
          </a:custGeom>
          <a:blipFill>
            <a:blip r:embed="rId7"/>
            <a:stretch>
              <a:fillRect l="0" t="0" r="0" b="0"/>
            </a:stretch>
          </a:blipFill>
        </p:spPr>
      </p:sp>
      <p:sp>
        <p:nvSpPr>
          <p:cNvPr name="Freeform 18" id="18"/>
          <p:cNvSpPr/>
          <p:nvPr/>
        </p:nvSpPr>
        <p:spPr>
          <a:xfrm flipH="false" flipV="false" rot="0">
            <a:off x="9396334" y="3661710"/>
            <a:ext cx="2581427" cy="5596590"/>
          </a:xfrm>
          <a:custGeom>
            <a:avLst/>
            <a:gdLst/>
            <a:ahLst/>
            <a:cxnLst/>
            <a:rect r="r" b="b" t="t" l="l"/>
            <a:pathLst>
              <a:path h="5596590" w="2581427">
                <a:moveTo>
                  <a:pt x="0" y="0"/>
                </a:moveTo>
                <a:lnTo>
                  <a:pt x="2581427" y="0"/>
                </a:lnTo>
                <a:lnTo>
                  <a:pt x="2581427" y="5596590"/>
                </a:lnTo>
                <a:lnTo>
                  <a:pt x="0" y="5596590"/>
                </a:lnTo>
                <a:lnTo>
                  <a:pt x="0" y="0"/>
                </a:lnTo>
                <a:close/>
              </a:path>
            </a:pathLst>
          </a:custGeom>
          <a:blipFill>
            <a:blip r:embed="rId8"/>
            <a:stretch>
              <a:fillRect l="0" t="0" r="0" b="0"/>
            </a:stretch>
          </a:blipFill>
        </p:spPr>
      </p:sp>
      <p:sp>
        <p:nvSpPr>
          <p:cNvPr name="TextBox 19" id="19"/>
          <p:cNvSpPr txBox="true"/>
          <p:nvPr/>
        </p:nvSpPr>
        <p:spPr>
          <a:xfrm rot="0">
            <a:off x="387776" y="1340045"/>
            <a:ext cx="6402674" cy="646311"/>
          </a:xfrm>
          <a:prstGeom prst="rect">
            <a:avLst/>
          </a:prstGeom>
        </p:spPr>
        <p:txBody>
          <a:bodyPr anchor="t" rtlCol="false" tIns="0" lIns="0" bIns="0" rIns="0">
            <a:spAutoFit/>
          </a:bodyPr>
          <a:lstStyle/>
          <a:p>
            <a:pPr algn="l">
              <a:lnSpc>
                <a:spcPts val="5348"/>
              </a:lnSpc>
              <a:spcBef>
                <a:spcPct val="0"/>
              </a:spcBef>
            </a:pPr>
            <a:r>
              <a:rPr lang="en-US" b="true" sz="3820">
                <a:solidFill>
                  <a:srgbClr val="101010"/>
                </a:solidFill>
                <a:latin typeface="Canva Sans Bold"/>
                <a:ea typeface="Canva Sans Bold"/>
                <a:cs typeface="Canva Sans Bold"/>
                <a:sym typeface="Canva Sans Bold"/>
              </a:rPr>
              <a:t>Pengelolaan profil admin</a:t>
            </a:r>
          </a:p>
        </p:txBody>
      </p:sp>
      <p:sp>
        <p:nvSpPr>
          <p:cNvPr name="TextBox 20" id="20"/>
          <p:cNvSpPr txBox="true"/>
          <p:nvPr/>
        </p:nvSpPr>
        <p:spPr>
          <a:xfrm rot="0">
            <a:off x="387776" y="2447503"/>
            <a:ext cx="10084089" cy="1019175"/>
          </a:xfrm>
          <a:prstGeom prst="rect">
            <a:avLst/>
          </a:prstGeom>
        </p:spPr>
        <p:txBody>
          <a:bodyPr anchor="t" rtlCol="false" tIns="0" lIns="0" bIns="0" rIns="0">
            <a:spAutoFit/>
          </a:bodyPr>
          <a:lstStyle/>
          <a:p>
            <a:pPr algn="l">
              <a:lnSpc>
                <a:spcPts val="4199"/>
              </a:lnSpc>
              <a:spcBef>
                <a:spcPct val="0"/>
              </a:spcBef>
            </a:pPr>
            <a:r>
              <a:rPr lang="en-US" sz="2999">
                <a:solidFill>
                  <a:srgbClr val="101010"/>
                </a:solidFill>
                <a:latin typeface="Canva Sans"/>
                <a:ea typeface="Canva Sans"/>
                <a:cs typeface="Canva Sans"/>
                <a:sym typeface="Canva Sans"/>
              </a:rPr>
              <a:t>Pada halaman ini admin bisa update username dan email nya, melihat tentang soundscape dan logout</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76707" y="-366843"/>
            <a:ext cx="21314151" cy="10676209"/>
            <a:chOff x="0" y="0"/>
            <a:chExt cx="28418868" cy="14234945"/>
          </a:xfrm>
        </p:grpSpPr>
        <p:sp>
          <p:nvSpPr>
            <p:cNvPr name="Freeform 3" id="3"/>
            <p:cNvSpPr/>
            <p:nvPr/>
          </p:nvSpPr>
          <p:spPr>
            <a:xfrm flipH="false" flipV="false" rot="0">
              <a:off x="0" y="0"/>
              <a:ext cx="14234945" cy="14234945"/>
            </a:xfrm>
            <a:custGeom>
              <a:avLst/>
              <a:gdLst/>
              <a:ahLst/>
              <a:cxnLst/>
              <a:rect r="r" b="b" t="t" l="l"/>
              <a:pathLst>
                <a:path h="14234945" w="14234945">
                  <a:moveTo>
                    <a:pt x="0" y="0"/>
                  </a:moveTo>
                  <a:lnTo>
                    <a:pt x="14234945" y="0"/>
                  </a:lnTo>
                  <a:lnTo>
                    <a:pt x="14234945" y="14234945"/>
                  </a:lnTo>
                  <a:lnTo>
                    <a:pt x="0" y="14234945"/>
                  </a:lnTo>
                  <a:lnTo>
                    <a:pt x="0" y="0"/>
                  </a:lnTo>
                  <a:close/>
                </a:path>
              </a:pathLst>
            </a:custGeom>
            <a:blipFill>
              <a:blip r:embed="rId2">
                <a:alphaModFix amt="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183923" y="0"/>
              <a:ext cx="14234945" cy="14234945"/>
            </a:xfrm>
            <a:custGeom>
              <a:avLst/>
              <a:gdLst/>
              <a:ahLst/>
              <a:cxnLst/>
              <a:rect r="r" b="b" t="t" l="l"/>
              <a:pathLst>
                <a:path h="14234945" w="14234945">
                  <a:moveTo>
                    <a:pt x="0" y="0"/>
                  </a:moveTo>
                  <a:lnTo>
                    <a:pt x="14234945" y="0"/>
                  </a:lnTo>
                  <a:lnTo>
                    <a:pt x="14234945" y="14234945"/>
                  </a:lnTo>
                  <a:lnTo>
                    <a:pt x="0" y="14234945"/>
                  </a:lnTo>
                  <a:lnTo>
                    <a:pt x="0" y="0"/>
                  </a:lnTo>
                  <a:close/>
                </a:path>
              </a:pathLst>
            </a:custGeom>
            <a:blipFill>
              <a:blip r:embed="rId2">
                <a:alphaModFix amt="3000"/>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976707" y="9537567"/>
            <a:ext cx="20274216" cy="1059151"/>
            <a:chOff x="0" y="0"/>
            <a:chExt cx="5339711" cy="278953"/>
          </a:xfrm>
        </p:grpSpPr>
        <p:sp>
          <p:nvSpPr>
            <p:cNvPr name="Freeform 6" id="6"/>
            <p:cNvSpPr/>
            <p:nvPr/>
          </p:nvSpPr>
          <p:spPr>
            <a:xfrm flipH="false" flipV="false" rot="0">
              <a:off x="0" y="0"/>
              <a:ext cx="5339711" cy="278953"/>
            </a:xfrm>
            <a:custGeom>
              <a:avLst/>
              <a:gdLst/>
              <a:ahLst/>
              <a:cxnLst/>
              <a:rect r="r" b="b" t="t" l="l"/>
              <a:pathLst>
                <a:path h="278953" w="5339711">
                  <a:moveTo>
                    <a:pt x="19475" y="0"/>
                  </a:moveTo>
                  <a:lnTo>
                    <a:pt x="5320236" y="0"/>
                  </a:lnTo>
                  <a:cubicBezTo>
                    <a:pt x="5330992" y="0"/>
                    <a:pt x="5339711" y="8719"/>
                    <a:pt x="5339711" y="19475"/>
                  </a:cubicBezTo>
                  <a:lnTo>
                    <a:pt x="5339711" y="259478"/>
                  </a:lnTo>
                  <a:cubicBezTo>
                    <a:pt x="5339711" y="270234"/>
                    <a:pt x="5330992" y="278953"/>
                    <a:pt x="5320236" y="278953"/>
                  </a:cubicBezTo>
                  <a:lnTo>
                    <a:pt x="19475" y="278953"/>
                  </a:lnTo>
                  <a:cubicBezTo>
                    <a:pt x="8719" y="278953"/>
                    <a:pt x="0" y="270234"/>
                    <a:pt x="0" y="259478"/>
                  </a:cubicBezTo>
                  <a:lnTo>
                    <a:pt x="0" y="19475"/>
                  </a:lnTo>
                  <a:cubicBezTo>
                    <a:pt x="0" y="8719"/>
                    <a:pt x="8719" y="0"/>
                    <a:pt x="19475" y="0"/>
                  </a:cubicBezTo>
                  <a:close/>
                </a:path>
              </a:pathLst>
            </a:custGeom>
            <a:solidFill>
              <a:srgbClr val="CC576F"/>
            </a:solidFill>
          </p:spPr>
        </p:sp>
        <p:sp>
          <p:nvSpPr>
            <p:cNvPr name="TextBox 7" id="7"/>
            <p:cNvSpPr txBox="true"/>
            <p:nvPr/>
          </p:nvSpPr>
          <p:spPr>
            <a:xfrm>
              <a:off x="0" y="-47625"/>
              <a:ext cx="5339711" cy="326578"/>
            </a:xfrm>
            <a:prstGeom prst="rect">
              <a:avLst/>
            </a:prstGeom>
          </p:spPr>
          <p:txBody>
            <a:bodyPr anchor="ctr" rtlCol="false" tIns="50800" lIns="50800" bIns="50800" rIns="50800"/>
            <a:lstStyle/>
            <a:p>
              <a:pPr algn="ctr">
                <a:lnSpc>
                  <a:spcPts val="3499"/>
                </a:lnSpc>
              </a:pPr>
            </a:p>
          </p:txBody>
        </p:sp>
      </p:grpSp>
      <p:sp>
        <p:nvSpPr>
          <p:cNvPr name="Freeform 8" id="8"/>
          <p:cNvSpPr/>
          <p:nvPr/>
        </p:nvSpPr>
        <p:spPr>
          <a:xfrm flipH="true" flipV="false" rot="0">
            <a:off x="145557" y="6984331"/>
            <a:ext cx="4299869" cy="4547939"/>
          </a:xfrm>
          <a:custGeom>
            <a:avLst/>
            <a:gdLst/>
            <a:ahLst/>
            <a:cxnLst/>
            <a:rect r="r" b="b" t="t" l="l"/>
            <a:pathLst>
              <a:path h="4547939" w="4299869">
                <a:moveTo>
                  <a:pt x="4299869" y="0"/>
                </a:moveTo>
                <a:lnTo>
                  <a:pt x="0" y="0"/>
                </a:lnTo>
                <a:lnTo>
                  <a:pt x="0" y="4547938"/>
                </a:lnTo>
                <a:lnTo>
                  <a:pt x="4299869" y="4547938"/>
                </a:lnTo>
                <a:lnTo>
                  <a:pt x="4299869"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grpSp>
        <p:nvGrpSpPr>
          <p:cNvPr name="Group 9" id="9"/>
          <p:cNvGrpSpPr/>
          <p:nvPr/>
        </p:nvGrpSpPr>
        <p:grpSpPr>
          <a:xfrm rot="187008">
            <a:off x="8753111" y="637811"/>
            <a:ext cx="781777" cy="781777"/>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DE59"/>
            </a:solidFill>
          </p:spPr>
        </p:sp>
        <p:sp>
          <p:nvSpPr>
            <p:cNvPr name="TextBox 11" id="11"/>
            <p:cNvSpPr txBox="true"/>
            <p:nvPr/>
          </p:nvSpPr>
          <p:spPr>
            <a:xfrm>
              <a:off x="190500" y="142875"/>
              <a:ext cx="431800" cy="479425"/>
            </a:xfrm>
            <a:prstGeom prst="rect">
              <a:avLst/>
            </a:prstGeom>
          </p:spPr>
          <p:txBody>
            <a:bodyPr anchor="ctr" rtlCol="false" tIns="50800" lIns="50800" bIns="50800" rIns="50800"/>
            <a:lstStyle/>
            <a:p>
              <a:pPr algn="ctr">
                <a:lnSpc>
                  <a:spcPts val="3499"/>
                </a:lnSpc>
              </a:pPr>
            </a:p>
          </p:txBody>
        </p:sp>
      </p:grpSp>
      <p:grpSp>
        <p:nvGrpSpPr>
          <p:cNvPr name="Group 12" id="12"/>
          <p:cNvGrpSpPr/>
          <p:nvPr/>
        </p:nvGrpSpPr>
        <p:grpSpPr>
          <a:xfrm rot="-321674">
            <a:off x="10756391" y="3298590"/>
            <a:ext cx="781777" cy="781777"/>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DE59"/>
            </a:solidFill>
          </p:spPr>
        </p:sp>
        <p:sp>
          <p:nvSpPr>
            <p:cNvPr name="TextBox 14" id="14"/>
            <p:cNvSpPr txBox="true"/>
            <p:nvPr/>
          </p:nvSpPr>
          <p:spPr>
            <a:xfrm>
              <a:off x="190500" y="142875"/>
              <a:ext cx="431800" cy="479425"/>
            </a:xfrm>
            <a:prstGeom prst="rect">
              <a:avLst/>
            </a:prstGeom>
          </p:spPr>
          <p:txBody>
            <a:bodyPr anchor="ctr" rtlCol="false" tIns="50800" lIns="50800" bIns="50800" rIns="50800"/>
            <a:lstStyle/>
            <a:p>
              <a:pPr algn="ctr">
                <a:lnSpc>
                  <a:spcPts val="3499"/>
                </a:lnSpc>
              </a:pPr>
            </a:p>
          </p:txBody>
        </p:sp>
      </p:grpSp>
      <p:sp>
        <p:nvSpPr>
          <p:cNvPr name="Freeform 15" id="15"/>
          <p:cNvSpPr/>
          <p:nvPr/>
        </p:nvSpPr>
        <p:spPr>
          <a:xfrm flipH="false" flipV="false" rot="0">
            <a:off x="3698997" y="5357655"/>
            <a:ext cx="8210837" cy="9903421"/>
          </a:xfrm>
          <a:custGeom>
            <a:avLst/>
            <a:gdLst/>
            <a:ahLst/>
            <a:cxnLst/>
            <a:rect r="r" b="b" t="t" l="l"/>
            <a:pathLst>
              <a:path h="9903421" w="8210837">
                <a:moveTo>
                  <a:pt x="0" y="0"/>
                </a:moveTo>
                <a:lnTo>
                  <a:pt x="8210837" y="0"/>
                </a:lnTo>
                <a:lnTo>
                  <a:pt x="8210837" y="9903421"/>
                </a:lnTo>
                <a:lnTo>
                  <a:pt x="0" y="990342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16" id="16"/>
          <p:cNvSpPr/>
          <p:nvPr/>
        </p:nvSpPr>
        <p:spPr>
          <a:xfrm flipH="false" flipV="false" rot="0">
            <a:off x="10721579" y="454216"/>
            <a:ext cx="1490446" cy="1490446"/>
          </a:xfrm>
          <a:custGeom>
            <a:avLst/>
            <a:gdLst/>
            <a:ahLst/>
            <a:cxnLst/>
            <a:rect r="r" b="b" t="t" l="l"/>
            <a:pathLst>
              <a:path h="1490446" w="1490446">
                <a:moveTo>
                  <a:pt x="0" y="0"/>
                </a:moveTo>
                <a:lnTo>
                  <a:pt x="1490446" y="0"/>
                </a:lnTo>
                <a:lnTo>
                  <a:pt x="1490446" y="1490445"/>
                </a:lnTo>
                <a:lnTo>
                  <a:pt x="0" y="1490445"/>
                </a:lnTo>
                <a:lnTo>
                  <a:pt x="0" y="0"/>
                </a:lnTo>
                <a:close/>
              </a:path>
            </a:pathLst>
          </a:custGeom>
          <a:blipFill>
            <a:blip r:embed="rId8"/>
            <a:stretch>
              <a:fillRect l="0" t="0" r="0" b="0"/>
            </a:stretch>
          </a:blipFill>
        </p:spPr>
      </p:sp>
      <p:sp>
        <p:nvSpPr>
          <p:cNvPr name="Freeform 17" id="17"/>
          <p:cNvSpPr/>
          <p:nvPr/>
        </p:nvSpPr>
        <p:spPr>
          <a:xfrm flipH="false" flipV="false" rot="0">
            <a:off x="12459675" y="454216"/>
            <a:ext cx="4285174" cy="8804084"/>
          </a:xfrm>
          <a:custGeom>
            <a:avLst/>
            <a:gdLst/>
            <a:ahLst/>
            <a:cxnLst/>
            <a:rect r="r" b="b" t="t" l="l"/>
            <a:pathLst>
              <a:path h="8804084" w="4285174">
                <a:moveTo>
                  <a:pt x="0" y="0"/>
                </a:moveTo>
                <a:lnTo>
                  <a:pt x="4285173" y="0"/>
                </a:lnTo>
                <a:lnTo>
                  <a:pt x="4285173" y="8804084"/>
                </a:lnTo>
                <a:lnTo>
                  <a:pt x="0" y="8804084"/>
                </a:lnTo>
                <a:lnTo>
                  <a:pt x="0" y="0"/>
                </a:lnTo>
                <a:close/>
              </a:path>
            </a:pathLst>
          </a:custGeom>
          <a:blipFill>
            <a:blip r:embed="rId9"/>
            <a:stretch>
              <a:fillRect l="0" t="0" r="0" b="0"/>
            </a:stretch>
          </a:blipFill>
        </p:spPr>
      </p:sp>
      <p:sp>
        <p:nvSpPr>
          <p:cNvPr name="TextBox 18" id="18"/>
          <p:cNvSpPr txBox="true"/>
          <p:nvPr/>
        </p:nvSpPr>
        <p:spPr>
          <a:xfrm rot="0">
            <a:off x="387776" y="516918"/>
            <a:ext cx="8115300" cy="682520"/>
          </a:xfrm>
          <a:prstGeom prst="rect">
            <a:avLst/>
          </a:prstGeom>
        </p:spPr>
        <p:txBody>
          <a:bodyPr anchor="t" rtlCol="false" tIns="0" lIns="0" bIns="0" rIns="0">
            <a:spAutoFit/>
          </a:bodyPr>
          <a:lstStyle/>
          <a:p>
            <a:pPr algn="l">
              <a:lnSpc>
                <a:spcPts val="4379"/>
              </a:lnSpc>
            </a:pPr>
            <a:r>
              <a:rPr lang="en-US" sz="3981" b="true">
                <a:solidFill>
                  <a:srgbClr val="101010"/>
                </a:solidFill>
                <a:latin typeface="Agrandir Grand Ultra-Bold"/>
                <a:ea typeface="Agrandir Grand Ultra-Bold"/>
                <a:cs typeface="Agrandir Grand Ultra-Bold"/>
                <a:sym typeface="Agrandir Grand Ultra-Bold"/>
              </a:rPr>
              <a:t>FITUR UNTUK LISTENER</a:t>
            </a:r>
          </a:p>
        </p:txBody>
      </p:sp>
      <p:sp>
        <p:nvSpPr>
          <p:cNvPr name="TextBox 19" id="19"/>
          <p:cNvSpPr txBox="true"/>
          <p:nvPr/>
        </p:nvSpPr>
        <p:spPr>
          <a:xfrm rot="0">
            <a:off x="387776" y="1340045"/>
            <a:ext cx="7652010" cy="646311"/>
          </a:xfrm>
          <a:prstGeom prst="rect">
            <a:avLst/>
          </a:prstGeom>
        </p:spPr>
        <p:txBody>
          <a:bodyPr anchor="t" rtlCol="false" tIns="0" lIns="0" bIns="0" rIns="0">
            <a:spAutoFit/>
          </a:bodyPr>
          <a:lstStyle/>
          <a:p>
            <a:pPr algn="l">
              <a:lnSpc>
                <a:spcPts val="5348"/>
              </a:lnSpc>
              <a:spcBef>
                <a:spcPct val="0"/>
              </a:spcBef>
            </a:pPr>
            <a:r>
              <a:rPr lang="en-US" b="true" sz="3820">
                <a:solidFill>
                  <a:srgbClr val="101010"/>
                </a:solidFill>
                <a:latin typeface="Canva Sans Bold"/>
                <a:ea typeface="Canva Sans Bold"/>
                <a:cs typeface="Canva Sans Bold"/>
                <a:sym typeface="Canva Sans Bold"/>
              </a:rPr>
              <a:t>Registrasi Pengguna</a:t>
            </a:r>
          </a:p>
        </p:txBody>
      </p:sp>
      <p:sp>
        <p:nvSpPr>
          <p:cNvPr name="TextBox 20" id="20"/>
          <p:cNvSpPr txBox="true"/>
          <p:nvPr/>
        </p:nvSpPr>
        <p:spPr>
          <a:xfrm rot="0">
            <a:off x="387776" y="2447503"/>
            <a:ext cx="10084089" cy="1543050"/>
          </a:xfrm>
          <a:prstGeom prst="rect">
            <a:avLst/>
          </a:prstGeom>
        </p:spPr>
        <p:txBody>
          <a:bodyPr anchor="t" rtlCol="false" tIns="0" lIns="0" bIns="0" rIns="0">
            <a:spAutoFit/>
          </a:bodyPr>
          <a:lstStyle/>
          <a:p>
            <a:pPr algn="l">
              <a:lnSpc>
                <a:spcPts val="4199"/>
              </a:lnSpc>
              <a:spcBef>
                <a:spcPct val="0"/>
              </a:spcBef>
            </a:pPr>
            <a:r>
              <a:rPr lang="en-US" sz="2999">
                <a:solidFill>
                  <a:srgbClr val="101010"/>
                </a:solidFill>
                <a:latin typeface="Canva Sans"/>
                <a:ea typeface="Canva Sans"/>
                <a:cs typeface="Canva Sans"/>
                <a:sym typeface="Canva Sans"/>
              </a:rPr>
              <a:t>Untuk Pengguna yang belum memilki akun harus melakukan registrasi terlebih dahulu agar mempunyai akun Soundscape</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76707" y="-366843"/>
            <a:ext cx="21314151" cy="10676209"/>
            <a:chOff x="0" y="0"/>
            <a:chExt cx="28418868" cy="14234945"/>
          </a:xfrm>
        </p:grpSpPr>
        <p:sp>
          <p:nvSpPr>
            <p:cNvPr name="Freeform 3" id="3"/>
            <p:cNvSpPr/>
            <p:nvPr/>
          </p:nvSpPr>
          <p:spPr>
            <a:xfrm flipH="false" flipV="false" rot="0">
              <a:off x="0" y="0"/>
              <a:ext cx="14234945" cy="14234945"/>
            </a:xfrm>
            <a:custGeom>
              <a:avLst/>
              <a:gdLst/>
              <a:ahLst/>
              <a:cxnLst/>
              <a:rect r="r" b="b" t="t" l="l"/>
              <a:pathLst>
                <a:path h="14234945" w="14234945">
                  <a:moveTo>
                    <a:pt x="0" y="0"/>
                  </a:moveTo>
                  <a:lnTo>
                    <a:pt x="14234945" y="0"/>
                  </a:lnTo>
                  <a:lnTo>
                    <a:pt x="14234945" y="14234945"/>
                  </a:lnTo>
                  <a:lnTo>
                    <a:pt x="0" y="14234945"/>
                  </a:lnTo>
                  <a:lnTo>
                    <a:pt x="0" y="0"/>
                  </a:lnTo>
                  <a:close/>
                </a:path>
              </a:pathLst>
            </a:custGeom>
            <a:blipFill>
              <a:blip r:embed="rId2">
                <a:alphaModFix amt="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183923" y="0"/>
              <a:ext cx="14234945" cy="14234945"/>
            </a:xfrm>
            <a:custGeom>
              <a:avLst/>
              <a:gdLst/>
              <a:ahLst/>
              <a:cxnLst/>
              <a:rect r="r" b="b" t="t" l="l"/>
              <a:pathLst>
                <a:path h="14234945" w="14234945">
                  <a:moveTo>
                    <a:pt x="0" y="0"/>
                  </a:moveTo>
                  <a:lnTo>
                    <a:pt x="14234945" y="0"/>
                  </a:lnTo>
                  <a:lnTo>
                    <a:pt x="14234945" y="14234945"/>
                  </a:lnTo>
                  <a:lnTo>
                    <a:pt x="0" y="14234945"/>
                  </a:lnTo>
                  <a:lnTo>
                    <a:pt x="0" y="0"/>
                  </a:lnTo>
                  <a:close/>
                </a:path>
              </a:pathLst>
            </a:custGeom>
            <a:blipFill>
              <a:blip r:embed="rId2">
                <a:alphaModFix amt="3000"/>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976707" y="9537567"/>
            <a:ext cx="20274216" cy="1059151"/>
            <a:chOff x="0" y="0"/>
            <a:chExt cx="5339711" cy="278953"/>
          </a:xfrm>
        </p:grpSpPr>
        <p:sp>
          <p:nvSpPr>
            <p:cNvPr name="Freeform 6" id="6"/>
            <p:cNvSpPr/>
            <p:nvPr/>
          </p:nvSpPr>
          <p:spPr>
            <a:xfrm flipH="false" flipV="false" rot="0">
              <a:off x="0" y="0"/>
              <a:ext cx="5339711" cy="278953"/>
            </a:xfrm>
            <a:custGeom>
              <a:avLst/>
              <a:gdLst/>
              <a:ahLst/>
              <a:cxnLst/>
              <a:rect r="r" b="b" t="t" l="l"/>
              <a:pathLst>
                <a:path h="278953" w="5339711">
                  <a:moveTo>
                    <a:pt x="19475" y="0"/>
                  </a:moveTo>
                  <a:lnTo>
                    <a:pt x="5320236" y="0"/>
                  </a:lnTo>
                  <a:cubicBezTo>
                    <a:pt x="5330992" y="0"/>
                    <a:pt x="5339711" y="8719"/>
                    <a:pt x="5339711" y="19475"/>
                  </a:cubicBezTo>
                  <a:lnTo>
                    <a:pt x="5339711" y="259478"/>
                  </a:lnTo>
                  <a:cubicBezTo>
                    <a:pt x="5339711" y="270234"/>
                    <a:pt x="5330992" y="278953"/>
                    <a:pt x="5320236" y="278953"/>
                  </a:cubicBezTo>
                  <a:lnTo>
                    <a:pt x="19475" y="278953"/>
                  </a:lnTo>
                  <a:cubicBezTo>
                    <a:pt x="8719" y="278953"/>
                    <a:pt x="0" y="270234"/>
                    <a:pt x="0" y="259478"/>
                  </a:cubicBezTo>
                  <a:lnTo>
                    <a:pt x="0" y="19475"/>
                  </a:lnTo>
                  <a:cubicBezTo>
                    <a:pt x="0" y="8719"/>
                    <a:pt x="8719" y="0"/>
                    <a:pt x="19475" y="0"/>
                  </a:cubicBezTo>
                  <a:close/>
                </a:path>
              </a:pathLst>
            </a:custGeom>
            <a:solidFill>
              <a:srgbClr val="CC576F"/>
            </a:solidFill>
          </p:spPr>
        </p:sp>
        <p:sp>
          <p:nvSpPr>
            <p:cNvPr name="TextBox 7" id="7"/>
            <p:cNvSpPr txBox="true"/>
            <p:nvPr/>
          </p:nvSpPr>
          <p:spPr>
            <a:xfrm>
              <a:off x="0" y="-47625"/>
              <a:ext cx="5339711" cy="326578"/>
            </a:xfrm>
            <a:prstGeom prst="rect">
              <a:avLst/>
            </a:prstGeom>
          </p:spPr>
          <p:txBody>
            <a:bodyPr anchor="ctr" rtlCol="false" tIns="50800" lIns="50800" bIns="50800" rIns="50800"/>
            <a:lstStyle/>
            <a:p>
              <a:pPr algn="ctr">
                <a:lnSpc>
                  <a:spcPts val="3499"/>
                </a:lnSpc>
              </a:pPr>
            </a:p>
          </p:txBody>
        </p:sp>
      </p:grpSp>
      <p:sp>
        <p:nvSpPr>
          <p:cNvPr name="Freeform 8" id="8"/>
          <p:cNvSpPr/>
          <p:nvPr/>
        </p:nvSpPr>
        <p:spPr>
          <a:xfrm flipH="true" flipV="false" rot="0">
            <a:off x="145557" y="6984331"/>
            <a:ext cx="4299869" cy="4547939"/>
          </a:xfrm>
          <a:custGeom>
            <a:avLst/>
            <a:gdLst/>
            <a:ahLst/>
            <a:cxnLst/>
            <a:rect r="r" b="b" t="t" l="l"/>
            <a:pathLst>
              <a:path h="4547939" w="4299869">
                <a:moveTo>
                  <a:pt x="4299869" y="0"/>
                </a:moveTo>
                <a:lnTo>
                  <a:pt x="0" y="0"/>
                </a:lnTo>
                <a:lnTo>
                  <a:pt x="0" y="4547938"/>
                </a:lnTo>
                <a:lnTo>
                  <a:pt x="4299869" y="4547938"/>
                </a:lnTo>
                <a:lnTo>
                  <a:pt x="4299869"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grpSp>
        <p:nvGrpSpPr>
          <p:cNvPr name="Group 9" id="9"/>
          <p:cNvGrpSpPr/>
          <p:nvPr/>
        </p:nvGrpSpPr>
        <p:grpSpPr>
          <a:xfrm rot="187008">
            <a:off x="8753111" y="637811"/>
            <a:ext cx="781777" cy="781777"/>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DE59"/>
            </a:solidFill>
          </p:spPr>
        </p:sp>
        <p:sp>
          <p:nvSpPr>
            <p:cNvPr name="TextBox 11" id="11"/>
            <p:cNvSpPr txBox="true"/>
            <p:nvPr/>
          </p:nvSpPr>
          <p:spPr>
            <a:xfrm>
              <a:off x="190500" y="142875"/>
              <a:ext cx="431800" cy="479425"/>
            </a:xfrm>
            <a:prstGeom prst="rect">
              <a:avLst/>
            </a:prstGeom>
          </p:spPr>
          <p:txBody>
            <a:bodyPr anchor="ctr" rtlCol="false" tIns="50800" lIns="50800" bIns="50800" rIns="50800"/>
            <a:lstStyle/>
            <a:p>
              <a:pPr algn="ctr">
                <a:lnSpc>
                  <a:spcPts val="3499"/>
                </a:lnSpc>
              </a:pPr>
            </a:p>
          </p:txBody>
        </p:sp>
      </p:grpSp>
      <p:grpSp>
        <p:nvGrpSpPr>
          <p:cNvPr name="Group 12" id="12"/>
          <p:cNvGrpSpPr/>
          <p:nvPr/>
        </p:nvGrpSpPr>
        <p:grpSpPr>
          <a:xfrm rot="-321674">
            <a:off x="10756391" y="3298590"/>
            <a:ext cx="781777" cy="781777"/>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DE59"/>
            </a:solidFill>
          </p:spPr>
        </p:sp>
        <p:sp>
          <p:nvSpPr>
            <p:cNvPr name="TextBox 14" id="14"/>
            <p:cNvSpPr txBox="true"/>
            <p:nvPr/>
          </p:nvSpPr>
          <p:spPr>
            <a:xfrm>
              <a:off x="190500" y="142875"/>
              <a:ext cx="431800" cy="479425"/>
            </a:xfrm>
            <a:prstGeom prst="rect">
              <a:avLst/>
            </a:prstGeom>
          </p:spPr>
          <p:txBody>
            <a:bodyPr anchor="ctr" rtlCol="false" tIns="50800" lIns="50800" bIns="50800" rIns="50800"/>
            <a:lstStyle/>
            <a:p>
              <a:pPr algn="ctr">
                <a:lnSpc>
                  <a:spcPts val="3499"/>
                </a:lnSpc>
              </a:pPr>
            </a:p>
          </p:txBody>
        </p:sp>
      </p:grpSp>
      <p:sp>
        <p:nvSpPr>
          <p:cNvPr name="Freeform 15" id="15"/>
          <p:cNvSpPr/>
          <p:nvPr/>
        </p:nvSpPr>
        <p:spPr>
          <a:xfrm flipH="false" flipV="false" rot="0">
            <a:off x="3698997" y="5357655"/>
            <a:ext cx="8210837" cy="9903421"/>
          </a:xfrm>
          <a:custGeom>
            <a:avLst/>
            <a:gdLst/>
            <a:ahLst/>
            <a:cxnLst/>
            <a:rect r="r" b="b" t="t" l="l"/>
            <a:pathLst>
              <a:path h="9903421" w="8210837">
                <a:moveTo>
                  <a:pt x="0" y="0"/>
                </a:moveTo>
                <a:lnTo>
                  <a:pt x="8210837" y="0"/>
                </a:lnTo>
                <a:lnTo>
                  <a:pt x="8210837" y="9903421"/>
                </a:lnTo>
                <a:lnTo>
                  <a:pt x="0" y="990342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16" id="16"/>
          <p:cNvSpPr/>
          <p:nvPr/>
        </p:nvSpPr>
        <p:spPr>
          <a:xfrm flipH="false" flipV="false" rot="0">
            <a:off x="10721579" y="454216"/>
            <a:ext cx="1490446" cy="1490446"/>
          </a:xfrm>
          <a:custGeom>
            <a:avLst/>
            <a:gdLst/>
            <a:ahLst/>
            <a:cxnLst/>
            <a:rect r="r" b="b" t="t" l="l"/>
            <a:pathLst>
              <a:path h="1490446" w="1490446">
                <a:moveTo>
                  <a:pt x="0" y="0"/>
                </a:moveTo>
                <a:lnTo>
                  <a:pt x="1490446" y="0"/>
                </a:lnTo>
                <a:lnTo>
                  <a:pt x="1490446" y="1490445"/>
                </a:lnTo>
                <a:lnTo>
                  <a:pt x="0" y="1490445"/>
                </a:lnTo>
                <a:lnTo>
                  <a:pt x="0" y="0"/>
                </a:lnTo>
                <a:close/>
              </a:path>
            </a:pathLst>
          </a:custGeom>
          <a:blipFill>
            <a:blip r:embed="rId8"/>
            <a:stretch>
              <a:fillRect l="0" t="0" r="0" b="0"/>
            </a:stretch>
          </a:blipFill>
        </p:spPr>
      </p:sp>
      <p:sp>
        <p:nvSpPr>
          <p:cNvPr name="Freeform 17" id="17"/>
          <p:cNvSpPr/>
          <p:nvPr/>
        </p:nvSpPr>
        <p:spPr>
          <a:xfrm flipH="false" flipV="false" rot="0">
            <a:off x="12459675" y="280548"/>
            <a:ext cx="4308720" cy="8977752"/>
          </a:xfrm>
          <a:custGeom>
            <a:avLst/>
            <a:gdLst/>
            <a:ahLst/>
            <a:cxnLst/>
            <a:rect r="r" b="b" t="t" l="l"/>
            <a:pathLst>
              <a:path h="8977752" w="4308720">
                <a:moveTo>
                  <a:pt x="0" y="0"/>
                </a:moveTo>
                <a:lnTo>
                  <a:pt x="4308720" y="0"/>
                </a:lnTo>
                <a:lnTo>
                  <a:pt x="4308720" y="8977752"/>
                </a:lnTo>
                <a:lnTo>
                  <a:pt x="0" y="8977752"/>
                </a:lnTo>
                <a:lnTo>
                  <a:pt x="0" y="0"/>
                </a:lnTo>
                <a:close/>
              </a:path>
            </a:pathLst>
          </a:custGeom>
          <a:blipFill>
            <a:blip r:embed="rId9"/>
            <a:stretch>
              <a:fillRect l="0" t="0" r="0" b="0"/>
            </a:stretch>
          </a:blipFill>
        </p:spPr>
      </p:sp>
      <p:sp>
        <p:nvSpPr>
          <p:cNvPr name="TextBox 18" id="18"/>
          <p:cNvSpPr txBox="true"/>
          <p:nvPr/>
        </p:nvSpPr>
        <p:spPr>
          <a:xfrm rot="0">
            <a:off x="387776" y="516918"/>
            <a:ext cx="8115300" cy="682520"/>
          </a:xfrm>
          <a:prstGeom prst="rect">
            <a:avLst/>
          </a:prstGeom>
        </p:spPr>
        <p:txBody>
          <a:bodyPr anchor="t" rtlCol="false" tIns="0" lIns="0" bIns="0" rIns="0">
            <a:spAutoFit/>
          </a:bodyPr>
          <a:lstStyle/>
          <a:p>
            <a:pPr algn="l">
              <a:lnSpc>
                <a:spcPts val="4379"/>
              </a:lnSpc>
            </a:pPr>
            <a:r>
              <a:rPr lang="en-US" sz="3981" b="true">
                <a:solidFill>
                  <a:srgbClr val="101010"/>
                </a:solidFill>
                <a:latin typeface="Agrandir Grand Ultra-Bold"/>
                <a:ea typeface="Agrandir Grand Ultra-Bold"/>
                <a:cs typeface="Agrandir Grand Ultra-Bold"/>
                <a:sym typeface="Agrandir Grand Ultra-Bold"/>
              </a:rPr>
              <a:t>FITUR UNTUK LISTENER</a:t>
            </a:r>
          </a:p>
        </p:txBody>
      </p:sp>
      <p:sp>
        <p:nvSpPr>
          <p:cNvPr name="TextBox 19" id="19"/>
          <p:cNvSpPr txBox="true"/>
          <p:nvPr/>
        </p:nvSpPr>
        <p:spPr>
          <a:xfrm rot="0">
            <a:off x="387776" y="1340045"/>
            <a:ext cx="7652010" cy="646311"/>
          </a:xfrm>
          <a:prstGeom prst="rect">
            <a:avLst/>
          </a:prstGeom>
        </p:spPr>
        <p:txBody>
          <a:bodyPr anchor="t" rtlCol="false" tIns="0" lIns="0" bIns="0" rIns="0">
            <a:spAutoFit/>
          </a:bodyPr>
          <a:lstStyle/>
          <a:p>
            <a:pPr algn="l">
              <a:lnSpc>
                <a:spcPts val="5348"/>
              </a:lnSpc>
              <a:spcBef>
                <a:spcPct val="0"/>
              </a:spcBef>
            </a:pPr>
            <a:r>
              <a:rPr lang="en-US" b="true" sz="3820">
                <a:solidFill>
                  <a:srgbClr val="101010"/>
                </a:solidFill>
                <a:latin typeface="Canva Sans Bold"/>
                <a:ea typeface="Canva Sans Bold"/>
                <a:cs typeface="Canva Sans Bold"/>
                <a:sym typeface="Canva Sans Bold"/>
              </a:rPr>
              <a:t>Login</a:t>
            </a:r>
          </a:p>
        </p:txBody>
      </p:sp>
      <p:sp>
        <p:nvSpPr>
          <p:cNvPr name="TextBox 20" id="20"/>
          <p:cNvSpPr txBox="true"/>
          <p:nvPr/>
        </p:nvSpPr>
        <p:spPr>
          <a:xfrm rot="0">
            <a:off x="387776" y="2447503"/>
            <a:ext cx="10084089" cy="1019175"/>
          </a:xfrm>
          <a:prstGeom prst="rect">
            <a:avLst/>
          </a:prstGeom>
        </p:spPr>
        <p:txBody>
          <a:bodyPr anchor="t" rtlCol="false" tIns="0" lIns="0" bIns="0" rIns="0">
            <a:spAutoFit/>
          </a:bodyPr>
          <a:lstStyle/>
          <a:p>
            <a:pPr algn="l">
              <a:lnSpc>
                <a:spcPts val="4199"/>
              </a:lnSpc>
              <a:spcBef>
                <a:spcPct val="0"/>
              </a:spcBef>
            </a:pPr>
            <a:r>
              <a:rPr lang="en-US" sz="2999">
                <a:solidFill>
                  <a:srgbClr val="101010"/>
                </a:solidFill>
                <a:latin typeface="Canva Sans"/>
                <a:ea typeface="Canva Sans"/>
                <a:cs typeface="Canva Sans"/>
                <a:sym typeface="Canva Sans"/>
              </a:rPr>
              <a:t>Pengguna/Listener yang sudah memliki akun dapat melakukan login dan memilih role Listener</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76707" y="-366843"/>
            <a:ext cx="21314151" cy="10676209"/>
            <a:chOff x="0" y="0"/>
            <a:chExt cx="28418868" cy="14234945"/>
          </a:xfrm>
        </p:grpSpPr>
        <p:sp>
          <p:nvSpPr>
            <p:cNvPr name="Freeform 3" id="3"/>
            <p:cNvSpPr/>
            <p:nvPr/>
          </p:nvSpPr>
          <p:spPr>
            <a:xfrm flipH="false" flipV="false" rot="0">
              <a:off x="0" y="0"/>
              <a:ext cx="14234945" cy="14234945"/>
            </a:xfrm>
            <a:custGeom>
              <a:avLst/>
              <a:gdLst/>
              <a:ahLst/>
              <a:cxnLst/>
              <a:rect r="r" b="b" t="t" l="l"/>
              <a:pathLst>
                <a:path h="14234945" w="14234945">
                  <a:moveTo>
                    <a:pt x="0" y="0"/>
                  </a:moveTo>
                  <a:lnTo>
                    <a:pt x="14234945" y="0"/>
                  </a:lnTo>
                  <a:lnTo>
                    <a:pt x="14234945" y="14234945"/>
                  </a:lnTo>
                  <a:lnTo>
                    <a:pt x="0" y="14234945"/>
                  </a:lnTo>
                  <a:lnTo>
                    <a:pt x="0" y="0"/>
                  </a:lnTo>
                  <a:close/>
                </a:path>
              </a:pathLst>
            </a:custGeom>
            <a:blipFill>
              <a:blip r:embed="rId2">
                <a:alphaModFix amt="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183923" y="0"/>
              <a:ext cx="14234945" cy="14234945"/>
            </a:xfrm>
            <a:custGeom>
              <a:avLst/>
              <a:gdLst/>
              <a:ahLst/>
              <a:cxnLst/>
              <a:rect r="r" b="b" t="t" l="l"/>
              <a:pathLst>
                <a:path h="14234945" w="14234945">
                  <a:moveTo>
                    <a:pt x="0" y="0"/>
                  </a:moveTo>
                  <a:lnTo>
                    <a:pt x="14234945" y="0"/>
                  </a:lnTo>
                  <a:lnTo>
                    <a:pt x="14234945" y="14234945"/>
                  </a:lnTo>
                  <a:lnTo>
                    <a:pt x="0" y="14234945"/>
                  </a:lnTo>
                  <a:lnTo>
                    <a:pt x="0" y="0"/>
                  </a:lnTo>
                  <a:close/>
                </a:path>
              </a:pathLst>
            </a:custGeom>
            <a:blipFill>
              <a:blip r:embed="rId2">
                <a:alphaModFix amt="3000"/>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976707" y="9537567"/>
            <a:ext cx="20274216" cy="1059151"/>
            <a:chOff x="0" y="0"/>
            <a:chExt cx="5339711" cy="278953"/>
          </a:xfrm>
        </p:grpSpPr>
        <p:sp>
          <p:nvSpPr>
            <p:cNvPr name="Freeform 6" id="6"/>
            <p:cNvSpPr/>
            <p:nvPr/>
          </p:nvSpPr>
          <p:spPr>
            <a:xfrm flipH="false" flipV="false" rot="0">
              <a:off x="0" y="0"/>
              <a:ext cx="5339711" cy="278953"/>
            </a:xfrm>
            <a:custGeom>
              <a:avLst/>
              <a:gdLst/>
              <a:ahLst/>
              <a:cxnLst/>
              <a:rect r="r" b="b" t="t" l="l"/>
              <a:pathLst>
                <a:path h="278953" w="5339711">
                  <a:moveTo>
                    <a:pt x="19475" y="0"/>
                  </a:moveTo>
                  <a:lnTo>
                    <a:pt x="5320236" y="0"/>
                  </a:lnTo>
                  <a:cubicBezTo>
                    <a:pt x="5330992" y="0"/>
                    <a:pt x="5339711" y="8719"/>
                    <a:pt x="5339711" y="19475"/>
                  </a:cubicBezTo>
                  <a:lnTo>
                    <a:pt x="5339711" y="259478"/>
                  </a:lnTo>
                  <a:cubicBezTo>
                    <a:pt x="5339711" y="270234"/>
                    <a:pt x="5330992" y="278953"/>
                    <a:pt x="5320236" y="278953"/>
                  </a:cubicBezTo>
                  <a:lnTo>
                    <a:pt x="19475" y="278953"/>
                  </a:lnTo>
                  <a:cubicBezTo>
                    <a:pt x="8719" y="278953"/>
                    <a:pt x="0" y="270234"/>
                    <a:pt x="0" y="259478"/>
                  </a:cubicBezTo>
                  <a:lnTo>
                    <a:pt x="0" y="19475"/>
                  </a:lnTo>
                  <a:cubicBezTo>
                    <a:pt x="0" y="8719"/>
                    <a:pt x="8719" y="0"/>
                    <a:pt x="19475" y="0"/>
                  </a:cubicBezTo>
                  <a:close/>
                </a:path>
              </a:pathLst>
            </a:custGeom>
            <a:solidFill>
              <a:srgbClr val="CC576F"/>
            </a:solidFill>
          </p:spPr>
        </p:sp>
        <p:sp>
          <p:nvSpPr>
            <p:cNvPr name="TextBox 7" id="7"/>
            <p:cNvSpPr txBox="true"/>
            <p:nvPr/>
          </p:nvSpPr>
          <p:spPr>
            <a:xfrm>
              <a:off x="0" y="-47625"/>
              <a:ext cx="5339711" cy="326578"/>
            </a:xfrm>
            <a:prstGeom prst="rect">
              <a:avLst/>
            </a:prstGeom>
          </p:spPr>
          <p:txBody>
            <a:bodyPr anchor="ctr" rtlCol="false" tIns="50800" lIns="50800" bIns="50800" rIns="50800"/>
            <a:lstStyle/>
            <a:p>
              <a:pPr algn="ctr">
                <a:lnSpc>
                  <a:spcPts val="3499"/>
                </a:lnSpc>
              </a:pPr>
            </a:p>
          </p:txBody>
        </p:sp>
      </p:grpSp>
      <p:sp>
        <p:nvSpPr>
          <p:cNvPr name="Freeform 8" id="8"/>
          <p:cNvSpPr/>
          <p:nvPr/>
        </p:nvSpPr>
        <p:spPr>
          <a:xfrm flipH="true" flipV="false" rot="0">
            <a:off x="145557" y="6984331"/>
            <a:ext cx="4299869" cy="4547939"/>
          </a:xfrm>
          <a:custGeom>
            <a:avLst/>
            <a:gdLst/>
            <a:ahLst/>
            <a:cxnLst/>
            <a:rect r="r" b="b" t="t" l="l"/>
            <a:pathLst>
              <a:path h="4547939" w="4299869">
                <a:moveTo>
                  <a:pt x="4299869" y="0"/>
                </a:moveTo>
                <a:lnTo>
                  <a:pt x="0" y="0"/>
                </a:lnTo>
                <a:lnTo>
                  <a:pt x="0" y="4547938"/>
                </a:lnTo>
                <a:lnTo>
                  <a:pt x="4299869" y="4547938"/>
                </a:lnTo>
                <a:lnTo>
                  <a:pt x="4299869"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grpSp>
        <p:nvGrpSpPr>
          <p:cNvPr name="Group 9" id="9"/>
          <p:cNvGrpSpPr/>
          <p:nvPr/>
        </p:nvGrpSpPr>
        <p:grpSpPr>
          <a:xfrm rot="187008">
            <a:off x="8753111" y="637811"/>
            <a:ext cx="781777" cy="781777"/>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DE59"/>
            </a:solidFill>
          </p:spPr>
        </p:sp>
        <p:sp>
          <p:nvSpPr>
            <p:cNvPr name="TextBox 11" id="11"/>
            <p:cNvSpPr txBox="true"/>
            <p:nvPr/>
          </p:nvSpPr>
          <p:spPr>
            <a:xfrm>
              <a:off x="190500" y="142875"/>
              <a:ext cx="431800" cy="479425"/>
            </a:xfrm>
            <a:prstGeom prst="rect">
              <a:avLst/>
            </a:prstGeom>
          </p:spPr>
          <p:txBody>
            <a:bodyPr anchor="ctr" rtlCol="false" tIns="50800" lIns="50800" bIns="50800" rIns="50800"/>
            <a:lstStyle/>
            <a:p>
              <a:pPr algn="ctr">
                <a:lnSpc>
                  <a:spcPts val="3499"/>
                </a:lnSpc>
              </a:pPr>
            </a:p>
          </p:txBody>
        </p:sp>
      </p:grpSp>
      <p:grpSp>
        <p:nvGrpSpPr>
          <p:cNvPr name="Group 12" id="12"/>
          <p:cNvGrpSpPr/>
          <p:nvPr/>
        </p:nvGrpSpPr>
        <p:grpSpPr>
          <a:xfrm rot="-321674">
            <a:off x="10756391" y="3298590"/>
            <a:ext cx="781777" cy="781777"/>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DE59"/>
            </a:solidFill>
          </p:spPr>
        </p:sp>
        <p:sp>
          <p:nvSpPr>
            <p:cNvPr name="TextBox 14" id="14"/>
            <p:cNvSpPr txBox="true"/>
            <p:nvPr/>
          </p:nvSpPr>
          <p:spPr>
            <a:xfrm>
              <a:off x="190500" y="142875"/>
              <a:ext cx="431800" cy="479425"/>
            </a:xfrm>
            <a:prstGeom prst="rect">
              <a:avLst/>
            </a:prstGeom>
          </p:spPr>
          <p:txBody>
            <a:bodyPr anchor="ctr" rtlCol="false" tIns="50800" lIns="50800" bIns="50800" rIns="50800"/>
            <a:lstStyle/>
            <a:p>
              <a:pPr algn="ctr">
                <a:lnSpc>
                  <a:spcPts val="3499"/>
                </a:lnSpc>
              </a:pPr>
            </a:p>
          </p:txBody>
        </p:sp>
      </p:grpSp>
      <p:sp>
        <p:nvSpPr>
          <p:cNvPr name="Freeform 15" id="15"/>
          <p:cNvSpPr/>
          <p:nvPr/>
        </p:nvSpPr>
        <p:spPr>
          <a:xfrm flipH="false" flipV="false" rot="0">
            <a:off x="3698997" y="5357655"/>
            <a:ext cx="8210837" cy="9903421"/>
          </a:xfrm>
          <a:custGeom>
            <a:avLst/>
            <a:gdLst/>
            <a:ahLst/>
            <a:cxnLst/>
            <a:rect r="r" b="b" t="t" l="l"/>
            <a:pathLst>
              <a:path h="9903421" w="8210837">
                <a:moveTo>
                  <a:pt x="0" y="0"/>
                </a:moveTo>
                <a:lnTo>
                  <a:pt x="8210837" y="0"/>
                </a:lnTo>
                <a:lnTo>
                  <a:pt x="8210837" y="9903421"/>
                </a:lnTo>
                <a:lnTo>
                  <a:pt x="0" y="990342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16" id="16"/>
          <p:cNvSpPr/>
          <p:nvPr/>
        </p:nvSpPr>
        <p:spPr>
          <a:xfrm flipH="false" flipV="false" rot="0">
            <a:off x="10721579" y="454216"/>
            <a:ext cx="1490446" cy="1490446"/>
          </a:xfrm>
          <a:custGeom>
            <a:avLst/>
            <a:gdLst/>
            <a:ahLst/>
            <a:cxnLst/>
            <a:rect r="r" b="b" t="t" l="l"/>
            <a:pathLst>
              <a:path h="1490446" w="1490446">
                <a:moveTo>
                  <a:pt x="0" y="0"/>
                </a:moveTo>
                <a:lnTo>
                  <a:pt x="1490446" y="0"/>
                </a:lnTo>
                <a:lnTo>
                  <a:pt x="1490446" y="1490445"/>
                </a:lnTo>
                <a:lnTo>
                  <a:pt x="0" y="1490445"/>
                </a:lnTo>
                <a:lnTo>
                  <a:pt x="0" y="0"/>
                </a:lnTo>
                <a:close/>
              </a:path>
            </a:pathLst>
          </a:custGeom>
          <a:blipFill>
            <a:blip r:embed="rId8"/>
            <a:stretch>
              <a:fillRect l="0" t="0" r="0" b="0"/>
            </a:stretch>
          </a:blipFill>
        </p:spPr>
      </p:sp>
      <p:sp>
        <p:nvSpPr>
          <p:cNvPr name="Freeform 17" id="17"/>
          <p:cNvSpPr/>
          <p:nvPr/>
        </p:nvSpPr>
        <p:spPr>
          <a:xfrm flipH="false" flipV="false" rot="0">
            <a:off x="12459675" y="205012"/>
            <a:ext cx="4418867" cy="9053288"/>
          </a:xfrm>
          <a:custGeom>
            <a:avLst/>
            <a:gdLst/>
            <a:ahLst/>
            <a:cxnLst/>
            <a:rect r="r" b="b" t="t" l="l"/>
            <a:pathLst>
              <a:path h="9053288" w="4418867">
                <a:moveTo>
                  <a:pt x="0" y="0"/>
                </a:moveTo>
                <a:lnTo>
                  <a:pt x="4418867" y="0"/>
                </a:lnTo>
                <a:lnTo>
                  <a:pt x="4418867" y="9053288"/>
                </a:lnTo>
                <a:lnTo>
                  <a:pt x="0" y="9053288"/>
                </a:lnTo>
                <a:lnTo>
                  <a:pt x="0" y="0"/>
                </a:lnTo>
                <a:close/>
              </a:path>
            </a:pathLst>
          </a:custGeom>
          <a:blipFill>
            <a:blip r:embed="rId9"/>
            <a:stretch>
              <a:fillRect l="0" t="0" r="0" b="0"/>
            </a:stretch>
          </a:blipFill>
        </p:spPr>
      </p:sp>
      <p:sp>
        <p:nvSpPr>
          <p:cNvPr name="TextBox 18" id="18"/>
          <p:cNvSpPr txBox="true"/>
          <p:nvPr/>
        </p:nvSpPr>
        <p:spPr>
          <a:xfrm rot="0">
            <a:off x="387776" y="516918"/>
            <a:ext cx="8115300" cy="682520"/>
          </a:xfrm>
          <a:prstGeom prst="rect">
            <a:avLst/>
          </a:prstGeom>
        </p:spPr>
        <p:txBody>
          <a:bodyPr anchor="t" rtlCol="false" tIns="0" lIns="0" bIns="0" rIns="0">
            <a:spAutoFit/>
          </a:bodyPr>
          <a:lstStyle/>
          <a:p>
            <a:pPr algn="l">
              <a:lnSpc>
                <a:spcPts val="4379"/>
              </a:lnSpc>
            </a:pPr>
            <a:r>
              <a:rPr lang="en-US" sz="3981" b="true">
                <a:solidFill>
                  <a:srgbClr val="101010"/>
                </a:solidFill>
                <a:latin typeface="Agrandir Grand Ultra-Bold"/>
                <a:ea typeface="Agrandir Grand Ultra-Bold"/>
                <a:cs typeface="Agrandir Grand Ultra-Bold"/>
                <a:sym typeface="Agrandir Grand Ultra-Bold"/>
              </a:rPr>
              <a:t>FITUR UNTUK LISTENER</a:t>
            </a:r>
          </a:p>
        </p:txBody>
      </p:sp>
      <p:sp>
        <p:nvSpPr>
          <p:cNvPr name="TextBox 19" id="19"/>
          <p:cNvSpPr txBox="true"/>
          <p:nvPr/>
        </p:nvSpPr>
        <p:spPr>
          <a:xfrm rot="0">
            <a:off x="387776" y="1340045"/>
            <a:ext cx="7652010" cy="646311"/>
          </a:xfrm>
          <a:prstGeom prst="rect">
            <a:avLst/>
          </a:prstGeom>
        </p:spPr>
        <p:txBody>
          <a:bodyPr anchor="t" rtlCol="false" tIns="0" lIns="0" bIns="0" rIns="0">
            <a:spAutoFit/>
          </a:bodyPr>
          <a:lstStyle/>
          <a:p>
            <a:pPr algn="l">
              <a:lnSpc>
                <a:spcPts val="5348"/>
              </a:lnSpc>
              <a:spcBef>
                <a:spcPct val="0"/>
              </a:spcBef>
            </a:pPr>
            <a:r>
              <a:rPr lang="en-US" b="true" sz="3820">
                <a:solidFill>
                  <a:srgbClr val="101010"/>
                </a:solidFill>
                <a:latin typeface="Canva Sans Bold"/>
                <a:ea typeface="Canva Sans Bold"/>
                <a:cs typeface="Canva Sans Bold"/>
                <a:sym typeface="Canva Sans Bold"/>
              </a:rPr>
              <a:t>Dashboard / Beranda</a:t>
            </a:r>
          </a:p>
        </p:txBody>
      </p:sp>
      <p:sp>
        <p:nvSpPr>
          <p:cNvPr name="TextBox 20" id="20"/>
          <p:cNvSpPr txBox="true"/>
          <p:nvPr/>
        </p:nvSpPr>
        <p:spPr>
          <a:xfrm rot="0">
            <a:off x="387776" y="2447503"/>
            <a:ext cx="10084089" cy="2066925"/>
          </a:xfrm>
          <a:prstGeom prst="rect">
            <a:avLst/>
          </a:prstGeom>
        </p:spPr>
        <p:txBody>
          <a:bodyPr anchor="t" rtlCol="false" tIns="0" lIns="0" bIns="0" rIns="0">
            <a:spAutoFit/>
          </a:bodyPr>
          <a:lstStyle/>
          <a:p>
            <a:pPr algn="l">
              <a:lnSpc>
                <a:spcPts val="4199"/>
              </a:lnSpc>
              <a:spcBef>
                <a:spcPct val="0"/>
              </a:spcBef>
            </a:pPr>
            <a:r>
              <a:rPr lang="en-US" sz="2999">
                <a:solidFill>
                  <a:srgbClr val="101010"/>
                </a:solidFill>
                <a:latin typeface="Canva Sans"/>
                <a:ea typeface="Canva Sans"/>
                <a:cs typeface="Canva Sans"/>
                <a:sym typeface="Canva Sans"/>
              </a:rPr>
              <a:t>Berisi header sapaan untuk user diambil dari data username user pada saat registrasi, pengelompokan soundscape berdasarkan kategorinya, soundscape terbaru dan rekomendasi musik dari soundscape</a:t>
            </a:r>
          </a:p>
        </p:txBody>
      </p:sp>
      <p:sp>
        <p:nvSpPr>
          <p:cNvPr name="Freeform 21" id="21"/>
          <p:cNvSpPr/>
          <p:nvPr/>
        </p:nvSpPr>
        <p:spPr>
          <a:xfrm flipH="false" flipV="false" rot="0">
            <a:off x="9813635" y="-214443"/>
            <a:ext cx="10676209" cy="10676209"/>
          </a:xfrm>
          <a:custGeom>
            <a:avLst/>
            <a:gdLst/>
            <a:ahLst/>
            <a:cxnLst/>
            <a:rect r="r" b="b" t="t" l="l"/>
            <a:pathLst>
              <a:path h="10676209" w="10676209">
                <a:moveTo>
                  <a:pt x="0" y="0"/>
                </a:moveTo>
                <a:lnTo>
                  <a:pt x="10676209" y="0"/>
                </a:lnTo>
                <a:lnTo>
                  <a:pt x="10676209" y="10676209"/>
                </a:lnTo>
                <a:lnTo>
                  <a:pt x="0" y="10676209"/>
                </a:lnTo>
                <a:lnTo>
                  <a:pt x="0" y="0"/>
                </a:lnTo>
                <a:close/>
              </a:path>
            </a:pathLst>
          </a:custGeom>
          <a:blipFill>
            <a:blip r:embed="rId2">
              <a:alphaModFix amt="3000"/>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76707" y="-366843"/>
            <a:ext cx="21314151" cy="10676209"/>
            <a:chOff x="0" y="0"/>
            <a:chExt cx="28418868" cy="14234945"/>
          </a:xfrm>
        </p:grpSpPr>
        <p:sp>
          <p:nvSpPr>
            <p:cNvPr name="Freeform 3" id="3"/>
            <p:cNvSpPr/>
            <p:nvPr/>
          </p:nvSpPr>
          <p:spPr>
            <a:xfrm flipH="false" flipV="false" rot="0">
              <a:off x="0" y="0"/>
              <a:ext cx="14234945" cy="14234945"/>
            </a:xfrm>
            <a:custGeom>
              <a:avLst/>
              <a:gdLst/>
              <a:ahLst/>
              <a:cxnLst/>
              <a:rect r="r" b="b" t="t" l="l"/>
              <a:pathLst>
                <a:path h="14234945" w="14234945">
                  <a:moveTo>
                    <a:pt x="0" y="0"/>
                  </a:moveTo>
                  <a:lnTo>
                    <a:pt x="14234945" y="0"/>
                  </a:lnTo>
                  <a:lnTo>
                    <a:pt x="14234945" y="14234945"/>
                  </a:lnTo>
                  <a:lnTo>
                    <a:pt x="0" y="14234945"/>
                  </a:lnTo>
                  <a:lnTo>
                    <a:pt x="0" y="0"/>
                  </a:lnTo>
                  <a:close/>
                </a:path>
              </a:pathLst>
            </a:custGeom>
            <a:blipFill>
              <a:blip r:embed="rId2">
                <a:alphaModFix amt="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183923" y="0"/>
              <a:ext cx="14234945" cy="14234945"/>
            </a:xfrm>
            <a:custGeom>
              <a:avLst/>
              <a:gdLst/>
              <a:ahLst/>
              <a:cxnLst/>
              <a:rect r="r" b="b" t="t" l="l"/>
              <a:pathLst>
                <a:path h="14234945" w="14234945">
                  <a:moveTo>
                    <a:pt x="0" y="0"/>
                  </a:moveTo>
                  <a:lnTo>
                    <a:pt x="14234945" y="0"/>
                  </a:lnTo>
                  <a:lnTo>
                    <a:pt x="14234945" y="14234945"/>
                  </a:lnTo>
                  <a:lnTo>
                    <a:pt x="0" y="14234945"/>
                  </a:lnTo>
                  <a:lnTo>
                    <a:pt x="0" y="0"/>
                  </a:lnTo>
                  <a:close/>
                </a:path>
              </a:pathLst>
            </a:custGeom>
            <a:blipFill>
              <a:blip r:embed="rId2">
                <a:alphaModFix amt="3000"/>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976707" y="9537567"/>
            <a:ext cx="20274216" cy="1059151"/>
            <a:chOff x="0" y="0"/>
            <a:chExt cx="5339711" cy="278953"/>
          </a:xfrm>
        </p:grpSpPr>
        <p:sp>
          <p:nvSpPr>
            <p:cNvPr name="Freeform 6" id="6"/>
            <p:cNvSpPr/>
            <p:nvPr/>
          </p:nvSpPr>
          <p:spPr>
            <a:xfrm flipH="false" flipV="false" rot="0">
              <a:off x="0" y="0"/>
              <a:ext cx="5339711" cy="278953"/>
            </a:xfrm>
            <a:custGeom>
              <a:avLst/>
              <a:gdLst/>
              <a:ahLst/>
              <a:cxnLst/>
              <a:rect r="r" b="b" t="t" l="l"/>
              <a:pathLst>
                <a:path h="278953" w="5339711">
                  <a:moveTo>
                    <a:pt x="19475" y="0"/>
                  </a:moveTo>
                  <a:lnTo>
                    <a:pt x="5320236" y="0"/>
                  </a:lnTo>
                  <a:cubicBezTo>
                    <a:pt x="5330992" y="0"/>
                    <a:pt x="5339711" y="8719"/>
                    <a:pt x="5339711" y="19475"/>
                  </a:cubicBezTo>
                  <a:lnTo>
                    <a:pt x="5339711" y="259478"/>
                  </a:lnTo>
                  <a:cubicBezTo>
                    <a:pt x="5339711" y="270234"/>
                    <a:pt x="5330992" y="278953"/>
                    <a:pt x="5320236" y="278953"/>
                  </a:cubicBezTo>
                  <a:lnTo>
                    <a:pt x="19475" y="278953"/>
                  </a:lnTo>
                  <a:cubicBezTo>
                    <a:pt x="8719" y="278953"/>
                    <a:pt x="0" y="270234"/>
                    <a:pt x="0" y="259478"/>
                  </a:cubicBezTo>
                  <a:lnTo>
                    <a:pt x="0" y="19475"/>
                  </a:lnTo>
                  <a:cubicBezTo>
                    <a:pt x="0" y="8719"/>
                    <a:pt x="8719" y="0"/>
                    <a:pt x="19475" y="0"/>
                  </a:cubicBezTo>
                  <a:close/>
                </a:path>
              </a:pathLst>
            </a:custGeom>
            <a:solidFill>
              <a:srgbClr val="CC576F"/>
            </a:solidFill>
          </p:spPr>
        </p:sp>
        <p:sp>
          <p:nvSpPr>
            <p:cNvPr name="TextBox 7" id="7"/>
            <p:cNvSpPr txBox="true"/>
            <p:nvPr/>
          </p:nvSpPr>
          <p:spPr>
            <a:xfrm>
              <a:off x="0" y="-47625"/>
              <a:ext cx="5339711" cy="326578"/>
            </a:xfrm>
            <a:prstGeom prst="rect">
              <a:avLst/>
            </a:prstGeom>
          </p:spPr>
          <p:txBody>
            <a:bodyPr anchor="ctr" rtlCol="false" tIns="50800" lIns="50800" bIns="50800" rIns="50800"/>
            <a:lstStyle/>
            <a:p>
              <a:pPr algn="ctr">
                <a:lnSpc>
                  <a:spcPts val="3499"/>
                </a:lnSpc>
              </a:pPr>
            </a:p>
          </p:txBody>
        </p:sp>
      </p:grpSp>
      <p:sp>
        <p:nvSpPr>
          <p:cNvPr name="Freeform 8" id="8"/>
          <p:cNvSpPr/>
          <p:nvPr/>
        </p:nvSpPr>
        <p:spPr>
          <a:xfrm flipH="true" flipV="false" rot="0">
            <a:off x="145557" y="6984331"/>
            <a:ext cx="4299869" cy="4547939"/>
          </a:xfrm>
          <a:custGeom>
            <a:avLst/>
            <a:gdLst/>
            <a:ahLst/>
            <a:cxnLst/>
            <a:rect r="r" b="b" t="t" l="l"/>
            <a:pathLst>
              <a:path h="4547939" w="4299869">
                <a:moveTo>
                  <a:pt x="4299869" y="0"/>
                </a:moveTo>
                <a:lnTo>
                  <a:pt x="0" y="0"/>
                </a:lnTo>
                <a:lnTo>
                  <a:pt x="0" y="4547938"/>
                </a:lnTo>
                <a:lnTo>
                  <a:pt x="4299869" y="4547938"/>
                </a:lnTo>
                <a:lnTo>
                  <a:pt x="4299869"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grpSp>
        <p:nvGrpSpPr>
          <p:cNvPr name="Group 9" id="9"/>
          <p:cNvGrpSpPr/>
          <p:nvPr/>
        </p:nvGrpSpPr>
        <p:grpSpPr>
          <a:xfrm rot="187008">
            <a:off x="8753111" y="637811"/>
            <a:ext cx="781777" cy="781777"/>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DE59"/>
            </a:solidFill>
          </p:spPr>
        </p:sp>
        <p:sp>
          <p:nvSpPr>
            <p:cNvPr name="TextBox 11" id="11"/>
            <p:cNvSpPr txBox="true"/>
            <p:nvPr/>
          </p:nvSpPr>
          <p:spPr>
            <a:xfrm>
              <a:off x="190500" y="142875"/>
              <a:ext cx="431800" cy="479425"/>
            </a:xfrm>
            <a:prstGeom prst="rect">
              <a:avLst/>
            </a:prstGeom>
          </p:spPr>
          <p:txBody>
            <a:bodyPr anchor="ctr" rtlCol="false" tIns="50800" lIns="50800" bIns="50800" rIns="50800"/>
            <a:lstStyle/>
            <a:p>
              <a:pPr algn="ctr">
                <a:lnSpc>
                  <a:spcPts val="3499"/>
                </a:lnSpc>
              </a:pPr>
            </a:p>
          </p:txBody>
        </p:sp>
      </p:grpSp>
      <p:grpSp>
        <p:nvGrpSpPr>
          <p:cNvPr name="Group 12" id="12"/>
          <p:cNvGrpSpPr/>
          <p:nvPr/>
        </p:nvGrpSpPr>
        <p:grpSpPr>
          <a:xfrm rot="-321674">
            <a:off x="10756391" y="3298590"/>
            <a:ext cx="781777" cy="781777"/>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DE59"/>
            </a:solidFill>
          </p:spPr>
        </p:sp>
        <p:sp>
          <p:nvSpPr>
            <p:cNvPr name="TextBox 14" id="14"/>
            <p:cNvSpPr txBox="true"/>
            <p:nvPr/>
          </p:nvSpPr>
          <p:spPr>
            <a:xfrm>
              <a:off x="190500" y="142875"/>
              <a:ext cx="431800" cy="479425"/>
            </a:xfrm>
            <a:prstGeom prst="rect">
              <a:avLst/>
            </a:prstGeom>
          </p:spPr>
          <p:txBody>
            <a:bodyPr anchor="ctr" rtlCol="false" tIns="50800" lIns="50800" bIns="50800" rIns="50800"/>
            <a:lstStyle/>
            <a:p>
              <a:pPr algn="ctr">
                <a:lnSpc>
                  <a:spcPts val="3499"/>
                </a:lnSpc>
              </a:pPr>
            </a:p>
          </p:txBody>
        </p:sp>
      </p:grpSp>
      <p:sp>
        <p:nvSpPr>
          <p:cNvPr name="Freeform 15" id="15"/>
          <p:cNvSpPr/>
          <p:nvPr/>
        </p:nvSpPr>
        <p:spPr>
          <a:xfrm flipH="false" flipV="false" rot="0">
            <a:off x="3698997" y="5357655"/>
            <a:ext cx="8210837" cy="9903421"/>
          </a:xfrm>
          <a:custGeom>
            <a:avLst/>
            <a:gdLst/>
            <a:ahLst/>
            <a:cxnLst/>
            <a:rect r="r" b="b" t="t" l="l"/>
            <a:pathLst>
              <a:path h="9903421" w="8210837">
                <a:moveTo>
                  <a:pt x="0" y="0"/>
                </a:moveTo>
                <a:lnTo>
                  <a:pt x="8210837" y="0"/>
                </a:lnTo>
                <a:lnTo>
                  <a:pt x="8210837" y="9903421"/>
                </a:lnTo>
                <a:lnTo>
                  <a:pt x="0" y="990342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16" id="16"/>
          <p:cNvSpPr/>
          <p:nvPr/>
        </p:nvSpPr>
        <p:spPr>
          <a:xfrm flipH="false" flipV="false" rot="0">
            <a:off x="10721579" y="454216"/>
            <a:ext cx="1490446" cy="1490446"/>
          </a:xfrm>
          <a:custGeom>
            <a:avLst/>
            <a:gdLst/>
            <a:ahLst/>
            <a:cxnLst/>
            <a:rect r="r" b="b" t="t" l="l"/>
            <a:pathLst>
              <a:path h="1490446" w="1490446">
                <a:moveTo>
                  <a:pt x="0" y="0"/>
                </a:moveTo>
                <a:lnTo>
                  <a:pt x="1490446" y="0"/>
                </a:lnTo>
                <a:lnTo>
                  <a:pt x="1490446" y="1490445"/>
                </a:lnTo>
                <a:lnTo>
                  <a:pt x="0" y="1490445"/>
                </a:lnTo>
                <a:lnTo>
                  <a:pt x="0" y="0"/>
                </a:lnTo>
                <a:close/>
              </a:path>
            </a:pathLst>
          </a:custGeom>
          <a:blipFill>
            <a:blip r:embed="rId8"/>
            <a:stretch>
              <a:fillRect l="0" t="0" r="0" b="0"/>
            </a:stretch>
          </a:blipFill>
        </p:spPr>
      </p:sp>
      <p:sp>
        <p:nvSpPr>
          <p:cNvPr name="TextBox 17" id="17"/>
          <p:cNvSpPr txBox="true"/>
          <p:nvPr/>
        </p:nvSpPr>
        <p:spPr>
          <a:xfrm rot="0">
            <a:off x="387776" y="2447503"/>
            <a:ext cx="10084089" cy="1543050"/>
          </a:xfrm>
          <a:prstGeom prst="rect">
            <a:avLst/>
          </a:prstGeom>
        </p:spPr>
        <p:txBody>
          <a:bodyPr anchor="t" rtlCol="false" tIns="0" lIns="0" bIns="0" rIns="0">
            <a:spAutoFit/>
          </a:bodyPr>
          <a:lstStyle/>
          <a:p>
            <a:pPr algn="l">
              <a:lnSpc>
                <a:spcPts val="4199"/>
              </a:lnSpc>
              <a:spcBef>
                <a:spcPct val="0"/>
              </a:spcBef>
            </a:pPr>
            <a:r>
              <a:rPr lang="en-US" sz="2999">
                <a:solidFill>
                  <a:srgbClr val="101010"/>
                </a:solidFill>
                <a:latin typeface="Canva Sans"/>
                <a:ea typeface="Canva Sans"/>
                <a:cs typeface="Canva Sans"/>
                <a:sym typeface="Canva Sans"/>
              </a:rPr>
              <a:t>Listener bisa jelajahi musik dengan ketik nama musik atau berdasarkan kelumpok kategori pada chip kategori</a:t>
            </a:r>
          </a:p>
        </p:txBody>
      </p:sp>
      <p:sp>
        <p:nvSpPr>
          <p:cNvPr name="Freeform 18" id="18"/>
          <p:cNvSpPr/>
          <p:nvPr/>
        </p:nvSpPr>
        <p:spPr>
          <a:xfrm flipH="false" flipV="false" rot="0">
            <a:off x="12459675" y="355550"/>
            <a:ext cx="4274666" cy="8902750"/>
          </a:xfrm>
          <a:custGeom>
            <a:avLst/>
            <a:gdLst/>
            <a:ahLst/>
            <a:cxnLst/>
            <a:rect r="r" b="b" t="t" l="l"/>
            <a:pathLst>
              <a:path h="8902750" w="4274666">
                <a:moveTo>
                  <a:pt x="0" y="0"/>
                </a:moveTo>
                <a:lnTo>
                  <a:pt x="4274666" y="0"/>
                </a:lnTo>
                <a:lnTo>
                  <a:pt x="4274666" y="8902750"/>
                </a:lnTo>
                <a:lnTo>
                  <a:pt x="0" y="8902750"/>
                </a:lnTo>
                <a:lnTo>
                  <a:pt x="0" y="0"/>
                </a:lnTo>
                <a:close/>
              </a:path>
            </a:pathLst>
          </a:custGeom>
          <a:blipFill>
            <a:blip r:embed="rId9"/>
            <a:stretch>
              <a:fillRect l="0" t="0" r="0" b="0"/>
            </a:stretch>
          </a:blipFill>
        </p:spPr>
      </p:sp>
      <p:sp>
        <p:nvSpPr>
          <p:cNvPr name="TextBox 19" id="19"/>
          <p:cNvSpPr txBox="true"/>
          <p:nvPr/>
        </p:nvSpPr>
        <p:spPr>
          <a:xfrm rot="0">
            <a:off x="387776" y="516918"/>
            <a:ext cx="8115300" cy="682520"/>
          </a:xfrm>
          <a:prstGeom prst="rect">
            <a:avLst/>
          </a:prstGeom>
        </p:spPr>
        <p:txBody>
          <a:bodyPr anchor="t" rtlCol="false" tIns="0" lIns="0" bIns="0" rIns="0">
            <a:spAutoFit/>
          </a:bodyPr>
          <a:lstStyle/>
          <a:p>
            <a:pPr algn="l">
              <a:lnSpc>
                <a:spcPts val="4379"/>
              </a:lnSpc>
            </a:pPr>
            <a:r>
              <a:rPr lang="en-US" sz="3981" b="true">
                <a:solidFill>
                  <a:srgbClr val="101010"/>
                </a:solidFill>
                <a:latin typeface="Agrandir Grand Ultra-Bold"/>
                <a:ea typeface="Agrandir Grand Ultra-Bold"/>
                <a:cs typeface="Agrandir Grand Ultra-Bold"/>
                <a:sym typeface="Agrandir Grand Ultra-Bold"/>
              </a:rPr>
              <a:t>FITUR UNTUK LISTENER</a:t>
            </a:r>
          </a:p>
        </p:txBody>
      </p:sp>
      <p:sp>
        <p:nvSpPr>
          <p:cNvPr name="TextBox 20" id="20"/>
          <p:cNvSpPr txBox="true"/>
          <p:nvPr/>
        </p:nvSpPr>
        <p:spPr>
          <a:xfrm rot="0">
            <a:off x="387776" y="1340045"/>
            <a:ext cx="7652010" cy="646311"/>
          </a:xfrm>
          <a:prstGeom prst="rect">
            <a:avLst/>
          </a:prstGeom>
        </p:spPr>
        <p:txBody>
          <a:bodyPr anchor="t" rtlCol="false" tIns="0" lIns="0" bIns="0" rIns="0">
            <a:spAutoFit/>
          </a:bodyPr>
          <a:lstStyle/>
          <a:p>
            <a:pPr algn="l">
              <a:lnSpc>
                <a:spcPts val="5348"/>
              </a:lnSpc>
              <a:spcBef>
                <a:spcPct val="0"/>
              </a:spcBef>
            </a:pPr>
            <a:r>
              <a:rPr lang="en-US" b="true" sz="3820">
                <a:solidFill>
                  <a:srgbClr val="101010"/>
                </a:solidFill>
                <a:latin typeface="Canva Sans Bold"/>
                <a:ea typeface="Canva Sans Bold"/>
                <a:cs typeface="Canva Sans Bold"/>
                <a:sym typeface="Canva Sans Bold"/>
              </a:rPr>
              <a:t>Jelajah musik dan filter kategori</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76707" y="-366843"/>
            <a:ext cx="21314151" cy="10676209"/>
            <a:chOff x="0" y="0"/>
            <a:chExt cx="28418868" cy="14234945"/>
          </a:xfrm>
        </p:grpSpPr>
        <p:sp>
          <p:nvSpPr>
            <p:cNvPr name="Freeform 3" id="3"/>
            <p:cNvSpPr/>
            <p:nvPr/>
          </p:nvSpPr>
          <p:spPr>
            <a:xfrm flipH="false" flipV="false" rot="0">
              <a:off x="0" y="0"/>
              <a:ext cx="14234945" cy="14234945"/>
            </a:xfrm>
            <a:custGeom>
              <a:avLst/>
              <a:gdLst/>
              <a:ahLst/>
              <a:cxnLst/>
              <a:rect r="r" b="b" t="t" l="l"/>
              <a:pathLst>
                <a:path h="14234945" w="14234945">
                  <a:moveTo>
                    <a:pt x="0" y="0"/>
                  </a:moveTo>
                  <a:lnTo>
                    <a:pt x="14234945" y="0"/>
                  </a:lnTo>
                  <a:lnTo>
                    <a:pt x="14234945" y="14234945"/>
                  </a:lnTo>
                  <a:lnTo>
                    <a:pt x="0" y="14234945"/>
                  </a:lnTo>
                  <a:lnTo>
                    <a:pt x="0" y="0"/>
                  </a:lnTo>
                  <a:close/>
                </a:path>
              </a:pathLst>
            </a:custGeom>
            <a:blipFill>
              <a:blip r:embed="rId2">
                <a:alphaModFix amt="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183923" y="0"/>
              <a:ext cx="14234945" cy="14234945"/>
            </a:xfrm>
            <a:custGeom>
              <a:avLst/>
              <a:gdLst/>
              <a:ahLst/>
              <a:cxnLst/>
              <a:rect r="r" b="b" t="t" l="l"/>
              <a:pathLst>
                <a:path h="14234945" w="14234945">
                  <a:moveTo>
                    <a:pt x="0" y="0"/>
                  </a:moveTo>
                  <a:lnTo>
                    <a:pt x="14234945" y="0"/>
                  </a:lnTo>
                  <a:lnTo>
                    <a:pt x="14234945" y="14234945"/>
                  </a:lnTo>
                  <a:lnTo>
                    <a:pt x="0" y="14234945"/>
                  </a:lnTo>
                  <a:lnTo>
                    <a:pt x="0" y="0"/>
                  </a:lnTo>
                  <a:close/>
                </a:path>
              </a:pathLst>
            </a:custGeom>
            <a:blipFill>
              <a:blip r:embed="rId2">
                <a:alphaModFix amt="3000"/>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976707" y="9537567"/>
            <a:ext cx="20274216" cy="1059151"/>
            <a:chOff x="0" y="0"/>
            <a:chExt cx="5339711" cy="278953"/>
          </a:xfrm>
        </p:grpSpPr>
        <p:sp>
          <p:nvSpPr>
            <p:cNvPr name="Freeform 6" id="6"/>
            <p:cNvSpPr/>
            <p:nvPr/>
          </p:nvSpPr>
          <p:spPr>
            <a:xfrm flipH="false" flipV="false" rot="0">
              <a:off x="0" y="0"/>
              <a:ext cx="5339711" cy="278953"/>
            </a:xfrm>
            <a:custGeom>
              <a:avLst/>
              <a:gdLst/>
              <a:ahLst/>
              <a:cxnLst/>
              <a:rect r="r" b="b" t="t" l="l"/>
              <a:pathLst>
                <a:path h="278953" w="5339711">
                  <a:moveTo>
                    <a:pt x="19475" y="0"/>
                  </a:moveTo>
                  <a:lnTo>
                    <a:pt x="5320236" y="0"/>
                  </a:lnTo>
                  <a:cubicBezTo>
                    <a:pt x="5330992" y="0"/>
                    <a:pt x="5339711" y="8719"/>
                    <a:pt x="5339711" y="19475"/>
                  </a:cubicBezTo>
                  <a:lnTo>
                    <a:pt x="5339711" y="259478"/>
                  </a:lnTo>
                  <a:cubicBezTo>
                    <a:pt x="5339711" y="270234"/>
                    <a:pt x="5330992" y="278953"/>
                    <a:pt x="5320236" y="278953"/>
                  </a:cubicBezTo>
                  <a:lnTo>
                    <a:pt x="19475" y="278953"/>
                  </a:lnTo>
                  <a:cubicBezTo>
                    <a:pt x="8719" y="278953"/>
                    <a:pt x="0" y="270234"/>
                    <a:pt x="0" y="259478"/>
                  </a:cubicBezTo>
                  <a:lnTo>
                    <a:pt x="0" y="19475"/>
                  </a:lnTo>
                  <a:cubicBezTo>
                    <a:pt x="0" y="8719"/>
                    <a:pt x="8719" y="0"/>
                    <a:pt x="19475" y="0"/>
                  </a:cubicBezTo>
                  <a:close/>
                </a:path>
              </a:pathLst>
            </a:custGeom>
            <a:solidFill>
              <a:srgbClr val="CC576F"/>
            </a:solidFill>
          </p:spPr>
        </p:sp>
        <p:sp>
          <p:nvSpPr>
            <p:cNvPr name="TextBox 7" id="7"/>
            <p:cNvSpPr txBox="true"/>
            <p:nvPr/>
          </p:nvSpPr>
          <p:spPr>
            <a:xfrm>
              <a:off x="0" y="-47625"/>
              <a:ext cx="5339711" cy="326578"/>
            </a:xfrm>
            <a:prstGeom prst="rect">
              <a:avLst/>
            </a:prstGeom>
          </p:spPr>
          <p:txBody>
            <a:bodyPr anchor="ctr" rtlCol="false" tIns="50800" lIns="50800" bIns="50800" rIns="50800"/>
            <a:lstStyle/>
            <a:p>
              <a:pPr algn="ctr">
                <a:lnSpc>
                  <a:spcPts val="3499"/>
                </a:lnSpc>
              </a:pPr>
            </a:p>
          </p:txBody>
        </p:sp>
      </p:grpSp>
      <p:sp>
        <p:nvSpPr>
          <p:cNvPr name="Freeform 8" id="8"/>
          <p:cNvSpPr/>
          <p:nvPr/>
        </p:nvSpPr>
        <p:spPr>
          <a:xfrm flipH="true" flipV="false" rot="0">
            <a:off x="145557" y="6984331"/>
            <a:ext cx="4299869" cy="4547939"/>
          </a:xfrm>
          <a:custGeom>
            <a:avLst/>
            <a:gdLst/>
            <a:ahLst/>
            <a:cxnLst/>
            <a:rect r="r" b="b" t="t" l="l"/>
            <a:pathLst>
              <a:path h="4547939" w="4299869">
                <a:moveTo>
                  <a:pt x="4299869" y="0"/>
                </a:moveTo>
                <a:lnTo>
                  <a:pt x="0" y="0"/>
                </a:lnTo>
                <a:lnTo>
                  <a:pt x="0" y="4547938"/>
                </a:lnTo>
                <a:lnTo>
                  <a:pt x="4299869" y="4547938"/>
                </a:lnTo>
                <a:lnTo>
                  <a:pt x="4299869"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grpSp>
        <p:nvGrpSpPr>
          <p:cNvPr name="Group 9" id="9"/>
          <p:cNvGrpSpPr/>
          <p:nvPr/>
        </p:nvGrpSpPr>
        <p:grpSpPr>
          <a:xfrm rot="187008">
            <a:off x="8753111" y="637811"/>
            <a:ext cx="781777" cy="781777"/>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DE59"/>
            </a:solidFill>
          </p:spPr>
        </p:sp>
        <p:sp>
          <p:nvSpPr>
            <p:cNvPr name="TextBox 11" id="11"/>
            <p:cNvSpPr txBox="true"/>
            <p:nvPr/>
          </p:nvSpPr>
          <p:spPr>
            <a:xfrm>
              <a:off x="190500" y="142875"/>
              <a:ext cx="431800" cy="479425"/>
            </a:xfrm>
            <a:prstGeom prst="rect">
              <a:avLst/>
            </a:prstGeom>
          </p:spPr>
          <p:txBody>
            <a:bodyPr anchor="ctr" rtlCol="false" tIns="50800" lIns="50800" bIns="50800" rIns="50800"/>
            <a:lstStyle/>
            <a:p>
              <a:pPr algn="ctr">
                <a:lnSpc>
                  <a:spcPts val="3499"/>
                </a:lnSpc>
              </a:pPr>
            </a:p>
          </p:txBody>
        </p:sp>
      </p:grpSp>
      <p:grpSp>
        <p:nvGrpSpPr>
          <p:cNvPr name="Group 12" id="12"/>
          <p:cNvGrpSpPr/>
          <p:nvPr/>
        </p:nvGrpSpPr>
        <p:grpSpPr>
          <a:xfrm rot="-321674">
            <a:off x="10756391" y="3298590"/>
            <a:ext cx="781777" cy="781777"/>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DE59"/>
            </a:solidFill>
          </p:spPr>
        </p:sp>
        <p:sp>
          <p:nvSpPr>
            <p:cNvPr name="TextBox 14" id="14"/>
            <p:cNvSpPr txBox="true"/>
            <p:nvPr/>
          </p:nvSpPr>
          <p:spPr>
            <a:xfrm>
              <a:off x="190500" y="142875"/>
              <a:ext cx="431800" cy="479425"/>
            </a:xfrm>
            <a:prstGeom prst="rect">
              <a:avLst/>
            </a:prstGeom>
          </p:spPr>
          <p:txBody>
            <a:bodyPr anchor="ctr" rtlCol="false" tIns="50800" lIns="50800" bIns="50800" rIns="50800"/>
            <a:lstStyle/>
            <a:p>
              <a:pPr algn="ctr">
                <a:lnSpc>
                  <a:spcPts val="3499"/>
                </a:lnSpc>
              </a:pPr>
            </a:p>
          </p:txBody>
        </p:sp>
      </p:grpSp>
      <p:sp>
        <p:nvSpPr>
          <p:cNvPr name="Freeform 15" id="15"/>
          <p:cNvSpPr/>
          <p:nvPr/>
        </p:nvSpPr>
        <p:spPr>
          <a:xfrm flipH="false" flipV="false" rot="0">
            <a:off x="3698997" y="5357655"/>
            <a:ext cx="8210837" cy="9903421"/>
          </a:xfrm>
          <a:custGeom>
            <a:avLst/>
            <a:gdLst/>
            <a:ahLst/>
            <a:cxnLst/>
            <a:rect r="r" b="b" t="t" l="l"/>
            <a:pathLst>
              <a:path h="9903421" w="8210837">
                <a:moveTo>
                  <a:pt x="0" y="0"/>
                </a:moveTo>
                <a:lnTo>
                  <a:pt x="8210837" y="0"/>
                </a:lnTo>
                <a:lnTo>
                  <a:pt x="8210837" y="9903421"/>
                </a:lnTo>
                <a:lnTo>
                  <a:pt x="0" y="990342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16" id="16"/>
          <p:cNvSpPr/>
          <p:nvPr/>
        </p:nvSpPr>
        <p:spPr>
          <a:xfrm flipH="false" flipV="false" rot="0">
            <a:off x="10721579" y="454216"/>
            <a:ext cx="1490446" cy="1490446"/>
          </a:xfrm>
          <a:custGeom>
            <a:avLst/>
            <a:gdLst/>
            <a:ahLst/>
            <a:cxnLst/>
            <a:rect r="r" b="b" t="t" l="l"/>
            <a:pathLst>
              <a:path h="1490446" w="1490446">
                <a:moveTo>
                  <a:pt x="0" y="0"/>
                </a:moveTo>
                <a:lnTo>
                  <a:pt x="1490446" y="0"/>
                </a:lnTo>
                <a:lnTo>
                  <a:pt x="1490446" y="1490445"/>
                </a:lnTo>
                <a:lnTo>
                  <a:pt x="0" y="1490445"/>
                </a:lnTo>
                <a:lnTo>
                  <a:pt x="0" y="0"/>
                </a:lnTo>
                <a:close/>
              </a:path>
            </a:pathLst>
          </a:custGeom>
          <a:blipFill>
            <a:blip r:embed="rId8"/>
            <a:stretch>
              <a:fillRect l="0" t="0" r="0" b="0"/>
            </a:stretch>
          </a:blipFill>
        </p:spPr>
      </p:sp>
      <p:sp>
        <p:nvSpPr>
          <p:cNvPr name="Freeform 17" id="17"/>
          <p:cNvSpPr/>
          <p:nvPr/>
        </p:nvSpPr>
        <p:spPr>
          <a:xfrm flipH="false" flipV="false" rot="0">
            <a:off x="12459675" y="246259"/>
            <a:ext cx="4527444" cy="9012041"/>
          </a:xfrm>
          <a:custGeom>
            <a:avLst/>
            <a:gdLst/>
            <a:ahLst/>
            <a:cxnLst/>
            <a:rect r="r" b="b" t="t" l="l"/>
            <a:pathLst>
              <a:path h="9012041" w="4527444">
                <a:moveTo>
                  <a:pt x="0" y="0"/>
                </a:moveTo>
                <a:lnTo>
                  <a:pt x="4527443" y="0"/>
                </a:lnTo>
                <a:lnTo>
                  <a:pt x="4527443" y="9012041"/>
                </a:lnTo>
                <a:lnTo>
                  <a:pt x="0" y="9012041"/>
                </a:lnTo>
                <a:lnTo>
                  <a:pt x="0" y="0"/>
                </a:lnTo>
                <a:close/>
              </a:path>
            </a:pathLst>
          </a:custGeom>
          <a:blipFill>
            <a:blip r:embed="rId9"/>
            <a:stretch>
              <a:fillRect l="0" t="0" r="0" b="0"/>
            </a:stretch>
          </a:blipFill>
        </p:spPr>
      </p:sp>
      <p:sp>
        <p:nvSpPr>
          <p:cNvPr name="TextBox 18" id="18"/>
          <p:cNvSpPr txBox="true"/>
          <p:nvPr/>
        </p:nvSpPr>
        <p:spPr>
          <a:xfrm rot="0">
            <a:off x="387776" y="2447503"/>
            <a:ext cx="10084089" cy="1543050"/>
          </a:xfrm>
          <a:prstGeom prst="rect">
            <a:avLst/>
          </a:prstGeom>
        </p:spPr>
        <p:txBody>
          <a:bodyPr anchor="t" rtlCol="false" tIns="0" lIns="0" bIns="0" rIns="0">
            <a:spAutoFit/>
          </a:bodyPr>
          <a:lstStyle/>
          <a:p>
            <a:pPr algn="l">
              <a:lnSpc>
                <a:spcPts val="4199"/>
              </a:lnSpc>
              <a:spcBef>
                <a:spcPct val="0"/>
              </a:spcBef>
            </a:pPr>
            <a:r>
              <a:rPr lang="en-US" sz="2999">
                <a:solidFill>
                  <a:srgbClr val="101010"/>
                </a:solidFill>
                <a:latin typeface="Canva Sans"/>
                <a:ea typeface="Canva Sans"/>
                <a:cs typeface="Canva Sans"/>
                <a:sym typeface="Canva Sans"/>
              </a:rPr>
              <a:t>Listener bisa putar musik dan melihat detail dari musik seperti rekomendasi dokter,jurnal ilmiah atau buku, dan deskripsi </a:t>
            </a:r>
          </a:p>
        </p:txBody>
      </p:sp>
      <p:sp>
        <p:nvSpPr>
          <p:cNvPr name="TextBox 19" id="19"/>
          <p:cNvSpPr txBox="true"/>
          <p:nvPr/>
        </p:nvSpPr>
        <p:spPr>
          <a:xfrm rot="0">
            <a:off x="387776" y="516918"/>
            <a:ext cx="8115300" cy="682520"/>
          </a:xfrm>
          <a:prstGeom prst="rect">
            <a:avLst/>
          </a:prstGeom>
        </p:spPr>
        <p:txBody>
          <a:bodyPr anchor="t" rtlCol="false" tIns="0" lIns="0" bIns="0" rIns="0">
            <a:spAutoFit/>
          </a:bodyPr>
          <a:lstStyle/>
          <a:p>
            <a:pPr algn="l">
              <a:lnSpc>
                <a:spcPts val="4379"/>
              </a:lnSpc>
            </a:pPr>
            <a:r>
              <a:rPr lang="en-US" sz="3981" b="true">
                <a:solidFill>
                  <a:srgbClr val="101010"/>
                </a:solidFill>
                <a:latin typeface="Agrandir Grand Ultra-Bold"/>
                <a:ea typeface="Agrandir Grand Ultra-Bold"/>
                <a:cs typeface="Agrandir Grand Ultra-Bold"/>
                <a:sym typeface="Agrandir Grand Ultra-Bold"/>
              </a:rPr>
              <a:t>FITUR UNTUK LISTENER</a:t>
            </a:r>
          </a:p>
        </p:txBody>
      </p:sp>
      <p:sp>
        <p:nvSpPr>
          <p:cNvPr name="TextBox 20" id="20"/>
          <p:cNvSpPr txBox="true"/>
          <p:nvPr/>
        </p:nvSpPr>
        <p:spPr>
          <a:xfrm rot="0">
            <a:off x="387776" y="1340045"/>
            <a:ext cx="9167787" cy="646311"/>
          </a:xfrm>
          <a:prstGeom prst="rect">
            <a:avLst/>
          </a:prstGeom>
        </p:spPr>
        <p:txBody>
          <a:bodyPr anchor="t" rtlCol="false" tIns="0" lIns="0" bIns="0" rIns="0">
            <a:spAutoFit/>
          </a:bodyPr>
          <a:lstStyle/>
          <a:p>
            <a:pPr algn="l">
              <a:lnSpc>
                <a:spcPts val="5348"/>
              </a:lnSpc>
              <a:spcBef>
                <a:spcPct val="0"/>
              </a:spcBef>
            </a:pPr>
            <a:r>
              <a:rPr lang="en-US" b="true" sz="3820">
                <a:solidFill>
                  <a:srgbClr val="101010"/>
                </a:solidFill>
                <a:latin typeface="Canva Sans Bold"/>
                <a:ea typeface="Canva Sans Bold"/>
                <a:cs typeface="Canva Sans Bold"/>
                <a:sym typeface="Canva Sans Bold"/>
              </a:rPr>
              <a:t>Player audio interaktif &amp; Detail Musik</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76707" y="-366843"/>
            <a:ext cx="21314151" cy="10676209"/>
            <a:chOff x="0" y="0"/>
            <a:chExt cx="28418868" cy="14234945"/>
          </a:xfrm>
        </p:grpSpPr>
        <p:sp>
          <p:nvSpPr>
            <p:cNvPr name="Freeform 3" id="3"/>
            <p:cNvSpPr/>
            <p:nvPr/>
          </p:nvSpPr>
          <p:spPr>
            <a:xfrm flipH="false" flipV="false" rot="0">
              <a:off x="0" y="0"/>
              <a:ext cx="14234945" cy="14234945"/>
            </a:xfrm>
            <a:custGeom>
              <a:avLst/>
              <a:gdLst/>
              <a:ahLst/>
              <a:cxnLst/>
              <a:rect r="r" b="b" t="t" l="l"/>
              <a:pathLst>
                <a:path h="14234945" w="14234945">
                  <a:moveTo>
                    <a:pt x="0" y="0"/>
                  </a:moveTo>
                  <a:lnTo>
                    <a:pt x="14234945" y="0"/>
                  </a:lnTo>
                  <a:lnTo>
                    <a:pt x="14234945" y="14234945"/>
                  </a:lnTo>
                  <a:lnTo>
                    <a:pt x="0" y="14234945"/>
                  </a:lnTo>
                  <a:lnTo>
                    <a:pt x="0" y="0"/>
                  </a:lnTo>
                  <a:close/>
                </a:path>
              </a:pathLst>
            </a:custGeom>
            <a:blipFill>
              <a:blip r:embed="rId2">
                <a:alphaModFix amt="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183923" y="0"/>
              <a:ext cx="14234945" cy="14234945"/>
            </a:xfrm>
            <a:custGeom>
              <a:avLst/>
              <a:gdLst/>
              <a:ahLst/>
              <a:cxnLst/>
              <a:rect r="r" b="b" t="t" l="l"/>
              <a:pathLst>
                <a:path h="14234945" w="14234945">
                  <a:moveTo>
                    <a:pt x="0" y="0"/>
                  </a:moveTo>
                  <a:lnTo>
                    <a:pt x="14234945" y="0"/>
                  </a:lnTo>
                  <a:lnTo>
                    <a:pt x="14234945" y="14234945"/>
                  </a:lnTo>
                  <a:lnTo>
                    <a:pt x="0" y="14234945"/>
                  </a:lnTo>
                  <a:lnTo>
                    <a:pt x="0" y="0"/>
                  </a:lnTo>
                  <a:close/>
                </a:path>
              </a:pathLst>
            </a:custGeom>
            <a:blipFill>
              <a:blip r:embed="rId2">
                <a:alphaModFix amt="3000"/>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976707" y="9537567"/>
            <a:ext cx="20274216" cy="1059151"/>
            <a:chOff x="0" y="0"/>
            <a:chExt cx="5339711" cy="278953"/>
          </a:xfrm>
        </p:grpSpPr>
        <p:sp>
          <p:nvSpPr>
            <p:cNvPr name="Freeform 6" id="6"/>
            <p:cNvSpPr/>
            <p:nvPr/>
          </p:nvSpPr>
          <p:spPr>
            <a:xfrm flipH="false" flipV="false" rot="0">
              <a:off x="0" y="0"/>
              <a:ext cx="5339711" cy="278953"/>
            </a:xfrm>
            <a:custGeom>
              <a:avLst/>
              <a:gdLst/>
              <a:ahLst/>
              <a:cxnLst/>
              <a:rect r="r" b="b" t="t" l="l"/>
              <a:pathLst>
                <a:path h="278953" w="5339711">
                  <a:moveTo>
                    <a:pt x="19475" y="0"/>
                  </a:moveTo>
                  <a:lnTo>
                    <a:pt x="5320236" y="0"/>
                  </a:lnTo>
                  <a:cubicBezTo>
                    <a:pt x="5330992" y="0"/>
                    <a:pt x="5339711" y="8719"/>
                    <a:pt x="5339711" y="19475"/>
                  </a:cubicBezTo>
                  <a:lnTo>
                    <a:pt x="5339711" y="259478"/>
                  </a:lnTo>
                  <a:cubicBezTo>
                    <a:pt x="5339711" y="270234"/>
                    <a:pt x="5330992" y="278953"/>
                    <a:pt x="5320236" y="278953"/>
                  </a:cubicBezTo>
                  <a:lnTo>
                    <a:pt x="19475" y="278953"/>
                  </a:lnTo>
                  <a:cubicBezTo>
                    <a:pt x="8719" y="278953"/>
                    <a:pt x="0" y="270234"/>
                    <a:pt x="0" y="259478"/>
                  </a:cubicBezTo>
                  <a:lnTo>
                    <a:pt x="0" y="19475"/>
                  </a:lnTo>
                  <a:cubicBezTo>
                    <a:pt x="0" y="8719"/>
                    <a:pt x="8719" y="0"/>
                    <a:pt x="19475" y="0"/>
                  </a:cubicBezTo>
                  <a:close/>
                </a:path>
              </a:pathLst>
            </a:custGeom>
            <a:solidFill>
              <a:srgbClr val="CC576F"/>
            </a:solidFill>
          </p:spPr>
        </p:sp>
        <p:sp>
          <p:nvSpPr>
            <p:cNvPr name="TextBox 7" id="7"/>
            <p:cNvSpPr txBox="true"/>
            <p:nvPr/>
          </p:nvSpPr>
          <p:spPr>
            <a:xfrm>
              <a:off x="0" y="-47625"/>
              <a:ext cx="5339711" cy="326578"/>
            </a:xfrm>
            <a:prstGeom prst="rect">
              <a:avLst/>
            </a:prstGeom>
          </p:spPr>
          <p:txBody>
            <a:bodyPr anchor="ctr" rtlCol="false" tIns="50800" lIns="50800" bIns="50800" rIns="50800"/>
            <a:lstStyle/>
            <a:p>
              <a:pPr algn="ctr">
                <a:lnSpc>
                  <a:spcPts val="3499"/>
                </a:lnSpc>
              </a:pPr>
            </a:p>
          </p:txBody>
        </p:sp>
      </p:grpSp>
      <p:sp>
        <p:nvSpPr>
          <p:cNvPr name="Freeform 8" id="8"/>
          <p:cNvSpPr/>
          <p:nvPr/>
        </p:nvSpPr>
        <p:spPr>
          <a:xfrm flipH="true" flipV="false" rot="0">
            <a:off x="145557" y="6984331"/>
            <a:ext cx="4299869" cy="4547939"/>
          </a:xfrm>
          <a:custGeom>
            <a:avLst/>
            <a:gdLst/>
            <a:ahLst/>
            <a:cxnLst/>
            <a:rect r="r" b="b" t="t" l="l"/>
            <a:pathLst>
              <a:path h="4547939" w="4299869">
                <a:moveTo>
                  <a:pt x="4299869" y="0"/>
                </a:moveTo>
                <a:lnTo>
                  <a:pt x="0" y="0"/>
                </a:lnTo>
                <a:lnTo>
                  <a:pt x="0" y="4547938"/>
                </a:lnTo>
                <a:lnTo>
                  <a:pt x="4299869" y="4547938"/>
                </a:lnTo>
                <a:lnTo>
                  <a:pt x="4299869"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grpSp>
        <p:nvGrpSpPr>
          <p:cNvPr name="Group 9" id="9"/>
          <p:cNvGrpSpPr/>
          <p:nvPr/>
        </p:nvGrpSpPr>
        <p:grpSpPr>
          <a:xfrm rot="187008">
            <a:off x="8753111" y="637811"/>
            <a:ext cx="781777" cy="781777"/>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DE59"/>
            </a:solidFill>
          </p:spPr>
        </p:sp>
        <p:sp>
          <p:nvSpPr>
            <p:cNvPr name="TextBox 11" id="11"/>
            <p:cNvSpPr txBox="true"/>
            <p:nvPr/>
          </p:nvSpPr>
          <p:spPr>
            <a:xfrm>
              <a:off x="190500" y="142875"/>
              <a:ext cx="431800" cy="479425"/>
            </a:xfrm>
            <a:prstGeom prst="rect">
              <a:avLst/>
            </a:prstGeom>
          </p:spPr>
          <p:txBody>
            <a:bodyPr anchor="ctr" rtlCol="false" tIns="50800" lIns="50800" bIns="50800" rIns="50800"/>
            <a:lstStyle/>
            <a:p>
              <a:pPr algn="ctr">
                <a:lnSpc>
                  <a:spcPts val="3499"/>
                </a:lnSpc>
              </a:pPr>
            </a:p>
          </p:txBody>
        </p:sp>
      </p:grpSp>
      <p:grpSp>
        <p:nvGrpSpPr>
          <p:cNvPr name="Group 12" id="12"/>
          <p:cNvGrpSpPr/>
          <p:nvPr/>
        </p:nvGrpSpPr>
        <p:grpSpPr>
          <a:xfrm rot="-321674">
            <a:off x="10756391" y="3298590"/>
            <a:ext cx="781777" cy="781777"/>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DE59"/>
            </a:solidFill>
          </p:spPr>
        </p:sp>
        <p:sp>
          <p:nvSpPr>
            <p:cNvPr name="TextBox 14" id="14"/>
            <p:cNvSpPr txBox="true"/>
            <p:nvPr/>
          </p:nvSpPr>
          <p:spPr>
            <a:xfrm>
              <a:off x="190500" y="142875"/>
              <a:ext cx="431800" cy="479425"/>
            </a:xfrm>
            <a:prstGeom prst="rect">
              <a:avLst/>
            </a:prstGeom>
          </p:spPr>
          <p:txBody>
            <a:bodyPr anchor="ctr" rtlCol="false" tIns="50800" lIns="50800" bIns="50800" rIns="50800"/>
            <a:lstStyle/>
            <a:p>
              <a:pPr algn="ctr">
                <a:lnSpc>
                  <a:spcPts val="3499"/>
                </a:lnSpc>
              </a:pPr>
            </a:p>
          </p:txBody>
        </p:sp>
      </p:grpSp>
      <p:sp>
        <p:nvSpPr>
          <p:cNvPr name="Freeform 15" id="15"/>
          <p:cNvSpPr/>
          <p:nvPr/>
        </p:nvSpPr>
        <p:spPr>
          <a:xfrm flipH="false" flipV="false" rot="0">
            <a:off x="3698997" y="5357655"/>
            <a:ext cx="8210837" cy="9903421"/>
          </a:xfrm>
          <a:custGeom>
            <a:avLst/>
            <a:gdLst/>
            <a:ahLst/>
            <a:cxnLst/>
            <a:rect r="r" b="b" t="t" l="l"/>
            <a:pathLst>
              <a:path h="9903421" w="8210837">
                <a:moveTo>
                  <a:pt x="0" y="0"/>
                </a:moveTo>
                <a:lnTo>
                  <a:pt x="8210837" y="0"/>
                </a:lnTo>
                <a:lnTo>
                  <a:pt x="8210837" y="9903421"/>
                </a:lnTo>
                <a:lnTo>
                  <a:pt x="0" y="990342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16" id="16"/>
          <p:cNvSpPr/>
          <p:nvPr/>
        </p:nvSpPr>
        <p:spPr>
          <a:xfrm flipH="false" flipV="false" rot="0">
            <a:off x="10721579" y="454216"/>
            <a:ext cx="1490446" cy="1490446"/>
          </a:xfrm>
          <a:custGeom>
            <a:avLst/>
            <a:gdLst/>
            <a:ahLst/>
            <a:cxnLst/>
            <a:rect r="r" b="b" t="t" l="l"/>
            <a:pathLst>
              <a:path h="1490446" w="1490446">
                <a:moveTo>
                  <a:pt x="0" y="0"/>
                </a:moveTo>
                <a:lnTo>
                  <a:pt x="1490446" y="0"/>
                </a:lnTo>
                <a:lnTo>
                  <a:pt x="1490446" y="1490445"/>
                </a:lnTo>
                <a:lnTo>
                  <a:pt x="0" y="1490445"/>
                </a:lnTo>
                <a:lnTo>
                  <a:pt x="0" y="0"/>
                </a:lnTo>
                <a:close/>
              </a:path>
            </a:pathLst>
          </a:custGeom>
          <a:blipFill>
            <a:blip r:embed="rId8"/>
            <a:stretch>
              <a:fillRect l="0" t="0" r="0" b="0"/>
            </a:stretch>
          </a:blipFill>
        </p:spPr>
      </p:sp>
      <p:sp>
        <p:nvSpPr>
          <p:cNvPr name="Freeform 17" id="17"/>
          <p:cNvSpPr/>
          <p:nvPr/>
        </p:nvSpPr>
        <p:spPr>
          <a:xfrm flipH="false" flipV="false" rot="0">
            <a:off x="12440625" y="253303"/>
            <a:ext cx="4263956" cy="9004997"/>
          </a:xfrm>
          <a:custGeom>
            <a:avLst/>
            <a:gdLst/>
            <a:ahLst/>
            <a:cxnLst/>
            <a:rect r="r" b="b" t="t" l="l"/>
            <a:pathLst>
              <a:path h="9004997" w="4263956">
                <a:moveTo>
                  <a:pt x="0" y="0"/>
                </a:moveTo>
                <a:lnTo>
                  <a:pt x="4263955" y="0"/>
                </a:lnTo>
                <a:lnTo>
                  <a:pt x="4263955" y="9004997"/>
                </a:lnTo>
                <a:lnTo>
                  <a:pt x="0" y="9004997"/>
                </a:lnTo>
                <a:lnTo>
                  <a:pt x="0" y="0"/>
                </a:lnTo>
                <a:close/>
              </a:path>
            </a:pathLst>
          </a:custGeom>
          <a:blipFill>
            <a:blip r:embed="rId9"/>
            <a:stretch>
              <a:fillRect l="0" t="0" r="0" b="0"/>
            </a:stretch>
          </a:blipFill>
        </p:spPr>
      </p:sp>
      <p:sp>
        <p:nvSpPr>
          <p:cNvPr name="TextBox 18" id="18"/>
          <p:cNvSpPr txBox="true"/>
          <p:nvPr/>
        </p:nvSpPr>
        <p:spPr>
          <a:xfrm rot="0">
            <a:off x="387776" y="2447503"/>
            <a:ext cx="10084089" cy="1543050"/>
          </a:xfrm>
          <a:prstGeom prst="rect">
            <a:avLst/>
          </a:prstGeom>
        </p:spPr>
        <p:txBody>
          <a:bodyPr anchor="t" rtlCol="false" tIns="0" lIns="0" bIns="0" rIns="0">
            <a:spAutoFit/>
          </a:bodyPr>
          <a:lstStyle/>
          <a:p>
            <a:pPr algn="l">
              <a:lnSpc>
                <a:spcPts val="4199"/>
              </a:lnSpc>
              <a:spcBef>
                <a:spcPct val="0"/>
              </a:spcBef>
            </a:pPr>
            <a:r>
              <a:rPr lang="en-US" sz="2999">
                <a:solidFill>
                  <a:srgbClr val="101010"/>
                </a:solidFill>
                <a:latin typeface="Canva Sans"/>
                <a:ea typeface="Canva Sans"/>
                <a:cs typeface="Canva Sans"/>
                <a:sym typeface="Canva Sans"/>
              </a:rPr>
              <a:t>Pengguna/listener bisa menambahkan musik favorit dengan klik icon ❤️ dan akan muncul pada halaman favorit</a:t>
            </a:r>
          </a:p>
        </p:txBody>
      </p:sp>
      <p:sp>
        <p:nvSpPr>
          <p:cNvPr name="TextBox 19" id="19"/>
          <p:cNvSpPr txBox="true"/>
          <p:nvPr/>
        </p:nvSpPr>
        <p:spPr>
          <a:xfrm rot="0">
            <a:off x="387776" y="516918"/>
            <a:ext cx="8115300" cy="682520"/>
          </a:xfrm>
          <a:prstGeom prst="rect">
            <a:avLst/>
          </a:prstGeom>
        </p:spPr>
        <p:txBody>
          <a:bodyPr anchor="t" rtlCol="false" tIns="0" lIns="0" bIns="0" rIns="0">
            <a:spAutoFit/>
          </a:bodyPr>
          <a:lstStyle/>
          <a:p>
            <a:pPr algn="l">
              <a:lnSpc>
                <a:spcPts val="4379"/>
              </a:lnSpc>
            </a:pPr>
            <a:r>
              <a:rPr lang="en-US" sz="3981" b="true">
                <a:solidFill>
                  <a:srgbClr val="101010"/>
                </a:solidFill>
                <a:latin typeface="Agrandir Grand Ultra-Bold"/>
                <a:ea typeface="Agrandir Grand Ultra-Bold"/>
                <a:cs typeface="Agrandir Grand Ultra-Bold"/>
                <a:sym typeface="Agrandir Grand Ultra-Bold"/>
              </a:rPr>
              <a:t>FITUR UNTUK LISTENER</a:t>
            </a:r>
          </a:p>
        </p:txBody>
      </p:sp>
      <p:sp>
        <p:nvSpPr>
          <p:cNvPr name="TextBox 20" id="20"/>
          <p:cNvSpPr txBox="true"/>
          <p:nvPr/>
        </p:nvSpPr>
        <p:spPr>
          <a:xfrm rot="0">
            <a:off x="387776" y="1340045"/>
            <a:ext cx="9167787" cy="646311"/>
          </a:xfrm>
          <a:prstGeom prst="rect">
            <a:avLst/>
          </a:prstGeom>
        </p:spPr>
        <p:txBody>
          <a:bodyPr anchor="t" rtlCol="false" tIns="0" lIns="0" bIns="0" rIns="0">
            <a:spAutoFit/>
          </a:bodyPr>
          <a:lstStyle/>
          <a:p>
            <a:pPr algn="l">
              <a:lnSpc>
                <a:spcPts val="5348"/>
              </a:lnSpc>
              <a:spcBef>
                <a:spcPct val="0"/>
              </a:spcBef>
            </a:pPr>
            <a:r>
              <a:rPr lang="en-US" b="true" sz="3820">
                <a:solidFill>
                  <a:srgbClr val="101010"/>
                </a:solidFill>
                <a:latin typeface="Canva Sans Bold"/>
                <a:ea typeface="Canva Sans Bold"/>
                <a:cs typeface="Canva Sans Bold"/>
                <a:sym typeface="Canva Sans Bold"/>
              </a:rPr>
              <a:t>Koleksi &amp; manajemen favorit</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76707" y="-366843"/>
            <a:ext cx="21314151" cy="10676209"/>
            <a:chOff x="0" y="0"/>
            <a:chExt cx="28418868" cy="14234945"/>
          </a:xfrm>
        </p:grpSpPr>
        <p:sp>
          <p:nvSpPr>
            <p:cNvPr name="Freeform 3" id="3"/>
            <p:cNvSpPr/>
            <p:nvPr/>
          </p:nvSpPr>
          <p:spPr>
            <a:xfrm flipH="false" flipV="false" rot="0">
              <a:off x="0" y="0"/>
              <a:ext cx="14234945" cy="14234945"/>
            </a:xfrm>
            <a:custGeom>
              <a:avLst/>
              <a:gdLst/>
              <a:ahLst/>
              <a:cxnLst/>
              <a:rect r="r" b="b" t="t" l="l"/>
              <a:pathLst>
                <a:path h="14234945" w="14234945">
                  <a:moveTo>
                    <a:pt x="0" y="0"/>
                  </a:moveTo>
                  <a:lnTo>
                    <a:pt x="14234945" y="0"/>
                  </a:lnTo>
                  <a:lnTo>
                    <a:pt x="14234945" y="14234945"/>
                  </a:lnTo>
                  <a:lnTo>
                    <a:pt x="0" y="14234945"/>
                  </a:lnTo>
                  <a:lnTo>
                    <a:pt x="0" y="0"/>
                  </a:lnTo>
                  <a:close/>
                </a:path>
              </a:pathLst>
            </a:custGeom>
            <a:blipFill>
              <a:blip r:embed="rId2">
                <a:alphaModFix amt="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183923" y="0"/>
              <a:ext cx="14234945" cy="14234945"/>
            </a:xfrm>
            <a:custGeom>
              <a:avLst/>
              <a:gdLst/>
              <a:ahLst/>
              <a:cxnLst/>
              <a:rect r="r" b="b" t="t" l="l"/>
              <a:pathLst>
                <a:path h="14234945" w="14234945">
                  <a:moveTo>
                    <a:pt x="0" y="0"/>
                  </a:moveTo>
                  <a:lnTo>
                    <a:pt x="14234945" y="0"/>
                  </a:lnTo>
                  <a:lnTo>
                    <a:pt x="14234945" y="14234945"/>
                  </a:lnTo>
                  <a:lnTo>
                    <a:pt x="0" y="14234945"/>
                  </a:lnTo>
                  <a:lnTo>
                    <a:pt x="0" y="0"/>
                  </a:lnTo>
                  <a:close/>
                </a:path>
              </a:pathLst>
            </a:custGeom>
            <a:blipFill>
              <a:blip r:embed="rId2">
                <a:alphaModFix amt="3000"/>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976707" y="9537567"/>
            <a:ext cx="20274216" cy="1059151"/>
            <a:chOff x="0" y="0"/>
            <a:chExt cx="5339711" cy="278953"/>
          </a:xfrm>
        </p:grpSpPr>
        <p:sp>
          <p:nvSpPr>
            <p:cNvPr name="Freeform 6" id="6"/>
            <p:cNvSpPr/>
            <p:nvPr/>
          </p:nvSpPr>
          <p:spPr>
            <a:xfrm flipH="false" flipV="false" rot="0">
              <a:off x="0" y="0"/>
              <a:ext cx="5339711" cy="278953"/>
            </a:xfrm>
            <a:custGeom>
              <a:avLst/>
              <a:gdLst/>
              <a:ahLst/>
              <a:cxnLst/>
              <a:rect r="r" b="b" t="t" l="l"/>
              <a:pathLst>
                <a:path h="278953" w="5339711">
                  <a:moveTo>
                    <a:pt x="19475" y="0"/>
                  </a:moveTo>
                  <a:lnTo>
                    <a:pt x="5320236" y="0"/>
                  </a:lnTo>
                  <a:cubicBezTo>
                    <a:pt x="5330992" y="0"/>
                    <a:pt x="5339711" y="8719"/>
                    <a:pt x="5339711" y="19475"/>
                  </a:cubicBezTo>
                  <a:lnTo>
                    <a:pt x="5339711" y="259478"/>
                  </a:lnTo>
                  <a:cubicBezTo>
                    <a:pt x="5339711" y="270234"/>
                    <a:pt x="5330992" y="278953"/>
                    <a:pt x="5320236" y="278953"/>
                  </a:cubicBezTo>
                  <a:lnTo>
                    <a:pt x="19475" y="278953"/>
                  </a:lnTo>
                  <a:cubicBezTo>
                    <a:pt x="8719" y="278953"/>
                    <a:pt x="0" y="270234"/>
                    <a:pt x="0" y="259478"/>
                  </a:cubicBezTo>
                  <a:lnTo>
                    <a:pt x="0" y="19475"/>
                  </a:lnTo>
                  <a:cubicBezTo>
                    <a:pt x="0" y="8719"/>
                    <a:pt x="8719" y="0"/>
                    <a:pt x="19475" y="0"/>
                  </a:cubicBezTo>
                  <a:close/>
                </a:path>
              </a:pathLst>
            </a:custGeom>
            <a:solidFill>
              <a:srgbClr val="CC576F"/>
            </a:solidFill>
          </p:spPr>
        </p:sp>
        <p:sp>
          <p:nvSpPr>
            <p:cNvPr name="TextBox 7" id="7"/>
            <p:cNvSpPr txBox="true"/>
            <p:nvPr/>
          </p:nvSpPr>
          <p:spPr>
            <a:xfrm>
              <a:off x="0" y="-47625"/>
              <a:ext cx="5339711" cy="326578"/>
            </a:xfrm>
            <a:prstGeom prst="rect">
              <a:avLst/>
            </a:prstGeom>
          </p:spPr>
          <p:txBody>
            <a:bodyPr anchor="ctr" rtlCol="false" tIns="50800" lIns="50800" bIns="50800" rIns="50800"/>
            <a:lstStyle/>
            <a:p>
              <a:pPr algn="ctr">
                <a:lnSpc>
                  <a:spcPts val="3499"/>
                </a:lnSpc>
              </a:pPr>
            </a:p>
          </p:txBody>
        </p:sp>
      </p:grpSp>
      <p:sp>
        <p:nvSpPr>
          <p:cNvPr name="Freeform 8" id="8"/>
          <p:cNvSpPr/>
          <p:nvPr/>
        </p:nvSpPr>
        <p:spPr>
          <a:xfrm flipH="true" flipV="false" rot="0">
            <a:off x="145557" y="6984331"/>
            <a:ext cx="4299869" cy="4547939"/>
          </a:xfrm>
          <a:custGeom>
            <a:avLst/>
            <a:gdLst/>
            <a:ahLst/>
            <a:cxnLst/>
            <a:rect r="r" b="b" t="t" l="l"/>
            <a:pathLst>
              <a:path h="4547939" w="4299869">
                <a:moveTo>
                  <a:pt x="4299869" y="0"/>
                </a:moveTo>
                <a:lnTo>
                  <a:pt x="0" y="0"/>
                </a:lnTo>
                <a:lnTo>
                  <a:pt x="0" y="4547938"/>
                </a:lnTo>
                <a:lnTo>
                  <a:pt x="4299869" y="4547938"/>
                </a:lnTo>
                <a:lnTo>
                  <a:pt x="4299869"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grpSp>
        <p:nvGrpSpPr>
          <p:cNvPr name="Group 9" id="9"/>
          <p:cNvGrpSpPr/>
          <p:nvPr/>
        </p:nvGrpSpPr>
        <p:grpSpPr>
          <a:xfrm rot="187008">
            <a:off x="8753111" y="637811"/>
            <a:ext cx="781777" cy="781777"/>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DE59"/>
            </a:solidFill>
          </p:spPr>
        </p:sp>
        <p:sp>
          <p:nvSpPr>
            <p:cNvPr name="TextBox 11" id="11"/>
            <p:cNvSpPr txBox="true"/>
            <p:nvPr/>
          </p:nvSpPr>
          <p:spPr>
            <a:xfrm>
              <a:off x="190500" y="142875"/>
              <a:ext cx="431800" cy="479425"/>
            </a:xfrm>
            <a:prstGeom prst="rect">
              <a:avLst/>
            </a:prstGeom>
          </p:spPr>
          <p:txBody>
            <a:bodyPr anchor="ctr" rtlCol="false" tIns="50800" lIns="50800" bIns="50800" rIns="50800"/>
            <a:lstStyle/>
            <a:p>
              <a:pPr algn="ctr">
                <a:lnSpc>
                  <a:spcPts val="3499"/>
                </a:lnSpc>
              </a:pPr>
            </a:p>
          </p:txBody>
        </p:sp>
      </p:grpSp>
      <p:grpSp>
        <p:nvGrpSpPr>
          <p:cNvPr name="Group 12" id="12"/>
          <p:cNvGrpSpPr/>
          <p:nvPr/>
        </p:nvGrpSpPr>
        <p:grpSpPr>
          <a:xfrm rot="-321674">
            <a:off x="10756391" y="3298590"/>
            <a:ext cx="781777" cy="781777"/>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DE59"/>
            </a:solidFill>
          </p:spPr>
        </p:sp>
        <p:sp>
          <p:nvSpPr>
            <p:cNvPr name="TextBox 14" id="14"/>
            <p:cNvSpPr txBox="true"/>
            <p:nvPr/>
          </p:nvSpPr>
          <p:spPr>
            <a:xfrm>
              <a:off x="190500" y="142875"/>
              <a:ext cx="431800" cy="479425"/>
            </a:xfrm>
            <a:prstGeom prst="rect">
              <a:avLst/>
            </a:prstGeom>
          </p:spPr>
          <p:txBody>
            <a:bodyPr anchor="ctr" rtlCol="false" tIns="50800" lIns="50800" bIns="50800" rIns="50800"/>
            <a:lstStyle/>
            <a:p>
              <a:pPr algn="ctr">
                <a:lnSpc>
                  <a:spcPts val="3499"/>
                </a:lnSpc>
              </a:pPr>
            </a:p>
          </p:txBody>
        </p:sp>
      </p:grpSp>
      <p:sp>
        <p:nvSpPr>
          <p:cNvPr name="Freeform 15" id="15"/>
          <p:cNvSpPr/>
          <p:nvPr/>
        </p:nvSpPr>
        <p:spPr>
          <a:xfrm flipH="false" flipV="false" rot="0">
            <a:off x="10721579" y="454216"/>
            <a:ext cx="1490446" cy="1490446"/>
          </a:xfrm>
          <a:custGeom>
            <a:avLst/>
            <a:gdLst/>
            <a:ahLst/>
            <a:cxnLst/>
            <a:rect r="r" b="b" t="t" l="l"/>
            <a:pathLst>
              <a:path h="1490446" w="1490446">
                <a:moveTo>
                  <a:pt x="0" y="0"/>
                </a:moveTo>
                <a:lnTo>
                  <a:pt x="1490446" y="0"/>
                </a:lnTo>
                <a:lnTo>
                  <a:pt x="1490446" y="1490445"/>
                </a:lnTo>
                <a:lnTo>
                  <a:pt x="0" y="1490445"/>
                </a:lnTo>
                <a:lnTo>
                  <a:pt x="0" y="0"/>
                </a:lnTo>
                <a:close/>
              </a:path>
            </a:pathLst>
          </a:custGeom>
          <a:blipFill>
            <a:blip r:embed="rId6"/>
            <a:stretch>
              <a:fillRect l="0" t="0" r="0" b="0"/>
            </a:stretch>
          </a:blipFill>
        </p:spPr>
      </p:sp>
      <p:sp>
        <p:nvSpPr>
          <p:cNvPr name="Freeform 16" id="16"/>
          <p:cNvSpPr/>
          <p:nvPr/>
        </p:nvSpPr>
        <p:spPr>
          <a:xfrm flipH="false" flipV="false" rot="0">
            <a:off x="12459675" y="444050"/>
            <a:ext cx="4240818" cy="8814250"/>
          </a:xfrm>
          <a:custGeom>
            <a:avLst/>
            <a:gdLst/>
            <a:ahLst/>
            <a:cxnLst/>
            <a:rect r="r" b="b" t="t" l="l"/>
            <a:pathLst>
              <a:path h="8814250" w="4240818">
                <a:moveTo>
                  <a:pt x="0" y="0"/>
                </a:moveTo>
                <a:lnTo>
                  <a:pt x="4240818" y="0"/>
                </a:lnTo>
                <a:lnTo>
                  <a:pt x="4240818" y="8814250"/>
                </a:lnTo>
                <a:lnTo>
                  <a:pt x="0" y="8814250"/>
                </a:lnTo>
                <a:lnTo>
                  <a:pt x="0" y="0"/>
                </a:lnTo>
                <a:close/>
              </a:path>
            </a:pathLst>
          </a:custGeom>
          <a:blipFill>
            <a:blip r:embed="rId7"/>
            <a:stretch>
              <a:fillRect l="0" t="0" r="0" b="0"/>
            </a:stretch>
          </a:blipFill>
        </p:spPr>
      </p:sp>
      <p:sp>
        <p:nvSpPr>
          <p:cNvPr name="TextBox 17" id="17"/>
          <p:cNvSpPr txBox="true"/>
          <p:nvPr/>
        </p:nvSpPr>
        <p:spPr>
          <a:xfrm rot="0">
            <a:off x="387776" y="2447503"/>
            <a:ext cx="10084089" cy="1019175"/>
          </a:xfrm>
          <a:prstGeom prst="rect">
            <a:avLst/>
          </a:prstGeom>
        </p:spPr>
        <p:txBody>
          <a:bodyPr anchor="t" rtlCol="false" tIns="0" lIns="0" bIns="0" rIns="0">
            <a:spAutoFit/>
          </a:bodyPr>
          <a:lstStyle/>
          <a:p>
            <a:pPr algn="l">
              <a:lnSpc>
                <a:spcPts val="4199"/>
              </a:lnSpc>
              <a:spcBef>
                <a:spcPct val="0"/>
              </a:spcBef>
            </a:pPr>
            <a:r>
              <a:rPr lang="en-US" sz="2999">
                <a:solidFill>
                  <a:srgbClr val="101010"/>
                </a:solidFill>
                <a:latin typeface="Canva Sans"/>
                <a:ea typeface="Canva Sans"/>
                <a:cs typeface="Canva Sans"/>
                <a:sym typeface="Canva Sans"/>
              </a:rPr>
              <a:t>Pada halaman ini Listener bisa update username dan email nya, melihat tentang soundsacpe dan logout</a:t>
            </a:r>
          </a:p>
        </p:txBody>
      </p:sp>
      <p:sp>
        <p:nvSpPr>
          <p:cNvPr name="TextBox 18" id="18"/>
          <p:cNvSpPr txBox="true"/>
          <p:nvPr/>
        </p:nvSpPr>
        <p:spPr>
          <a:xfrm rot="0">
            <a:off x="387776" y="516918"/>
            <a:ext cx="8115300" cy="682520"/>
          </a:xfrm>
          <a:prstGeom prst="rect">
            <a:avLst/>
          </a:prstGeom>
        </p:spPr>
        <p:txBody>
          <a:bodyPr anchor="t" rtlCol="false" tIns="0" lIns="0" bIns="0" rIns="0">
            <a:spAutoFit/>
          </a:bodyPr>
          <a:lstStyle/>
          <a:p>
            <a:pPr algn="l">
              <a:lnSpc>
                <a:spcPts val="4379"/>
              </a:lnSpc>
            </a:pPr>
            <a:r>
              <a:rPr lang="en-US" sz="3981" b="true">
                <a:solidFill>
                  <a:srgbClr val="101010"/>
                </a:solidFill>
                <a:latin typeface="Agrandir Grand Ultra-Bold"/>
                <a:ea typeface="Agrandir Grand Ultra-Bold"/>
                <a:cs typeface="Agrandir Grand Ultra-Bold"/>
                <a:sym typeface="Agrandir Grand Ultra-Bold"/>
              </a:rPr>
              <a:t>FITUR UNTUK LISTENER</a:t>
            </a:r>
          </a:p>
        </p:txBody>
      </p:sp>
      <p:sp>
        <p:nvSpPr>
          <p:cNvPr name="TextBox 19" id="19"/>
          <p:cNvSpPr txBox="true"/>
          <p:nvPr/>
        </p:nvSpPr>
        <p:spPr>
          <a:xfrm rot="0">
            <a:off x="387776" y="1340045"/>
            <a:ext cx="9167787" cy="646311"/>
          </a:xfrm>
          <a:prstGeom prst="rect">
            <a:avLst/>
          </a:prstGeom>
        </p:spPr>
        <p:txBody>
          <a:bodyPr anchor="t" rtlCol="false" tIns="0" lIns="0" bIns="0" rIns="0">
            <a:spAutoFit/>
          </a:bodyPr>
          <a:lstStyle/>
          <a:p>
            <a:pPr algn="l">
              <a:lnSpc>
                <a:spcPts val="5348"/>
              </a:lnSpc>
              <a:spcBef>
                <a:spcPct val="0"/>
              </a:spcBef>
            </a:pPr>
            <a:r>
              <a:rPr lang="en-US" b="true" sz="3820">
                <a:solidFill>
                  <a:srgbClr val="101010"/>
                </a:solidFill>
                <a:latin typeface="Canva Sans Bold"/>
                <a:ea typeface="Canva Sans Bold"/>
                <a:cs typeface="Canva Sans Bold"/>
                <a:sym typeface="Canva Sans Bold"/>
              </a:rPr>
              <a:t>Pengaturan profil</a:t>
            </a:r>
          </a:p>
        </p:txBody>
      </p:sp>
      <p:sp>
        <p:nvSpPr>
          <p:cNvPr name="Freeform 20" id="20"/>
          <p:cNvSpPr/>
          <p:nvPr/>
        </p:nvSpPr>
        <p:spPr>
          <a:xfrm flipH="false" flipV="false" rot="0">
            <a:off x="7418910" y="5256444"/>
            <a:ext cx="4522916" cy="4001856"/>
          </a:xfrm>
          <a:custGeom>
            <a:avLst/>
            <a:gdLst/>
            <a:ahLst/>
            <a:cxnLst/>
            <a:rect r="r" b="b" t="t" l="l"/>
            <a:pathLst>
              <a:path h="4001856" w="4522916">
                <a:moveTo>
                  <a:pt x="0" y="0"/>
                </a:moveTo>
                <a:lnTo>
                  <a:pt x="4522917" y="0"/>
                </a:lnTo>
                <a:lnTo>
                  <a:pt x="4522917" y="4001856"/>
                </a:lnTo>
                <a:lnTo>
                  <a:pt x="0" y="4001856"/>
                </a:lnTo>
                <a:lnTo>
                  <a:pt x="0" y="0"/>
                </a:lnTo>
                <a:close/>
              </a:path>
            </a:pathLst>
          </a:custGeom>
          <a:blipFill>
            <a:blip r:embed="rId8"/>
            <a:stretch>
              <a:fillRect l="0" t="-81906" r="0" b="-63124"/>
            </a:stretch>
          </a:blipFill>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76707" y="-366843"/>
            <a:ext cx="21314151" cy="10676209"/>
            <a:chOff x="0" y="0"/>
            <a:chExt cx="28418868" cy="14234945"/>
          </a:xfrm>
        </p:grpSpPr>
        <p:sp>
          <p:nvSpPr>
            <p:cNvPr name="Freeform 3" id="3"/>
            <p:cNvSpPr/>
            <p:nvPr/>
          </p:nvSpPr>
          <p:spPr>
            <a:xfrm flipH="false" flipV="false" rot="0">
              <a:off x="0" y="0"/>
              <a:ext cx="14234945" cy="14234945"/>
            </a:xfrm>
            <a:custGeom>
              <a:avLst/>
              <a:gdLst/>
              <a:ahLst/>
              <a:cxnLst/>
              <a:rect r="r" b="b" t="t" l="l"/>
              <a:pathLst>
                <a:path h="14234945" w="14234945">
                  <a:moveTo>
                    <a:pt x="0" y="0"/>
                  </a:moveTo>
                  <a:lnTo>
                    <a:pt x="14234945" y="0"/>
                  </a:lnTo>
                  <a:lnTo>
                    <a:pt x="14234945" y="14234945"/>
                  </a:lnTo>
                  <a:lnTo>
                    <a:pt x="0" y="14234945"/>
                  </a:lnTo>
                  <a:lnTo>
                    <a:pt x="0" y="0"/>
                  </a:lnTo>
                  <a:close/>
                </a:path>
              </a:pathLst>
            </a:custGeom>
            <a:blipFill>
              <a:blip r:embed="rId2">
                <a:alphaModFix amt="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183923" y="0"/>
              <a:ext cx="14234945" cy="14234945"/>
            </a:xfrm>
            <a:custGeom>
              <a:avLst/>
              <a:gdLst/>
              <a:ahLst/>
              <a:cxnLst/>
              <a:rect r="r" b="b" t="t" l="l"/>
              <a:pathLst>
                <a:path h="14234945" w="14234945">
                  <a:moveTo>
                    <a:pt x="0" y="0"/>
                  </a:moveTo>
                  <a:lnTo>
                    <a:pt x="14234945" y="0"/>
                  </a:lnTo>
                  <a:lnTo>
                    <a:pt x="14234945" y="14234945"/>
                  </a:lnTo>
                  <a:lnTo>
                    <a:pt x="0" y="14234945"/>
                  </a:lnTo>
                  <a:lnTo>
                    <a:pt x="0" y="0"/>
                  </a:lnTo>
                  <a:close/>
                </a:path>
              </a:pathLst>
            </a:custGeom>
            <a:blipFill>
              <a:blip r:embed="rId2">
                <a:alphaModFix amt="3000"/>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976707" y="9537567"/>
            <a:ext cx="20274216" cy="1059151"/>
            <a:chOff x="0" y="0"/>
            <a:chExt cx="5339711" cy="278953"/>
          </a:xfrm>
        </p:grpSpPr>
        <p:sp>
          <p:nvSpPr>
            <p:cNvPr name="Freeform 6" id="6"/>
            <p:cNvSpPr/>
            <p:nvPr/>
          </p:nvSpPr>
          <p:spPr>
            <a:xfrm flipH="false" flipV="false" rot="0">
              <a:off x="0" y="0"/>
              <a:ext cx="5339711" cy="278953"/>
            </a:xfrm>
            <a:custGeom>
              <a:avLst/>
              <a:gdLst/>
              <a:ahLst/>
              <a:cxnLst/>
              <a:rect r="r" b="b" t="t" l="l"/>
              <a:pathLst>
                <a:path h="278953" w="5339711">
                  <a:moveTo>
                    <a:pt x="19475" y="0"/>
                  </a:moveTo>
                  <a:lnTo>
                    <a:pt x="5320236" y="0"/>
                  </a:lnTo>
                  <a:cubicBezTo>
                    <a:pt x="5330992" y="0"/>
                    <a:pt x="5339711" y="8719"/>
                    <a:pt x="5339711" y="19475"/>
                  </a:cubicBezTo>
                  <a:lnTo>
                    <a:pt x="5339711" y="259478"/>
                  </a:lnTo>
                  <a:cubicBezTo>
                    <a:pt x="5339711" y="270234"/>
                    <a:pt x="5330992" y="278953"/>
                    <a:pt x="5320236" y="278953"/>
                  </a:cubicBezTo>
                  <a:lnTo>
                    <a:pt x="19475" y="278953"/>
                  </a:lnTo>
                  <a:cubicBezTo>
                    <a:pt x="8719" y="278953"/>
                    <a:pt x="0" y="270234"/>
                    <a:pt x="0" y="259478"/>
                  </a:cubicBezTo>
                  <a:lnTo>
                    <a:pt x="0" y="19475"/>
                  </a:lnTo>
                  <a:cubicBezTo>
                    <a:pt x="0" y="8719"/>
                    <a:pt x="8719" y="0"/>
                    <a:pt x="19475" y="0"/>
                  </a:cubicBezTo>
                  <a:close/>
                </a:path>
              </a:pathLst>
            </a:custGeom>
            <a:solidFill>
              <a:srgbClr val="CC576F"/>
            </a:solidFill>
          </p:spPr>
        </p:sp>
        <p:sp>
          <p:nvSpPr>
            <p:cNvPr name="TextBox 7" id="7"/>
            <p:cNvSpPr txBox="true"/>
            <p:nvPr/>
          </p:nvSpPr>
          <p:spPr>
            <a:xfrm>
              <a:off x="0" y="-47625"/>
              <a:ext cx="5339711" cy="326578"/>
            </a:xfrm>
            <a:prstGeom prst="rect">
              <a:avLst/>
            </a:prstGeom>
          </p:spPr>
          <p:txBody>
            <a:bodyPr anchor="ctr" rtlCol="false" tIns="50800" lIns="50800" bIns="50800" rIns="50800"/>
            <a:lstStyle/>
            <a:p>
              <a:pPr algn="ctr">
                <a:lnSpc>
                  <a:spcPts val="3499"/>
                </a:lnSpc>
              </a:pPr>
            </a:p>
          </p:txBody>
        </p:sp>
      </p:grpSp>
      <p:grpSp>
        <p:nvGrpSpPr>
          <p:cNvPr name="Group 8" id="8"/>
          <p:cNvGrpSpPr/>
          <p:nvPr/>
        </p:nvGrpSpPr>
        <p:grpSpPr>
          <a:xfrm rot="187008">
            <a:off x="14669032" y="226248"/>
            <a:ext cx="781777" cy="78177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DE59"/>
            </a:solidFill>
          </p:spPr>
        </p:sp>
        <p:sp>
          <p:nvSpPr>
            <p:cNvPr name="TextBox 10" id="10"/>
            <p:cNvSpPr txBox="true"/>
            <p:nvPr/>
          </p:nvSpPr>
          <p:spPr>
            <a:xfrm>
              <a:off x="190500" y="142875"/>
              <a:ext cx="431800" cy="479425"/>
            </a:xfrm>
            <a:prstGeom prst="rect">
              <a:avLst/>
            </a:prstGeom>
          </p:spPr>
          <p:txBody>
            <a:bodyPr anchor="ctr" rtlCol="false" tIns="50800" lIns="50800" bIns="50800" rIns="50800"/>
            <a:lstStyle/>
            <a:p>
              <a:pPr algn="ctr">
                <a:lnSpc>
                  <a:spcPts val="3499"/>
                </a:lnSpc>
              </a:pPr>
            </a:p>
          </p:txBody>
        </p:sp>
      </p:grpSp>
      <p:grpSp>
        <p:nvGrpSpPr>
          <p:cNvPr name="Group 11" id="11"/>
          <p:cNvGrpSpPr/>
          <p:nvPr/>
        </p:nvGrpSpPr>
        <p:grpSpPr>
          <a:xfrm rot="-321674">
            <a:off x="16868411" y="2312603"/>
            <a:ext cx="781777" cy="781777"/>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DE59"/>
            </a:solidFill>
          </p:spPr>
        </p:sp>
        <p:sp>
          <p:nvSpPr>
            <p:cNvPr name="TextBox 13" id="13"/>
            <p:cNvSpPr txBox="true"/>
            <p:nvPr/>
          </p:nvSpPr>
          <p:spPr>
            <a:xfrm>
              <a:off x="190500" y="142875"/>
              <a:ext cx="431800" cy="479425"/>
            </a:xfrm>
            <a:prstGeom prst="rect">
              <a:avLst/>
            </a:prstGeom>
          </p:spPr>
          <p:txBody>
            <a:bodyPr anchor="ctr" rtlCol="false" tIns="50800" lIns="50800" bIns="50800" rIns="50800"/>
            <a:lstStyle/>
            <a:p>
              <a:pPr algn="ctr">
                <a:lnSpc>
                  <a:spcPts val="3499"/>
                </a:lnSpc>
              </a:pPr>
            </a:p>
          </p:txBody>
        </p:sp>
      </p:grpSp>
      <p:sp>
        <p:nvSpPr>
          <p:cNvPr name="Freeform 14" id="14"/>
          <p:cNvSpPr/>
          <p:nvPr/>
        </p:nvSpPr>
        <p:spPr>
          <a:xfrm flipH="false" flipV="false" rot="0">
            <a:off x="16243105" y="454216"/>
            <a:ext cx="1490446" cy="1490446"/>
          </a:xfrm>
          <a:custGeom>
            <a:avLst/>
            <a:gdLst/>
            <a:ahLst/>
            <a:cxnLst/>
            <a:rect r="r" b="b" t="t" l="l"/>
            <a:pathLst>
              <a:path h="1490446" w="1490446">
                <a:moveTo>
                  <a:pt x="0" y="0"/>
                </a:moveTo>
                <a:lnTo>
                  <a:pt x="1490445" y="0"/>
                </a:lnTo>
                <a:lnTo>
                  <a:pt x="1490445" y="1490445"/>
                </a:lnTo>
                <a:lnTo>
                  <a:pt x="0" y="1490445"/>
                </a:lnTo>
                <a:lnTo>
                  <a:pt x="0" y="0"/>
                </a:lnTo>
                <a:close/>
              </a:path>
            </a:pathLst>
          </a:custGeom>
          <a:blipFill>
            <a:blip r:embed="rId4"/>
            <a:stretch>
              <a:fillRect l="0" t="0" r="0" b="0"/>
            </a:stretch>
          </a:blipFill>
        </p:spPr>
      </p:sp>
      <p:sp>
        <p:nvSpPr>
          <p:cNvPr name="TextBox 15" id="15"/>
          <p:cNvSpPr txBox="true"/>
          <p:nvPr/>
        </p:nvSpPr>
        <p:spPr>
          <a:xfrm rot="0">
            <a:off x="4576924" y="545506"/>
            <a:ext cx="9134153" cy="1231666"/>
          </a:xfrm>
          <a:prstGeom prst="rect">
            <a:avLst/>
          </a:prstGeom>
        </p:spPr>
        <p:txBody>
          <a:bodyPr anchor="t" rtlCol="false" tIns="0" lIns="0" bIns="0" rIns="0">
            <a:spAutoFit/>
          </a:bodyPr>
          <a:lstStyle/>
          <a:p>
            <a:pPr algn="ctr">
              <a:lnSpc>
                <a:spcPts val="4379"/>
              </a:lnSpc>
            </a:pPr>
            <a:r>
              <a:rPr lang="en-US" b="true" sz="3981">
                <a:solidFill>
                  <a:srgbClr val="101010"/>
                </a:solidFill>
                <a:latin typeface="Agrandir Grand Ultra-Bold"/>
                <a:ea typeface="Agrandir Grand Ultra-Bold"/>
                <a:cs typeface="Agrandir Grand Ultra-Bold"/>
                <a:sym typeface="Agrandir Grand Ultra-Bold"/>
              </a:rPr>
              <a:t>KESIMPULAN SOUNDSCAPE</a:t>
            </a:r>
          </a:p>
        </p:txBody>
      </p:sp>
      <p:grpSp>
        <p:nvGrpSpPr>
          <p:cNvPr name="Group 16" id="16"/>
          <p:cNvGrpSpPr/>
          <p:nvPr/>
        </p:nvGrpSpPr>
        <p:grpSpPr>
          <a:xfrm rot="-321674">
            <a:off x="5649098" y="382849"/>
            <a:ext cx="781777" cy="781777"/>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DE59"/>
            </a:solidFill>
          </p:spPr>
        </p:sp>
        <p:sp>
          <p:nvSpPr>
            <p:cNvPr name="TextBox 18" id="18"/>
            <p:cNvSpPr txBox="true"/>
            <p:nvPr/>
          </p:nvSpPr>
          <p:spPr>
            <a:xfrm>
              <a:off x="190500" y="142875"/>
              <a:ext cx="431800" cy="479425"/>
            </a:xfrm>
            <a:prstGeom prst="rect">
              <a:avLst/>
            </a:prstGeom>
          </p:spPr>
          <p:txBody>
            <a:bodyPr anchor="ctr" rtlCol="false" tIns="50800" lIns="50800" bIns="50800" rIns="50800"/>
            <a:lstStyle/>
            <a:p>
              <a:pPr algn="ctr">
                <a:lnSpc>
                  <a:spcPts val="3499"/>
                </a:lnSpc>
              </a:pPr>
            </a:p>
          </p:txBody>
        </p:sp>
      </p:grpSp>
      <p:grpSp>
        <p:nvGrpSpPr>
          <p:cNvPr name="Group 19" id="19"/>
          <p:cNvGrpSpPr/>
          <p:nvPr/>
        </p:nvGrpSpPr>
        <p:grpSpPr>
          <a:xfrm rot="-321674">
            <a:off x="637811" y="808550"/>
            <a:ext cx="781777" cy="781777"/>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DE59"/>
            </a:solidFill>
          </p:spPr>
        </p:sp>
        <p:sp>
          <p:nvSpPr>
            <p:cNvPr name="TextBox 21" id="21"/>
            <p:cNvSpPr txBox="true"/>
            <p:nvPr/>
          </p:nvSpPr>
          <p:spPr>
            <a:xfrm>
              <a:off x="190500" y="142875"/>
              <a:ext cx="431800" cy="479425"/>
            </a:xfrm>
            <a:prstGeom prst="rect">
              <a:avLst/>
            </a:prstGeom>
          </p:spPr>
          <p:txBody>
            <a:bodyPr anchor="ctr" rtlCol="false" tIns="50800" lIns="50800" bIns="50800" rIns="50800"/>
            <a:lstStyle/>
            <a:p>
              <a:pPr algn="ctr">
                <a:lnSpc>
                  <a:spcPts val="3499"/>
                </a:lnSpc>
              </a:pPr>
            </a:p>
          </p:txBody>
        </p:sp>
      </p:grpSp>
      <p:sp>
        <p:nvSpPr>
          <p:cNvPr name="TextBox 22" id="22"/>
          <p:cNvSpPr txBox="true"/>
          <p:nvPr/>
        </p:nvSpPr>
        <p:spPr>
          <a:xfrm rot="0">
            <a:off x="1396597" y="2256331"/>
            <a:ext cx="16288404" cy="7001969"/>
          </a:xfrm>
          <a:prstGeom prst="rect">
            <a:avLst/>
          </a:prstGeom>
        </p:spPr>
        <p:txBody>
          <a:bodyPr anchor="t" rtlCol="false" tIns="0" lIns="0" bIns="0" rIns="0">
            <a:spAutoFit/>
          </a:bodyPr>
          <a:lstStyle/>
          <a:p>
            <a:pPr algn="l">
              <a:lnSpc>
                <a:spcPts val="4337"/>
              </a:lnSpc>
            </a:pPr>
            <a:r>
              <a:rPr lang="en-US" sz="3098">
                <a:solidFill>
                  <a:srgbClr val="101010"/>
                </a:solidFill>
                <a:latin typeface="Canva Sans"/>
                <a:ea typeface="Canva Sans"/>
                <a:cs typeface="Canva Sans"/>
                <a:sym typeface="Canva Sans"/>
              </a:rPr>
              <a:t>Solusi Terapi Musik Digital yang Inovatif</a:t>
            </a:r>
          </a:p>
          <a:p>
            <a:pPr algn="l">
              <a:lnSpc>
                <a:spcPts val="4337"/>
              </a:lnSpc>
            </a:pPr>
            <a:r>
              <a:rPr lang="en-US" sz="3098">
                <a:solidFill>
                  <a:srgbClr val="101010"/>
                </a:solidFill>
                <a:latin typeface="Canva Sans"/>
                <a:ea typeface="Canva Sans"/>
                <a:cs typeface="Canva Sans"/>
                <a:sym typeface="Canva Sans"/>
              </a:rPr>
              <a:t>Soundscape hadir sebagai aplikasi mobile yang mengintegrasikan musik terapi berbasis ilmiah untuk membantu pengguna mengatasi stres, gangguan tidur, dan masalah kesehatan mental lainnya, melalui pengalaman mendengarkan yang mudah, nyaman, dan personal.</a:t>
            </a:r>
          </a:p>
          <a:p>
            <a:pPr algn="l">
              <a:lnSpc>
                <a:spcPts val="4337"/>
              </a:lnSpc>
            </a:pPr>
          </a:p>
          <a:p>
            <a:pPr algn="l">
              <a:lnSpc>
                <a:spcPts val="4337"/>
              </a:lnSpc>
            </a:pPr>
            <a:r>
              <a:rPr lang="en-US" sz="3098">
                <a:solidFill>
                  <a:srgbClr val="101010"/>
                </a:solidFill>
                <a:latin typeface="Canva Sans"/>
                <a:ea typeface="Canva Sans"/>
                <a:cs typeface="Canva Sans"/>
                <a:sym typeface="Canva Sans"/>
              </a:rPr>
              <a:t>Terintegrasi dengan Aspek Medis dan Ilmiah</a:t>
            </a:r>
          </a:p>
          <a:p>
            <a:pPr algn="l">
              <a:lnSpc>
                <a:spcPts val="4337"/>
              </a:lnSpc>
            </a:pPr>
            <a:r>
              <a:rPr lang="en-US" sz="3098">
                <a:solidFill>
                  <a:srgbClr val="101010"/>
                </a:solidFill>
                <a:latin typeface="Canva Sans"/>
                <a:ea typeface="Canva Sans"/>
                <a:cs typeface="Canva Sans"/>
                <a:sym typeface="Canva Sans"/>
              </a:rPr>
              <a:t>Setiap musik yang diunggah disertai informasi:</a:t>
            </a:r>
          </a:p>
          <a:p>
            <a:pPr algn="l" marL="668874" indent="-334437" lvl="1">
              <a:lnSpc>
                <a:spcPts val="4337"/>
              </a:lnSpc>
              <a:buFont typeface="Arial"/>
              <a:buChar char="•"/>
            </a:pPr>
            <a:r>
              <a:rPr lang="en-US" sz="3098">
                <a:solidFill>
                  <a:srgbClr val="101010"/>
                </a:solidFill>
                <a:latin typeface="Canva Sans"/>
                <a:ea typeface="Canva Sans"/>
                <a:cs typeface="Canva Sans"/>
                <a:sym typeface="Canva Sans"/>
              </a:rPr>
              <a:t>Nama dokter yang merekomendasikan</a:t>
            </a:r>
          </a:p>
          <a:p>
            <a:pPr algn="l" marL="668874" indent="-334437" lvl="1">
              <a:lnSpc>
                <a:spcPts val="4337"/>
              </a:lnSpc>
              <a:buFont typeface="Arial"/>
              <a:buChar char="•"/>
            </a:pPr>
            <a:r>
              <a:rPr lang="en-US" sz="3098">
                <a:solidFill>
                  <a:srgbClr val="101010"/>
                </a:solidFill>
                <a:latin typeface="Canva Sans"/>
                <a:ea typeface="Canva Sans"/>
                <a:cs typeface="Canva Sans"/>
                <a:sym typeface="Canva Sans"/>
              </a:rPr>
              <a:t>Referensi jurnal ilmiah sebagai validasi terapeutik</a:t>
            </a:r>
          </a:p>
          <a:p>
            <a:pPr algn="l" marL="668874" indent="-334437" lvl="1">
              <a:lnSpc>
                <a:spcPts val="4337"/>
              </a:lnSpc>
              <a:buFont typeface="Arial"/>
              <a:buChar char="•"/>
            </a:pPr>
            <a:r>
              <a:rPr lang="en-US" sz="3098">
                <a:solidFill>
                  <a:srgbClr val="101010"/>
                </a:solidFill>
                <a:latin typeface="Canva Sans"/>
                <a:ea typeface="Canva Sans"/>
                <a:cs typeface="Canva Sans"/>
                <a:sym typeface="Canva Sans"/>
              </a:rPr>
              <a:t>Ini menjadikan Soundscape bukan sekadar pemutar musik, tetapi juga sebagai media terapi yang terpercaya.</a:t>
            </a:r>
          </a:p>
          <a:p>
            <a:pPr algn="l">
              <a:lnSpc>
                <a:spcPts val="4337"/>
              </a:lnSpc>
              <a:spcBef>
                <a:spcPct val="0"/>
              </a:spcBef>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DAGqgjN3OeI</dc:identifier>
  <dcterms:modified xsi:type="dcterms:W3CDTF">2011-08-01T06:04:30Z</dcterms:modified>
  <cp:revision>1</cp:revision>
  <dc:title>PPT_SoundScape</dc:title>
</cp:coreProperties>
</file>